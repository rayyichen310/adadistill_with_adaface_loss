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93" r:id="rId5"/>
    <p:sldId id="259" r:id="rId6"/>
    <p:sldId id="260" r:id="rId7"/>
    <p:sldId id="270" r:id="rId8"/>
    <p:sldId id="261" r:id="rId9"/>
    <p:sldId id="262" r:id="rId10"/>
    <p:sldId id="294" r:id="rId11"/>
    <p:sldId id="263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267" r:id="rId20"/>
    <p:sldId id="302" r:id="rId21"/>
    <p:sldId id="303" r:id="rId22"/>
    <p:sldId id="304" r:id="rId23"/>
    <p:sldId id="264" r:id="rId24"/>
    <p:sldId id="292" r:id="rId25"/>
    <p:sldId id="265" r:id="rId26"/>
    <p:sldId id="287" r:id="rId27"/>
    <p:sldId id="290" r:id="rId28"/>
    <p:sldId id="305" r:id="rId29"/>
    <p:sldId id="266" r:id="rId30"/>
    <p:sldId id="308" r:id="rId31"/>
    <p:sldId id="288" r:id="rId32"/>
    <p:sldId id="291" r:id="rId33"/>
    <p:sldId id="309" r:id="rId34"/>
    <p:sldId id="268" r:id="rId35"/>
    <p:sldId id="269" r:id="rId36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9B779-D94F-30C5-4323-3E3D1DDD5105}" v="4" dt="2025-12-02T17:34:12.134"/>
    <p1510:client id="{34675E2A-A11C-3440-A70B-D8A2AC8DEF75}" v="3" dt="2025-12-02T16:39:47.236"/>
    <p1510:client id="{3BB26633-4D12-165E-2CD1-F6BD9F63B4DE}" v="4" dt="2025-12-02T17:59:33.366"/>
    <p1510:client id="{487F1F78-1C5D-C4C5-34C5-89C57D0A3457}" v="198" dt="2025-12-02T15:50:30.369"/>
    <p1510:client id="{49E4AC22-35B5-331B-BB05-C9736D510DF7}" v="2" dt="2025-12-02T15:45:33.600"/>
    <p1510:client id="{5DF54690-FF15-7CCB-9E91-F28F71BE1F2D}" v="38" dt="2025-12-02T16:17:04.349"/>
    <p1510:client id="{67EC8BA8-E9DC-D30B-3EE4-5DBE9179DAC1}" v="101" dt="2025-12-02T17:48:05.212"/>
    <p1510:client id="{6879081E-5A90-6707-E543-50B26ADB4AF0}" v="9" dt="2025-12-02T16:00:05.531"/>
    <p1510:client id="{6B16ED57-150A-774D-BD90-E119440EFA68}" v="11" dt="2025-12-02T15:17:54.091"/>
    <p1510:client id="{797EFB14-0D97-A487-967A-1C865AF5B45C}" v="74" dt="2025-12-02T15:20:56.788"/>
    <p1510:client id="{8F4DEC7D-9797-8734-1019-64A681ADA586}" v="1" dt="2025-12-02T17:30:03.991"/>
    <p1510:client id="{A7BACD3C-872C-00E2-4489-C4CA01FE4004}" v="253" dt="2025-12-02T16:57:14.930"/>
    <p1510:client id="{B7C817DF-F778-B666-5234-033667B85D8B}" v="15" dt="2025-12-02T17:37:24.699"/>
    <p1510:client id="{C2C7BEF9-D4DA-9710-3490-16C0EFD508B3}" v="171" dt="2025-12-02T17:21:56.163"/>
    <p1510:client id="{C6AE0296-76E9-B322-E78A-4303AFCD3706}" v="350" dt="2025-12-02T17:48:27.182"/>
    <p1510:client id="{EA3BC758-E249-120F-853C-6182DD528341}" v="352" dt="2025-12-02T15:38:31.486"/>
    <p1510:client id="{F2FCF759-D3AB-81BD-9131-07A28E67F620}" v="179" dt="2025-12-02T16:29:27.67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744" y="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002F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A2D4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002F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A2D4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51000" y="1085850"/>
            <a:ext cx="1206500" cy="0"/>
          </a:xfrm>
          <a:custGeom>
            <a:avLst/>
            <a:gdLst/>
            <a:ahLst/>
            <a:cxnLst/>
            <a:rect l="l" t="t" r="r" b="b"/>
            <a:pathLst>
              <a:path w="1206500">
                <a:moveTo>
                  <a:pt x="0" y="0"/>
                </a:moveTo>
                <a:lnTo>
                  <a:pt x="12065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002F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08624" y="2280030"/>
            <a:ext cx="7077075" cy="6113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0734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63785" y="2280030"/>
            <a:ext cx="6671309" cy="4907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50" b="0" i="0">
                <a:solidFill>
                  <a:srgbClr val="012D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002F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3715" y="290336"/>
            <a:ext cx="15984219" cy="1808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002F5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97609" y="2529416"/>
            <a:ext cx="14879980" cy="6100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A2D4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7.jpg"/><Relationship Id="rId7" Type="http://schemas.openxmlformats.org/officeDocument/2006/relationships/image" Target="../media/image41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jp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heckin.rayyi-server.com/" TargetMode="Externa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dbtrs/AdaDistill" TargetMode="External"/><Relationship Id="rId2" Type="http://schemas.openxmlformats.org/officeDocument/2006/relationships/hyperlink" Target="https://github.com/mk-minchul/AdaFa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46300" y="6038850"/>
            <a:ext cx="13182600" cy="0"/>
          </a:xfrm>
          <a:custGeom>
            <a:avLst/>
            <a:gdLst/>
            <a:ahLst/>
            <a:cxnLst/>
            <a:rect l="l" t="t" r="r" b="b"/>
            <a:pathLst>
              <a:path w="13182600">
                <a:moveTo>
                  <a:pt x="0" y="0"/>
                </a:moveTo>
                <a:lnTo>
                  <a:pt x="13182600" y="0"/>
                </a:lnTo>
              </a:path>
            </a:pathLst>
          </a:custGeom>
          <a:ln w="38100">
            <a:solidFill>
              <a:srgbClr val="18181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161907" y="1167341"/>
            <a:ext cx="11052175" cy="158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200" spc="-340">
                <a:solidFill>
                  <a:srgbClr val="003159"/>
                </a:solidFill>
              </a:rPr>
              <a:t>Lightweight</a:t>
            </a:r>
            <a:r>
              <a:rPr sz="10200" spc="955">
                <a:solidFill>
                  <a:srgbClr val="003159"/>
                </a:solidFill>
              </a:rPr>
              <a:t> </a:t>
            </a:r>
            <a:r>
              <a:rPr sz="10200" spc="-285">
                <a:solidFill>
                  <a:srgbClr val="012D50"/>
                </a:solidFill>
              </a:rPr>
              <a:t>AdaFace</a:t>
            </a:r>
            <a:endParaRPr sz="10200"/>
          </a:p>
        </p:txBody>
      </p:sp>
      <p:sp>
        <p:nvSpPr>
          <p:cNvPr id="4" name="object 4"/>
          <p:cNvSpPr txBox="1"/>
          <p:nvPr/>
        </p:nvSpPr>
        <p:spPr>
          <a:xfrm>
            <a:off x="3442554" y="2318161"/>
            <a:ext cx="10537190" cy="3297554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marR="59055" algn="ctr">
              <a:lnSpc>
                <a:spcPct val="100000"/>
              </a:lnSpc>
              <a:spcBef>
                <a:spcPts val="2145"/>
              </a:spcBef>
            </a:pPr>
            <a:r>
              <a:rPr sz="9900">
                <a:solidFill>
                  <a:srgbClr val="032D4D"/>
                </a:solidFill>
                <a:latin typeface="Cambria"/>
                <a:cs typeface="Cambria"/>
              </a:rPr>
              <a:t>via</a:t>
            </a:r>
            <a:r>
              <a:rPr sz="9900" spc="-540">
                <a:solidFill>
                  <a:srgbClr val="032D4D"/>
                </a:solidFill>
                <a:latin typeface="Cambria"/>
                <a:cs typeface="Cambria"/>
              </a:rPr>
              <a:t> </a:t>
            </a:r>
            <a:r>
              <a:rPr sz="9900" spc="-10">
                <a:solidFill>
                  <a:srgbClr val="032F54"/>
                </a:solidFill>
                <a:latin typeface="Cambria"/>
                <a:cs typeface="Cambria"/>
              </a:rPr>
              <a:t>AdaDistill</a:t>
            </a:r>
            <a:endParaRPr sz="9900">
              <a:latin typeface="Cambria"/>
              <a:cs typeface="Cambria"/>
            </a:endParaRPr>
          </a:p>
          <a:p>
            <a:pPr marL="12065" marR="5080" algn="ctr">
              <a:lnSpc>
                <a:spcPts val="5400"/>
              </a:lnSpc>
              <a:spcBef>
                <a:spcPts val="1135"/>
              </a:spcBef>
            </a:pPr>
            <a:r>
              <a:rPr sz="4550" spc="-335">
                <a:solidFill>
                  <a:srgbClr val="072D50"/>
                </a:solidFill>
                <a:latin typeface="Arial"/>
                <a:cs typeface="Arial"/>
              </a:rPr>
              <a:t>A</a:t>
            </a:r>
            <a:r>
              <a:rPr sz="4550" spc="-145">
                <a:solidFill>
                  <a:srgbClr val="072D50"/>
                </a:solidFill>
                <a:latin typeface="Arial"/>
                <a:cs typeface="Arial"/>
              </a:rPr>
              <a:t> </a:t>
            </a:r>
            <a:r>
              <a:rPr sz="4550" spc="-140">
                <a:solidFill>
                  <a:srgbClr val="032A4B"/>
                </a:solidFill>
                <a:latin typeface="Arial"/>
                <a:cs typeface="Arial"/>
              </a:rPr>
              <a:t>Novel</a:t>
            </a:r>
            <a:r>
              <a:rPr sz="4550" spc="-180">
                <a:solidFill>
                  <a:srgbClr val="032A4B"/>
                </a:solidFill>
                <a:latin typeface="Arial"/>
                <a:cs typeface="Arial"/>
              </a:rPr>
              <a:t> </a:t>
            </a:r>
            <a:r>
              <a:rPr sz="4550" spc="-145">
                <a:solidFill>
                  <a:srgbClr val="052D4D"/>
                </a:solidFill>
                <a:latin typeface="Arial"/>
                <a:cs typeface="Arial"/>
              </a:rPr>
              <a:t>Approach</a:t>
            </a:r>
            <a:r>
              <a:rPr sz="4550" spc="-100">
                <a:solidFill>
                  <a:srgbClr val="052D4D"/>
                </a:solidFill>
                <a:latin typeface="Arial"/>
                <a:cs typeface="Arial"/>
              </a:rPr>
              <a:t> </a:t>
            </a:r>
            <a:r>
              <a:rPr sz="4550">
                <a:solidFill>
                  <a:srgbClr val="032646"/>
                </a:solidFill>
                <a:latin typeface="Arial"/>
                <a:cs typeface="Arial"/>
              </a:rPr>
              <a:t>to</a:t>
            </a:r>
            <a:r>
              <a:rPr sz="4550" spc="-315">
                <a:solidFill>
                  <a:srgbClr val="032646"/>
                </a:solidFill>
                <a:latin typeface="Arial"/>
                <a:cs typeface="Arial"/>
              </a:rPr>
              <a:t> </a:t>
            </a:r>
            <a:r>
              <a:rPr sz="4550" spc="-140">
                <a:solidFill>
                  <a:srgbClr val="012849"/>
                </a:solidFill>
                <a:latin typeface="Arial"/>
                <a:cs typeface="Arial"/>
              </a:rPr>
              <a:t>Knowledge</a:t>
            </a:r>
            <a:r>
              <a:rPr sz="4550" spc="50">
                <a:solidFill>
                  <a:srgbClr val="012849"/>
                </a:solidFill>
                <a:latin typeface="Arial"/>
                <a:cs typeface="Arial"/>
              </a:rPr>
              <a:t> </a:t>
            </a:r>
            <a:r>
              <a:rPr sz="4550" spc="-55">
                <a:solidFill>
                  <a:srgbClr val="082842"/>
                </a:solidFill>
                <a:latin typeface="Arial"/>
                <a:cs typeface="Arial"/>
              </a:rPr>
              <a:t>Distillation </a:t>
            </a:r>
            <a:r>
              <a:rPr sz="4550">
                <a:solidFill>
                  <a:srgbClr val="032642"/>
                </a:solidFill>
                <a:latin typeface="Arial"/>
                <a:cs typeface="Arial"/>
              </a:rPr>
              <a:t>for</a:t>
            </a:r>
            <a:r>
              <a:rPr sz="4550" spc="-235">
                <a:solidFill>
                  <a:srgbClr val="032642"/>
                </a:solidFill>
                <a:latin typeface="Arial"/>
                <a:cs typeface="Arial"/>
              </a:rPr>
              <a:t> </a:t>
            </a:r>
            <a:r>
              <a:rPr sz="4550" spc="-235">
                <a:solidFill>
                  <a:srgbClr val="052842"/>
                </a:solidFill>
                <a:latin typeface="Arial"/>
                <a:cs typeface="Arial"/>
              </a:rPr>
              <a:t>Face</a:t>
            </a:r>
            <a:r>
              <a:rPr sz="4550" spc="-120">
                <a:solidFill>
                  <a:srgbClr val="052842"/>
                </a:solidFill>
                <a:latin typeface="Arial"/>
                <a:cs typeface="Arial"/>
              </a:rPr>
              <a:t> </a:t>
            </a:r>
            <a:r>
              <a:rPr sz="4550" spc="-50">
                <a:solidFill>
                  <a:srgbClr val="0C2A42"/>
                </a:solidFill>
                <a:latin typeface="Arial"/>
                <a:cs typeface="Arial"/>
              </a:rPr>
              <a:t>Recognition</a:t>
            </a:r>
            <a:endParaRPr sz="4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5409" y="6427984"/>
            <a:ext cx="9151144" cy="229678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4135"/>
              </a:lnSpc>
              <a:spcBef>
                <a:spcPts val="110"/>
              </a:spcBef>
            </a:pPr>
            <a:r>
              <a:rPr sz="3600" spc="-200">
                <a:solidFill>
                  <a:srgbClr val="5E5E5E"/>
                </a:solidFill>
                <a:latin typeface="Arial"/>
                <a:cs typeface="Arial"/>
              </a:rPr>
              <a:t>Based</a:t>
            </a:r>
            <a:r>
              <a:rPr sz="3600" spc="-5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600" spc="-190">
                <a:solidFill>
                  <a:srgbClr val="646464"/>
                </a:solidFill>
                <a:latin typeface="Arial"/>
                <a:cs typeface="Arial"/>
              </a:rPr>
              <a:t>on</a:t>
            </a:r>
            <a:r>
              <a:rPr sz="3600" spc="-10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3600" spc="-20">
                <a:solidFill>
                  <a:srgbClr val="646464"/>
                </a:solidFill>
                <a:latin typeface="Arial"/>
                <a:cs typeface="Arial"/>
              </a:rPr>
              <a:t>the</a:t>
            </a:r>
            <a:r>
              <a:rPr sz="3600" spc="-229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sz="3600" spc="-95">
                <a:solidFill>
                  <a:srgbClr val="5D5D5D"/>
                </a:solidFill>
                <a:latin typeface="Arial"/>
                <a:cs typeface="Arial"/>
              </a:rPr>
              <a:t>work</a:t>
            </a:r>
            <a:r>
              <a:rPr sz="3600" spc="-14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3600">
                <a:solidFill>
                  <a:srgbClr val="606060"/>
                </a:solidFill>
                <a:latin typeface="Arial"/>
                <a:cs typeface="Arial"/>
              </a:rPr>
              <a:t>of</a:t>
            </a:r>
            <a:r>
              <a:rPr sz="3600" spc="-15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sz="3600" spc="-210">
                <a:solidFill>
                  <a:srgbClr val="5D5D5D"/>
                </a:solidFill>
                <a:latin typeface="Arial"/>
                <a:cs typeface="Arial"/>
              </a:rPr>
              <a:t>AdaFace</a:t>
            </a:r>
            <a:r>
              <a:rPr sz="360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3600" spc="-385">
                <a:solidFill>
                  <a:srgbClr val="5E5E5E"/>
                </a:solidFill>
                <a:latin typeface="Arial"/>
                <a:cs typeface="Arial"/>
              </a:rPr>
              <a:t>(CVPR</a:t>
            </a:r>
            <a:r>
              <a:rPr sz="3600" spc="135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sz="3600" spc="-80">
                <a:solidFill>
                  <a:srgbClr val="606060"/>
                </a:solidFill>
                <a:latin typeface="Arial"/>
                <a:cs typeface="Arial"/>
              </a:rPr>
              <a:t>2022)</a:t>
            </a:r>
            <a:endParaRPr sz="3600">
              <a:latin typeface="Arial"/>
              <a:cs typeface="Arial"/>
            </a:endParaRPr>
          </a:p>
          <a:p>
            <a:pPr marR="2540" algn="ctr">
              <a:lnSpc>
                <a:spcPts val="4375"/>
              </a:lnSpc>
            </a:pPr>
            <a:r>
              <a:rPr sz="3800" spc="-280">
                <a:solidFill>
                  <a:srgbClr val="626262"/>
                </a:solidFill>
                <a:latin typeface="Arial"/>
                <a:cs typeface="Arial"/>
              </a:rPr>
              <a:t>and</a:t>
            </a:r>
            <a:r>
              <a:rPr sz="3800" spc="-6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sz="3800" spc="-225">
                <a:solidFill>
                  <a:srgbClr val="595959"/>
                </a:solidFill>
                <a:latin typeface="Arial"/>
                <a:cs typeface="Arial"/>
              </a:rPr>
              <a:t>AdaDistill</a:t>
            </a:r>
            <a:r>
              <a:rPr sz="3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3800" spc="-505">
                <a:solidFill>
                  <a:srgbClr val="5B5B5B"/>
                </a:solidFill>
                <a:latin typeface="Arial"/>
                <a:cs typeface="Arial"/>
              </a:rPr>
              <a:t>(ECCV</a:t>
            </a:r>
            <a:r>
              <a:rPr sz="3800" spc="180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sz="3800" spc="-300">
                <a:solidFill>
                  <a:srgbClr val="5E5E5E"/>
                </a:solidFill>
                <a:latin typeface="Arial"/>
                <a:cs typeface="Arial"/>
              </a:rPr>
              <a:t>2024)</a:t>
            </a:r>
            <a:endParaRPr sz="3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3800">
              <a:latin typeface="Arial"/>
              <a:cs typeface="Arial"/>
            </a:endParaRPr>
          </a:p>
          <a:p>
            <a:pPr marR="76200" algn="ctr">
              <a:lnSpc>
                <a:spcPct val="100000"/>
              </a:lnSpc>
            </a:pPr>
            <a:r>
              <a:rPr sz="3200" spc="-225">
                <a:solidFill>
                  <a:srgbClr val="212121"/>
                </a:solidFill>
                <a:latin typeface="Arial"/>
                <a:cs typeface="Arial"/>
              </a:rPr>
              <a:t>M11402161,</a:t>
            </a:r>
            <a:r>
              <a:rPr sz="3200" spc="1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3200" spc="-254">
                <a:solidFill>
                  <a:srgbClr val="262626"/>
                </a:solidFill>
                <a:latin typeface="Arial"/>
                <a:cs typeface="Arial"/>
              </a:rPr>
              <a:t>M11402151,</a:t>
            </a:r>
            <a:r>
              <a:rPr sz="3200" spc="21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3200" spc="-130">
                <a:solidFill>
                  <a:srgbClr val="262626"/>
                </a:solidFill>
                <a:latin typeface="Arial"/>
                <a:cs typeface="Arial"/>
              </a:rPr>
              <a:t>M11402152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200" y="2730500"/>
            <a:ext cx="6172200" cy="49276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821" y="290336"/>
            <a:ext cx="12452350" cy="13138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4975"/>
              </a:lnSpc>
              <a:spcBef>
                <a:spcPts val="110"/>
              </a:spcBef>
            </a:pPr>
            <a:r>
              <a:rPr sz="4500">
                <a:solidFill>
                  <a:srgbClr val="073154"/>
                </a:solidFill>
              </a:rPr>
              <a:t>The</a:t>
            </a:r>
            <a:r>
              <a:rPr sz="4500" spc="-95">
                <a:solidFill>
                  <a:srgbClr val="073154"/>
                </a:solidFill>
              </a:rPr>
              <a:t> </a:t>
            </a:r>
            <a:r>
              <a:rPr sz="4500">
                <a:solidFill>
                  <a:srgbClr val="0C365B"/>
                </a:solidFill>
              </a:rPr>
              <a:t>Journey</a:t>
            </a:r>
            <a:r>
              <a:rPr sz="4500" spc="140">
                <a:solidFill>
                  <a:srgbClr val="0C365B"/>
                </a:solidFill>
              </a:rPr>
              <a:t> </a:t>
            </a:r>
            <a:r>
              <a:rPr sz="4500" spc="90">
                <a:solidFill>
                  <a:srgbClr val="0A3152"/>
                </a:solidFill>
              </a:rPr>
              <a:t>So</a:t>
            </a:r>
            <a:r>
              <a:rPr sz="4500" spc="-240">
                <a:solidFill>
                  <a:srgbClr val="0A3152"/>
                </a:solidFill>
              </a:rPr>
              <a:t> </a:t>
            </a:r>
            <a:r>
              <a:rPr sz="4500">
                <a:solidFill>
                  <a:srgbClr val="0A3152"/>
                </a:solidFill>
              </a:rPr>
              <a:t>Far:</a:t>
            </a:r>
            <a:r>
              <a:rPr sz="4500" spc="-190">
                <a:solidFill>
                  <a:srgbClr val="0A3152"/>
                </a:solidFill>
              </a:rPr>
              <a:t> </a:t>
            </a:r>
            <a:r>
              <a:rPr sz="4500">
                <a:solidFill>
                  <a:srgbClr val="0A365D"/>
                </a:solidFill>
              </a:rPr>
              <a:t>Recapping</a:t>
            </a:r>
            <a:r>
              <a:rPr sz="4500" spc="245">
                <a:solidFill>
                  <a:srgbClr val="0A365D"/>
                </a:solidFill>
              </a:rPr>
              <a:t> </a:t>
            </a:r>
            <a:r>
              <a:rPr sz="4500">
                <a:solidFill>
                  <a:srgbClr val="082F4D"/>
                </a:solidFill>
              </a:rPr>
              <a:t>the</a:t>
            </a:r>
            <a:r>
              <a:rPr sz="4500" spc="-120">
                <a:solidFill>
                  <a:srgbClr val="082F4D"/>
                </a:solidFill>
              </a:rPr>
              <a:t> </a:t>
            </a:r>
            <a:r>
              <a:rPr sz="4500" spc="-55">
                <a:solidFill>
                  <a:srgbClr val="032A49"/>
                </a:solidFill>
              </a:rPr>
              <a:t>Mid-</a:t>
            </a:r>
            <a:r>
              <a:rPr sz="4500">
                <a:solidFill>
                  <a:srgbClr val="032A49"/>
                </a:solidFill>
              </a:rPr>
              <a:t>Term</a:t>
            </a:r>
            <a:r>
              <a:rPr sz="4500" spc="50">
                <a:solidFill>
                  <a:srgbClr val="032A49"/>
                </a:solidFill>
              </a:rPr>
              <a:t> </a:t>
            </a:r>
            <a:r>
              <a:rPr sz="4500" spc="-20">
                <a:solidFill>
                  <a:srgbClr val="083459"/>
                </a:solidFill>
              </a:rPr>
              <a:t>Work</a:t>
            </a:r>
            <a:endParaRPr sz="4500"/>
          </a:p>
          <a:p>
            <a:pPr marL="13335">
              <a:lnSpc>
                <a:spcPts val="5155"/>
              </a:lnSpc>
            </a:pPr>
            <a:r>
              <a:rPr sz="4650">
                <a:solidFill>
                  <a:srgbClr val="052D4D"/>
                </a:solidFill>
              </a:rPr>
              <a:t>on</a:t>
            </a:r>
            <a:r>
              <a:rPr sz="4650" spc="-75">
                <a:solidFill>
                  <a:srgbClr val="052D4D"/>
                </a:solidFill>
              </a:rPr>
              <a:t> </a:t>
            </a:r>
            <a:r>
              <a:rPr sz="4650" spc="-10">
                <a:solidFill>
                  <a:srgbClr val="052D4D"/>
                </a:solidFill>
              </a:rPr>
              <a:t>AdaFace</a:t>
            </a:r>
            <a:endParaRPr sz="4650"/>
          </a:p>
        </p:txBody>
      </p:sp>
      <p:sp>
        <p:nvSpPr>
          <p:cNvPr id="4" name="object 4"/>
          <p:cNvSpPr txBox="1"/>
          <p:nvPr/>
        </p:nvSpPr>
        <p:spPr>
          <a:xfrm>
            <a:off x="730821" y="1782342"/>
            <a:ext cx="8460284" cy="2728952"/>
          </a:xfrm>
          <a:prstGeom prst="rect">
            <a:avLst/>
          </a:prstGeom>
        </p:spPr>
        <p:txBody>
          <a:bodyPr vert="horz" wrap="square" lIns="0" tIns="76200" rIns="0" bIns="0" rtlCol="0" anchor="t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lang="en-US" sz="3600">
                <a:solidFill>
                  <a:srgbClr val="052D50"/>
                </a:solidFill>
                <a:latin typeface="Cambria"/>
              </a:rPr>
              <a:t>The Core Problem</a:t>
            </a:r>
          </a:p>
          <a:p>
            <a:pPr marL="26670" marR="1090930" algn="just">
              <a:spcBef>
                <a:spcPts val="1030"/>
              </a:spcBef>
              <a:tabLst>
                <a:tab pos="292100" algn="l"/>
              </a:tabLst>
            </a:pPr>
            <a:r>
              <a:rPr lang="en-US" sz="3200" spc="-150">
                <a:latin typeface="Calibri"/>
                <a:ea typeface="Calibri"/>
                <a:cs typeface="Arial"/>
              </a:rPr>
              <a:t>Face recognition models struggle with varying image quality (e.g., blur, pose, lighting). Standard losses like </a:t>
            </a:r>
            <a:r>
              <a:rPr lang="en-US" sz="3200" spc="-150" err="1">
                <a:latin typeface="Calibri"/>
                <a:ea typeface="Calibri"/>
                <a:cs typeface="Arial"/>
              </a:rPr>
              <a:t>ArcFace</a:t>
            </a:r>
            <a:r>
              <a:rPr lang="en-US" sz="3200" spc="-150">
                <a:latin typeface="Calibri"/>
                <a:ea typeface="Calibri"/>
                <a:cs typeface="Arial"/>
              </a:rPr>
              <a:t> treat all images equally, leading to instability with low-quality samples.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4384" y="4690064"/>
            <a:ext cx="9072063" cy="3182923"/>
          </a:xfrm>
          <a:prstGeom prst="rect">
            <a:avLst/>
          </a:prstGeom>
        </p:spPr>
        <p:txBody>
          <a:bodyPr vert="horz" wrap="square" lIns="0" tIns="762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600">
                <a:solidFill>
                  <a:srgbClr val="052D50"/>
                </a:solidFill>
                <a:latin typeface="Cambria"/>
                <a:cs typeface="Cambria"/>
              </a:rPr>
              <a:t>The</a:t>
            </a:r>
            <a:r>
              <a:rPr sz="3600" spc="-75">
                <a:solidFill>
                  <a:srgbClr val="052D50"/>
                </a:solidFill>
                <a:latin typeface="Cambria"/>
                <a:cs typeface="Cambria"/>
              </a:rPr>
              <a:t> </a:t>
            </a:r>
            <a:r>
              <a:rPr lang="en-US" sz="3600" spc="-45" err="1">
                <a:solidFill>
                  <a:srgbClr val="052849"/>
                </a:solidFill>
                <a:latin typeface="Cambria"/>
                <a:cs typeface="Cambria"/>
              </a:rPr>
              <a:t>AdaFace</a:t>
            </a:r>
            <a:r>
              <a:rPr sz="3600" spc="-70">
                <a:solidFill>
                  <a:srgbClr val="052849"/>
                </a:solidFill>
                <a:latin typeface="Cambria"/>
                <a:cs typeface="Cambria"/>
              </a:rPr>
              <a:t> </a:t>
            </a:r>
            <a:r>
              <a:rPr sz="3600" spc="-10">
                <a:solidFill>
                  <a:srgbClr val="052649"/>
                </a:solidFill>
                <a:latin typeface="Cambria"/>
                <a:cs typeface="Cambria"/>
              </a:rPr>
              <a:t>Solution</a:t>
            </a:r>
            <a:endParaRPr sz="3600">
              <a:latin typeface="Cambria"/>
              <a:cs typeface="Cambria"/>
            </a:endParaRPr>
          </a:p>
          <a:p>
            <a:pPr marL="280035" marR="1090930" indent="-253365">
              <a:spcBef>
                <a:spcPts val="1030"/>
              </a:spcBef>
              <a:buChar char="-"/>
              <a:tabLst>
                <a:tab pos="292100" algn="l"/>
              </a:tabLst>
            </a:pPr>
            <a:r>
              <a:rPr lang="af-ZA" sz="3200" spc="-150">
                <a:latin typeface="Calibri"/>
                <a:ea typeface="Calibri"/>
                <a:cs typeface="Arial"/>
              </a:rPr>
              <a:t>Introduce an adaptive margin mechanism that 	accounts for sample quality.</a:t>
            </a:r>
          </a:p>
          <a:p>
            <a:pPr marL="287655" indent="-260350">
              <a:buChar char="-"/>
              <a:tabLst>
                <a:tab pos="287655" algn="l"/>
              </a:tabLst>
            </a:pPr>
            <a:r>
              <a:rPr lang="af-ZA" sz="3100" spc="-150">
                <a:latin typeface="Calibri"/>
                <a:ea typeface="Calibri"/>
                <a:cs typeface="Arial"/>
              </a:rPr>
              <a:t>Uses the feature norm </a:t>
            </a:r>
            <a:r>
              <a:rPr lang="en-US" sz="2600" spc="-150">
                <a:latin typeface="Arial"/>
                <a:ea typeface="Calibri"/>
                <a:cs typeface="Arial"/>
              </a:rPr>
              <a:t>(||</a:t>
            </a:r>
            <a:r>
              <a:rPr lang="en-US" sz="2600" b="1" spc="-150">
                <a:latin typeface="Arial"/>
                <a:ea typeface="Calibri"/>
                <a:cs typeface="Arial"/>
              </a:rPr>
              <a:t>z</a:t>
            </a:r>
            <a:r>
              <a:rPr lang="en-US" sz="2600" spc="-150">
                <a:latin typeface="Arial"/>
                <a:ea typeface="Calibri"/>
                <a:cs typeface="Arial"/>
              </a:rPr>
              <a:t>||)</a:t>
            </a:r>
            <a:r>
              <a:rPr lang="af-ZA" sz="3100" spc="-150">
                <a:latin typeface="Calibri"/>
                <a:ea typeface="Calibri"/>
                <a:cs typeface="Arial"/>
              </a:rPr>
              <a:t> as a proxy for image </a:t>
            </a:r>
            <a:r>
              <a:rPr lang="af-ZA" sz="3200" spc="-150">
                <a:latin typeface="Calibri"/>
                <a:ea typeface="Calibri"/>
                <a:cs typeface="Arial"/>
              </a:rPr>
              <a:t>quality.</a:t>
            </a:r>
          </a:p>
          <a:p>
            <a:pPr marL="288290" indent="-260985">
              <a:buChar char="-"/>
              <a:tabLst>
                <a:tab pos="288290" algn="l"/>
              </a:tabLst>
            </a:pPr>
            <a:r>
              <a:rPr lang="af-ZA" sz="3100" spc="-150">
                <a:latin typeface="Calibri"/>
                <a:ea typeface="Calibri"/>
                <a:cs typeface="Arial"/>
              </a:rPr>
              <a:t>Dynamically scales the margin: larger for high-quality</a:t>
            </a:r>
          </a:p>
          <a:p>
            <a:pPr marL="280670"/>
            <a:r>
              <a:rPr lang="af-ZA" sz="3050" spc="-150">
                <a:latin typeface="Calibri"/>
                <a:ea typeface="Calibri"/>
                <a:cs typeface="Arial"/>
              </a:rPr>
              <a:t>images, smaller for low-quality images.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893156" y="1889477"/>
            <a:ext cx="5072380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55">
                <a:solidFill>
                  <a:srgbClr val="082A49"/>
                </a:solidFill>
                <a:latin typeface="Times New Roman"/>
                <a:cs typeface="Times New Roman"/>
              </a:rPr>
              <a:t>AdaFace:</a:t>
            </a:r>
            <a:r>
              <a:rPr sz="3450" spc="-155">
                <a:solidFill>
                  <a:srgbClr val="082A49"/>
                </a:solidFill>
                <a:latin typeface="Times New Roman"/>
                <a:cs typeface="Times New Roman"/>
              </a:rPr>
              <a:t> </a:t>
            </a:r>
            <a:r>
              <a:rPr sz="3450" spc="-30">
                <a:solidFill>
                  <a:srgbClr val="0C2D4D"/>
                </a:solidFill>
                <a:latin typeface="Times New Roman"/>
                <a:cs typeface="Times New Roman"/>
              </a:rPr>
              <a:t>Adaptive</a:t>
            </a:r>
            <a:r>
              <a:rPr sz="3450" spc="-85">
                <a:solidFill>
                  <a:srgbClr val="0C2D4D"/>
                </a:solidFill>
                <a:latin typeface="Times New Roman"/>
                <a:cs typeface="Times New Roman"/>
              </a:rPr>
              <a:t> </a:t>
            </a:r>
            <a:r>
              <a:rPr sz="3450" spc="-60">
                <a:solidFill>
                  <a:srgbClr val="072644"/>
                </a:solidFill>
                <a:latin typeface="Times New Roman"/>
                <a:cs typeface="Times New Roman"/>
              </a:rPr>
              <a:t>Difficulty</a:t>
            </a:r>
            <a:endParaRPr sz="3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30611" y="5338233"/>
            <a:ext cx="2244725" cy="469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00">
                <a:solidFill>
                  <a:srgbClr val="071323"/>
                </a:solidFill>
                <a:latin typeface="Cambria"/>
                <a:cs typeface="Cambria"/>
              </a:rPr>
              <a:t>AdaFace</a:t>
            </a:r>
            <a:r>
              <a:rPr sz="2900" spc="415">
                <a:solidFill>
                  <a:srgbClr val="071323"/>
                </a:solidFill>
                <a:latin typeface="Cambria"/>
                <a:cs typeface="Cambria"/>
              </a:rPr>
              <a:t> </a:t>
            </a:r>
            <a:r>
              <a:rPr sz="2900" spc="30">
                <a:solidFill>
                  <a:srgbClr val="0A1F31"/>
                </a:solidFill>
                <a:latin typeface="Cambria"/>
                <a:cs typeface="Cambria"/>
              </a:rPr>
              <a:t>Loss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9016" y="8285948"/>
            <a:ext cx="16217900" cy="1130300"/>
          </a:xfrm>
          <a:prstGeom prst="rect">
            <a:avLst/>
          </a:prstGeom>
          <a:ln w="21166">
            <a:solidFill>
              <a:srgbClr val="283848"/>
            </a:solidFill>
          </a:ln>
        </p:spPr>
        <p:txBody>
          <a:bodyPr vert="horz" wrap="square" lIns="0" tIns="140335" rIns="0" bIns="0" rtlCol="0">
            <a:spAutoFit/>
          </a:bodyPr>
          <a:lstStyle/>
          <a:p>
            <a:pPr marL="162560" marR="1049020" indent="-2540">
              <a:lnSpc>
                <a:spcPts val="3200"/>
              </a:lnSpc>
              <a:spcBef>
                <a:spcPts val="1105"/>
              </a:spcBef>
            </a:pPr>
            <a:r>
              <a:rPr sz="2950" spc="-85">
                <a:solidFill>
                  <a:srgbClr val="A54B1C"/>
                </a:solidFill>
                <a:latin typeface="Arial"/>
                <a:cs typeface="Arial"/>
              </a:rPr>
              <a:t>Key</a:t>
            </a:r>
            <a:r>
              <a:rPr sz="2950" spc="-125">
                <a:solidFill>
                  <a:srgbClr val="A54B1C"/>
                </a:solidFill>
                <a:latin typeface="Arial"/>
                <a:cs typeface="Arial"/>
              </a:rPr>
              <a:t> </a:t>
            </a:r>
            <a:r>
              <a:rPr sz="2950" spc="-35">
                <a:solidFill>
                  <a:srgbClr val="A14D21"/>
                </a:solidFill>
                <a:latin typeface="Arial"/>
                <a:cs typeface="Arial"/>
              </a:rPr>
              <a:t>Takeaway:</a:t>
            </a:r>
            <a:r>
              <a:rPr sz="2950" spc="-120">
                <a:solidFill>
                  <a:srgbClr val="A14D21"/>
                </a:solidFill>
                <a:latin typeface="Arial"/>
                <a:cs typeface="Arial"/>
              </a:rPr>
              <a:t> </a:t>
            </a:r>
            <a:r>
              <a:rPr sz="2950" spc="-110">
                <a:latin typeface="Arial"/>
                <a:cs typeface="Arial"/>
              </a:rPr>
              <a:t>AdaFace</a:t>
            </a:r>
            <a:r>
              <a:rPr sz="2950" spc="-55">
                <a:latin typeface="Arial"/>
                <a:cs typeface="Arial"/>
              </a:rPr>
              <a:t> </a:t>
            </a:r>
            <a:r>
              <a:rPr sz="2950" spc="-35">
                <a:latin typeface="Arial"/>
                <a:cs typeface="Arial"/>
              </a:rPr>
              <a:t>stabilizes </a:t>
            </a:r>
            <a:r>
              <a:rPr sz="2950" spc="-20">
                <a:latin typeface="Arial"/>
                <a:cs typeface="Arial"/>
              </a:rPr>
              <a:t>training</a:t>
            </a:r>
            <a:r>
              <a:rPr sz="2950" spc="-150">
                <a:latin typeface="Arial"/>
                <a:cs typeface="Arial"/>
              </a:rPr>
              <a:t> </a:t>
            </a:r>
            <a:r>
              <a:rPr sz="2950" spc="-70">
                <a:latin typeface="Arial"/>
                <a:cs typeface="Arial"/>
              </a:rPr>
              <a:t>and</a:t>
            </a:r>
            <a:r>
              <a:rPr sz="2950" spc="-145">
                <a:latin typeface="Arial"/>
                <a:cs typeface="Arial"/>
              </a:rPr>
              <a:t> </a:t>
            </a:r>
            <a:r>
              <a:rPr sz="2950" spc="-45">
                <a:latin typeface="Arial"/>
                <a:cs typeface="Arial"/>
              </a:rPr>
              <a:t>improves</a:t>
            </a:r>
            <a:r>
              <a:rPr sz="2950" spc="-100">
                <a:latin typeface="Arial"/>
                <a:cs typeface="Arial"/>
              </a:rPr>
              <a:t> </a:t>
            </a:r>
            <a:r>
              <a:rPr sz="2950" spc="-30">
                <a:latin typeface="Arial"/>
                <a:cs typeface="Arial"/>
              </a:rPr>
              <a:t>robustness</a:t>
            </a:r>
            <a:r>
              <a:rPr sz="2950" spc="-10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by</a:t>
            </a:r>
            <a:r>
              <a:rPr sz="2950" spc="-95">
                <a:latin typeface="Arial"/>
                <a:cs typeface="Arial"/>
              </a:rPr>
              <a:t> </a:t>
            </a:r>
            <a:r>
              <a:rPr sz="2950" spc="-25">
                <a:latin typeface="Arial"/>
                <a:cs typeface="Arial"/>
              </a:rPr>
              <a:t>adapting</a:t>
            </a:r>
            <a:r>
              <a:rPr sz="2950" spc="-50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the</a:t>
            </a:r>
            <a:r>
              <a:rPr sz="2950" spc="-210">
                <a:latin typeface="Arial"/>
                <a:cs typeface="Arial"/>
              </a:rPr>
              <a:t> </a:t>
            </a:r>
            <a:r>
              <a:rPr sz="2950" spc="-25">
                <a:latin typeface="Arial"/>
                <a:cs typeface="Arial"/>
              </a:rPr>
              <a:t>learning </a:t>
            </a:r>
            <a:r>
              <a:rPr sz="2950">
                <a:latin typeface="Arial"/>
                <a:cs typeface="Arial"/>
              </a:rPr>
              <a:t>difficulty</a:t>
            </a:r>
            <a:r>
              <a:rPr sz="2950" spc="65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to</a:t>
            </a:r>
            <a:r>
              <a:rPr sz="2950" spc="-95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the</a:t>
            </a:r>
            <a:r>
              <a:rPr sz="2950" spc="-140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quality</a:t>
            </a:r>
            <a:r>
              <a:rPr sz="2950" spc="120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of</a:t>
            </a:r>
            <a:r>
              <a:rPr sz="2950" spc="15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the</a:t>
            </a:r>
            <a:r>
              <a:rPr sz="2950" spc="-135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input</a:t>
            </a:r>
            <a:r>
              <a:rPr sz="2950" spc="70">
                <a:latin typeface="Arial"/>
                <a:cs typeface="Arial"/>
              </a:rPr>
              <a:t> </a:t>
            </a:r>
            <a:r>
              <a:rPr sz="2950" spc="-10">
                <a:latin typeface="Arial"/>
                <a:cs typeface="Arial"/>
              </a:rPr>
              <a:t>face.</a:t>
            </a:r>
            <a:endParaRPr sz="2950">
              <a:latin typeface="Arial"/>
              <a:cs typeface="Arial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6B49F3A-CB12-4005-BAA5-5D193455E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8184" y="9461788"/>
            <a:ext cx="1133633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4900" y="1727200"/>
            <a:ext cx="10071100" cy="5207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6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900" spc="-45" dirty="0">
                <a:solidFill>
                  <a:srgbClr val="0A345B"/>
                </a:solidFill>
              </a:rPr>
              <a:t>The</a:t>
            </a:r>
            <a:r>
              <a:rPr sz="4900" spc="-225" dirty="0">
                <a:solidFill>
                  <a:srgbClr val="0A345B"/>
                </a:solidFill>
              </a:rPr>
              <a:t> </a:t>
            </a:r>
            <a:r>
              <a:rPr sz="4900" spc="-20" dirty="0">
                <a:solidFill>
                  <a:srgbClr val="082F4F"/>
                </a:solidFill>
              </a:rPr>
              <a:t>Next</a:t>
            </a:r>
            <a:r>
              <a:rPr sz="4900" spc="-250" dirty="0">
                <a:solidFill>
                  <a:srgbClr val="082F4F"/>
                </a:solidFill>
              </a:rPr>
              <a:t> </a:t>
            </a:r>
            <a:r>
              <a:rPr sz="4900" spc="-150" dirty="0">
                <a:solidFill>
                  <a:srgbClr val="0C3152"/>
                </a:solidFill>
              </a:rPr>
              <a:t>Frontier:</a:t>
            </a:r>
            <a:r>
              <a:rPr sz="4900" spc="-120" dirty="0">
                <a:solidFill>
                  <a:srgbClr val="0C3152"/>
                </a:solidFill>
              </a:rPr>
              <a:t> </a:t>
            </a:r>
            <a:r>
              <a:rPr sz="4900" spc="-70" dirty="0">
                <a:solidFill>
                  <a:srgbClr val="032D59"/>
                </a:solidFill>
              </a:rPr>
              <a:t>Making</a:t>
            </a:r>
            <a:r>
              <a:rPr sz="4900" spc="-195" dirty="0">
                <a:solidFill>
                  <a:srgbClr val="032D59"/>
                </a:solidFill>
              </a:rPr>
              <a:t> </a:t>
            </a:r>
            <a:r>
              <a:rPr sz="4900" spc="-180" dirty="0">
                <a:solidFill>
                  <a:srgbClr val="083159"/>
                </a:solidFill>
              </a:rPr>
              <a:t>Quality-</a:t>
            </a:r>
            <a:r>
              <a:rPr sz="4900" spc="-120" dirty="0">
                <a:solidFill>
                  <a:srgbClr val="083159"/>
                </a:solidFill>
              </a:rPr>
              <a:t>Aware</a:t>
            </a:r>
            <a:r>
              <a:rPr sz="4900" spc="50" dirty="0">
                <a:solidFill>
                  <a:srgbClr val="083159"/>
                </a:solidFill>
              </a:rPr>
              <a:t> </a:t>
            </a:r>
            <a:r>
              <a:rPr sz="4900" spc="-75" dirty="0">
                <a:solidFill>
                  <a:srgbClr val="072D50"/>
                </a:solidFill>
              </a:rPr>
              <a:t>Recognition</a:t>
            </a:r>
            <a:r>
              <a:rPr sz="4900" spc="110" dirty="0">
                <a:solidFill>
                  <a:srgbClr val="072D50"/>
                </a:solidFill>
              </a:rPr>
              <a:t> </a:t>
            </a:r>
            <a:r>
              <a:rPr sz="4900" spc="-20" dirty="0">
                <a:solidFill>
                  <a:srgbClr val="032A4B"/>
                </a:solidFill>
              </a:rPr>
              <a:t>Efficient</a:t>
            </a:r>
            <a:endParaRPr sz="4900" dirty="0"/>
          </a:p>
        </p:txBody>
      </p:sp>
      <p:sp>
        <p:nvSpPr>
          <p:cNvPr id="4" name="object 4"/>
          <p:cNvSpPr txBox="1"/>
          <p:nvPr/>
        </p:nvSpPr>
        <p:spPr>
          <a:xfrm>
            <a:off x="1134938" y="3472391"/>
            <a:ext cx="2275205" cy="177228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algn="ctr">
              <a:lnSpc>
                <a:spcPts val="3000"/>
              </a:lnSpc>
              <a:spcBef>
                <a:spcPts val="405"/>
              </a:spcBef>
            </a:pPr>
            <a:r>
              <a:rPr sz="2700" spc="-40">
                <a:solidFill>
                  <a:srgbClr val="0F0F0F"/>
                </a:solidFill>
                <a:latin typeface="Arial"/>
                <a:cs typeface="Arial"/>
              </a:rPr>
              <a:t>Teacher</a:t>
            </a:r>
            <a:r>
              <a:rPr sz="2700" spc="-15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2700" spc="-10">
                <a:solidFill>
                  <a:srgbClr val="051D3A"/>
                </a:solidFill>
                <a:latin typeface="Arial"/>
                <a:cs typeface="Arial"/>
              </a:rPr>
              <a:t>Model </a:t>
            </a:r>
            <a:r>
              <a:rPr sz="2700" spc="-105">
                <a:solidFill>
                  <a:srgbClr val="161616"/>
                </a:solidFill>
                <a:latin typeface="Arial"/>
                <a:cs typeface="Arial"/>
              </a:rPr>
              <a:t>(IR-</a:t>
            </a:r>
            <a:r>
              <a:rPr sz="2700" spc="-20">
                <a:solidFill>
                  <a:srgbClr val="161616"/>
                </a:solidFill>
                <a:latin typeface="Arial"/>
                <a:cs typeface="Arial"/>
              </a:rPr>
              <a:t>101)</a:t>
            </a:r>
            <a:endParaRPr sz="2700">
              <a:latin typeface="Arial"/>
              <a:cs typeface="Arial"/>
            </a:endParaRPr>
          </a:p>
          <a:p>
            <a:pPr marL="187325" marR="194310" indent="-11430" algn="ctr">
              <a:lnSpc>
                <a:spcPct val="93300"/>
              </a:lnSpc>
              <a:spcBef>
                <a:spcPts val="215"/>
              </a:spcBef>
            </a:pPr>
            <a:r>
              <a:rPr sz="2050">
                <a:solidFill>
                  <a:srgbClr val="4D4D4D"/>
                </a:solidFill>
                <a:latin typeface="Arial"/>
                <a:cs typeface="Arial"/>
              </a:rPr>
              <a:t>Powerful</a:t>
            </a:r>
            <a:r>
              <a:rPr sz="2050" spc="285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2050" spc="-25">
                <a:solidFill>
                  <a:srgbClr val="5D5D5D"/>
                </a:solidFill>
                <a:latin typeface="Arial"/>
                <a:cs typeface="Arial"/>
              </a:rPr>
              <a:t>but </a:t>
            </a:r>
            <a:r>
              <a:rPr sz="2200" spc="-65">
                <a:solidFill>
                  <a:srgbClr val="595959"/>
                </a:solidFill>
                <a:latin typeface="Arial"/>
                <a:cs typeface="Arial"/>
              </a:rPr>
              <a:t>computation</a:t>
            </a:r>
            <a:r>
              <a:rPr sz="2200" spc="-1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200" spc="-70">
                <a:solidFill>
                  <a:srgbClr val="565656"/>
                </a:solidFill>
                <a:latin typeface="Arial"/>
                <a:cs typeface="Arial"/>
              </a:rPr>
              <a:t>ally </a:t>
            </a:r>
            <a:r>
              <a:rPr sz="2200" spc="-10">
                <a:solidFill>
                  <a:srgbClr val="595959"/>
                </a:solidFill>
                <a:latin typeface="Arial"/>
                <a:cs typeface="Arial"/>
              </a:rPr>
              <a:t>expensive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3081" y="4105627"/>
            <a:ext cx="2914015" cy="6902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" algn="ctr">
              <a:lnSpc>
                <a:spcPts val="2545"/>
              </a:lnSpc>
              <a:spcBef>
                <a:spcPts val="120"/>
              </a:spcBef>
            </a:pPr>
            <a:r>
              <a:rPr sz="2200">
                <a:solidFill>
                  <a:srgbClr val="0F0F0F"/>
                </a:solidFill>
                <a:latin typeface="Trebuchet MS"/>
                <a:cs typeface="Trebuchet MS"/>
              </a:rPr>
              <a:t>The</a:t>
            </a:r>
            <a:r>
              <a:rPr sz="2200" spc="10">
                <a:solidFill>
                  <a:srgbClr val="0F0F0F"/>
                </a:solidFill>
                <a:latin typeface="Trebuchet MS"/>
                <a:cs typeface="Trebuchet MS"/>
              </a:rPr>
              <a:t> </a:t>
            </a:r>
            <a:r>
              <a:rPr sz="2200">
                <a:solidFill>
                  <a:srgbClr val="151515"/>
                </a:solidFill>
                <a:latin typeface="Trebuchet MS"/>
                <a:cs typeface="Trebuchet MS"/>
              </a:rPr>
              <a:t>Path</a:t>
            </a:r>
            <a:r>
              <a:rPr sz="2200" spc="55">
                <a:solidFill>
                  <a:srgbClr val="151515"/>
                </a:solidFill>
                <a:latin typeface="Trebuchet MS"/>
                <a:cs typeface="Trebuchet MS"/>
              </a:rPr>
              <a:t> </a:t>
            </a:r>
            <a:r>
              <a:rPr sz="2200" spc="-10">
                <a:solidFill>
                  <a:srgbClr val="0C0C0C"/>
                </a:solidFill>
                <a:latin typeface="Trebuchet MS"/>
                <a:cs typeface="Trebuchet MS"/>
              </a:rPr>
              <a:t>Forward:</a:t>
            </a:r>
            <a:endParaRPr sz="2200">
              <a:latin typeface="Trebuchet MS"/>
              <a:cs typeface="Trebuchet MS"/>
            </a:endParaRPr>
          </a:p>
          <a:p>
            <a:pPr algn="ctr">
              <a:lnSpc>
                <a:spcPts val="2665"/>
              </a:lnSpc>
            </a:pPr>
            <a:r>
              <a:rPr sz="2300">
                <a:solidFill>
                  <a:srgbClr val="0E0E0E"/>
                </a:solidFill>
                <a:latin typeface="Arial"/>
                <a:cs typeface="Arial"/>
              </a:rPr>
              <a:t>Knowledge</a:t>
            </a:r>
            <a:r>
              <a:rPr sz="2300" spc="-14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2300" spc="-10">
                <a:solidFill>
                  <a:srgbClr val="111111"/>
                </a:solidFill>
                <a:latin typeface="Arial"/>
                <a:cs typeface="Arial"/>
              </a:rPr>
              <a:t>Distillation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8723" y="6188174"/>
            <a:ext cx="16191230" cy="2901435"/>
          </a:xfrm>
          <a:prstGeom prst="rect">
            <a:avLst/>
          </a:prstGeom>
        </p:spPr>
        <p:txBody>
          <a:bodyPr vert="horz" wrap="square" lIns="0" tIns="168275" rIns="0" bIns="0" rtlCol="0" anchor="t">
            <a:spAutoFit/>
          </a:bodyPr>
          <a:lstStyle/>
          <a:p>
            <a:pPr marL="7118350">
              <a:lnSpc>
                <a:spcPct val="100000"/>
              </a:lnSpc>
              <a:spcBef>
                <a:spcPts val="1325"/>
              </a:spcBef>
            </a:pPr>
            <a:r>
              <a:rPr sz="3100" spc="-95">
                <a:solidFill>
                  <a:srgbClr val="112F49"/>
                </a:solidFill>
                <a:latin typeface="Cambria"/>
                <a:cs typeface="Cambria"/>
              </a:rPr>
              <a:t>The </a:t>
            </a:r>
            <a:r>
              <a:rPr sz="3100" spc="-285">
                <a:solidFill>
                  <a:srgbClr val="05213B"/>
                </a:solidFill>
                <a:latin typeface="Cambria"/>
                <a:cs typeface="Cambria"/>
              </a:rPr>
              <a:t>New</a:t>
            </a:r>
            <a:r>
              <a:rPr sz="3100" spc="105">
                <a:solidFill>
                  <a:srgbClr val="05213B"/>
                </a:solidFill>
                <a:latin typeface="Cambria"/>
                <a:cs typeface="Cambria"/>
              </a:rPr>
              <a:t> </a:t>
            </a:r>
            <a:r>
              <a:rPr sz="3100" spc="-10">
                <a:solidFill>
                  <a:srgbClr val="0C2A46"/>
                </a:solidFill>
                <a:latin typeface="Cambria"/>
                <a:cs typeface="Cambria"/>
              </a:rPr>
              <a:t>Challenge</a:t>
            </a:r>
            <a:endParaRPr sz="3100">
              <a:latin typeface="Cambria"/>
              <a:cs typeface="Cambria"/>
            </a:endParaRPr>
          </a:p>
          <a:p>
            <a:pPr marL="7120890" marR="523875" indent="6350">
              <a:lnSpc>
                <a:spcPts val="2400"/>
              </a:lnSpc>
              <a:spcBef>
                <a:spcPts val="1160"/>
              </a:spcBef>
            </a:pPr>
            <a:r>
              <a:rPr sz="2200" spc="-90">
                <a:latin typeface="Arial"/>
                <a:cs typeface="Arial"/>
              </a:rPr>
              <a:t>While</a:t>
            </a:r>
            <a:r>
              <a:rPr sz="2200" spc="-65">
                <a:latin typeface="Arial"/>
                <a:cs typeface="Arial"/>
              </a:rPr>
              <a:t> </a:t>
            </a:r>
            <a:r>
              <a:rPr sz="2200" spc="-30">
                <a:latin typeface="Arial"/>
                <a:cs typeface="Arial"/>
              </a:rPr>
              <a:t>powerful,</a:t>
            </a:r>
            <a:r>
              <a:rPr sz="2200" spc="-75">
                <a:latin typeface="Arial"/>
                <a:cs typeface="Arial"/>
              </a:rPr>
              <a:t> </a:t>
            </a:r>
            <a:r>
              <a:rPr sz="2200" spc="-45">
                <a:latin typeface="Arial"/>
                <a:cs typeface="Arial"/>
              </a:rPr>
              <a:t>models</a:t>
            </a:r>
            <a:r>
              <a:rPr sz="2200" spc="-100">
                <a:latin typeface="Arial"/>
                <a:cs typeface="Arial"/>
              </a:rPr>
              <a:t> </a:t>
            </a:r>
            <a:r>
              <a:rPr sz="2200" spc="-50">
                <a:latin typeface="Arial"/>
                <a:cs typeface="Arial"/>
              </a:rPr>
              <a:t>like</a:t>
            </a:r>
            <a:r>
              <a:rPr sz="2200" spc="-145">
                <a:latin typeface="Arial"/>
                <a:cs typeface="Arial"/>
              </a:rPr>
              <a:t> </a:t>
            </a:r>
            <a:r>
              <a:rPr sz="2200" spc="-140">
                <a:latin typeface="Arial"/>
                <a:cs typeface="Arial"/>
              </a:rPr>
              <a:t>IR-</a:t>
            </a:r>
            <a:r>
              <a:rPr sz="2200" spc="-125">
                <a:latin typeface="Arial"/>
                <a:cs typeface="Arial"/>
              </a:rPr>
              <a:t>101</a:t>
            </a:r>
            <a:r>
              <a:rPr sz="2200" spc="-10">
                <a:latin typeface="Arial"/>
                <a:cs typeface="Arial"/>
              </a:rPr>
              <a:t> </a:t>
            </a:r>
            <a:r>
              <a:rPr sz="2200">
                <a:latin typeface="Arial"/>
                <a:cs typeface="Arial"/>
              </a:rPr>
              <a:t>with</a:t>
            </a:r>
            <a:r>
              <a:rPr sz="2200" spc="-65">
                <a:latin typeface="Arial"/>
                <a:cs typeface="Arial"/>
              </a:rPr>
              <a:t> </a:t>
            </a:r>
            <a:r>
              <a:rPr lang="af-ZA" sz="2200" spc="-114" err="1">
                <a:latin typeface="Arial"/>
                <a:cs typeface="Arial"/>
              </a:rPr>
              <a:t>AdaFace</a:t>
            </a:r>
            <a:r>
              <a:rPr sz="2200">
                <a:latin typeface="Arial"/>
                <a:cs typeface="Arial"/>
              </a:rPr>
              <a:t> </a:t>
            </a:r>
            <a:r>
              <a:rPr sz="2200" spc="-45">
                <a:latin typeface="Arial"/>
                <a:cs typeface="Arial"/>
              </a:rPr>
              <a:t>are</a:t>
            </a:r>
            <a:r>
              <a:rPr sz="2200" spc="-85">
                <a:latin typeface="Arial"/>
                <a:cs typeface="Arial"/>
              </a:rPr>
              <a:t> </a:t>
            </a:r>
            <a:r>
              <a:rPr sz="2200" spc="-10">
                <a:latin typeface="Arial"/>
                <a:cs typeface="Arial"/>
              </a:rPr>
              <a:t>computationally </a:t>
            </a:r>
            <a:r>
              <a:rPr sz="2200" spc="-60">
                <a:latin typeface="Arial"/>
                <a:cs typeface="Arial"/>
              </a:rPr>
              <a:t>expensive.</a:t>
            </a:r>
            <a:r>
              <a:rPr sz="2200" spc="-95">
                <a:latin typeface="Arial"/>
                <a:cs typeface="Arial"/>
              </a:rPr>
              <a:t> </a:t>
            </a:r>
            <a:r>
              <a:rPr sz="2200" spc="-60">
                <a:latin typeface="Arial"/>
                <a:cs typeface="Arial"/>
              </a:rPr>
              <a:t>How</a:t>
            </a:r>
            <a:r>
              <a:rPr sz="2200" spc="-95">
                <a:latin typeface="Arial"/>
                <a:cs typeface="Arial"/>
              </a:rPr>
              <a:t> </a:t>
            </a:r>
            <a:r>
              <a:rPr sz="2200" spc="-40">
                <a:latin typeface="Arial"/>
                <a:cs typeface="Arial"/>
              </a:rPr>
              <a:t>can</a:t>
            </a:r>
            <a:r>
              <a:rPr sz="2200" spc="-110">
                <a:latin typeface="Arial"/>
                <a:cs typeface="Arial"/>
              </a:rPr>
              <a:t> </a:t>
            </a:r>
            <a:r>
              <a:rPr sz="2200" spc="-45">
                <a:latin typeface="Arial"/>
                <a:cs typeface="Arial"/>
              </a:rPr>
              <a:t>we</a:t>
            </a:r>
            <a:r>
              <a:rPr sz="2200" spc="-110">
                <a:latin typeface="Arial"/>
                <a:cs typeface="Arial"/>
              </a:rPr>
              <a:t> </a:t>
            </a:r>
            <a:r>
              <a:rPr sz="2200" spc="-20">
                <a:latin typeface="Arial"/>
                <a:cs typeface="Arial"/>
              </a:rPr>
              <a:t>transfer</a:t>
            </a:r>
            <a:r>
              <a:rPr sz="2200" spc="-95">
                <a:latin typeface="Arial"/>
                <a:cs typeface="Arial"/>
              </a:rPr>
              <a:t> </a:t>
            </a:r>
            <a:r>
              <a:rPr sz="2200" spc="-10">
                <a:latin typeface="Arial"/>
                <a:cs typeface="Arial"/>
              </a:rPr>
              <a:t>this</a:t>
            </a:r>
            <a:r>
              <a:rPr sz="2200" spc="-140">
                <a:latin typeface="Arial"/>
                <a:cs typeface="Arial"/>
              </a:rPr>
              <a:t> </a:t>
            </a:r>
            <a:r>
              <a:rPr sz="2200" spc="-55">
                <a:latin typeface="Arial"/>
                <a:cs typeface="Arial"/>
              </a:rPr>
              <a:t>nuanced,</a:t>
            </a:r>
            <a:r>
              <a:rPr sz="2200" spc="-15">
                <a:latin typeface="Arial"/>
                <a:cs typeface="Arial"/>
              </a:rPr>
              <a:t> </a:t>
            </a:r>
            <a:r>
              <a:rPr sz="2200" spc="-55">
                <a:latin typeface="Arial"/>
                <a:cs typeface="Arial"/>
              </a:rPr>
              <a:t>quality-</a:t>
            </a:r>
            <a:r>
              <a:rPr sz="2200" spc="-10">
                <a:latin typeface="Arial"/>
                <a:cs typeface="Arial"/>
              </a:rPr>
              <a:t>aware</a:t>
            </a:r>
            <a:r>
              <a:rPr sz="2200" spc="60">
                <a:latin typeface="Arial"/>
                <a:cs typeface="Arial"/>
              </a:rPr>
              <a:t> </a:t>
            </a:r>
            <a:r>
              <a:rPr sz="2200" spc="-10">
                <a:latin typeface="Arial"/>
                <a:cs typeface="Arial"/>
              </a:rPr>
              <a:t>knowledge </a:t>
            </a:r>
            <a:r>
              <a:rPr sz="2200">
                <a:latin typeface="Arial"/>
                <a:cs typeface="Arial"/>
              </a:rPr>
              <a:t>to</a:t>
            </a:r>
            <a:r>
              <a:rPr sz="2200" spc="-155">
                <a:latin typeface="Arial"/>
                <a:cs typeface="Arial"/>
              </a:rPr>
              <a:t> </a:t>
            </a:r>
            <a:r>
              <a:rPr sz="2200" spc="-215">
                <a:latin typeface="Arial"/>
                <a:cs typeface="Arial"/>
              </a:rPr>
              <a:t>a</a:t>
            </a:r>
            <a:r>
              <a:rPr sz="2200" spc="-5">
                <a:latin typeface="Arial"/>
                <a:cs typeface="Arial"/>
              </a:rPr>
              <a:t> </a:t>
            </a:r>
            <a:r>
              <a:rPr sz="2200" spc="-50">
                <a:latin typeface="Arial"/>
                <a:cs typeface="Arial"/>
              </a:rPr>
              <a:t>much</a:t>
            </a:r>
            <a:r>
              <a:rPr sz="2200" spc="-105">
                <a:latin typeface="Arial"/>
                <a:cs typeface="Arial"/>
              </a:rPr>
              <a:t> </a:t>
            </a:r>
            <a:r>
              <a:rPr sz="2200" spc="-80">
                <a:latin typeface="Arial"/>
                <a:cs typeface="Arial"/>
              </a:rPr>
              <a:t>smaller,</a:t>
            </a:r>
            <a:r>
              <a:rPr sz="2200" spc="-30">
                <a:latin typeface="Arial"/>
                <a:cs typeface="Arial"/>
              </a:rPr>
              <a:t> </a:t>
            </a:r>
            <a:r>
              <a:rPr sz="2200" spc="-10">
                <a:latin typeface="Arial"/>
                <a:cs typeface="Arial"/>
              </a:rPr>
              <a:t>faster</a:t>
            </a:r>
            <a:r>
              <a:rPr sz="2200" spc="30">
                <a:latin typeface="Arial"/>
                <a:cs typeface="Arial"/>
              </a:rPr>
              <a:t> </a:t>
            </a:r>
            <a:r>
              <a:rPr sz="2200" spc="-20">
                <a:latin typeface="Arial"/>
                <a:cs typeface="Arial"/>
              </a:rPr>
              <a:t>'student'</a:t>
            </a:r>
            <a:r>
              <a:rPr sz="2200" spc="40">
                <a:latin typeface="Arial"/>
                <a:cs typeface="Arial"/>
              </a:rPr>
              <a:t> </a:t>
            </a:r>
            <a:r>
              <a:rPr sz="2200" spc="-60">
                <a:latin typeface="Arial"/>
                <a:cs typeface="Arial"/>
              </a:rPr>
              <a:t>model</a:t>
            </a:r>
            <a:r>
              <a:rPr sz="2200" spc="-80">
                <a:latin typeface="Arial"/>
                <a:cs typeface="Arial"/>
              </a:rPr>
              <a:t> </a:t>
            </a:r>
            <a:r>
              <a:rPr sz="2200" spc="-50">
                <a:latin typeface="Arial"/>
                <a:cs typeface="Arial"/>
              </a:rPr>
              <a:t>like</a:t>
            </a:r>
            <a:r>
              <a:rPr sz="2200" spc="-105">
                <a:latin typeface="Arial"/>
                <a:cs typeface="Arial"/>
              </a:rPr>
              <a:t> </a:t>
            </a:r>
            <a:r>
              <a:rPr lang="af-ZA" sz="2200" spc="-10" err="1">
                <a:latin typeface="Arial"/>
                <a:cs typeface="Arial"/>
              </a:rPr>
              <a:t>MobileFaceNet</a:t>
            </a:r>
            <a:r>
              <a:rPr sz="2200" spc="-10">
                <a:latin typeface="Arial"/>
                <a:cs typeface="Arial"/>
              </a:rPr>
              <a:t>?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0"/>
              </a:spcBef>
            </a:pPr>
            <a:r>
              <a:rPr lang="af-ZA" sz="3050" b="1" err="1">
                <a:solidFill>
                  <a:srgbClr val="0F2F48"/>
                </a:solidFill>
                <a:latin typeface="Arial"/>
                <a:cs typeface="Arial"/>
              </a:rPr>
              <a:t>The</a:t>
            </a:r>
            <a:r>
              <a:rPr lang="af-ZA" sz="3050" b="1" spc="-210">
                <a:solidFill>
                  <a:srgbClr val="0F2F48"/>
                </a:solidFill>
                <a:latin typeface="Arial"/>
                <a:cs typeface="Arial"/>
              </a:rPr>
              <a:t> </a:t>
            </a:r>
            <a:r>
              <a:rPr lang="af-ZA" sz="3050" b="1" err="1">
                <a:solidFill>
                  <a:srgbClr val="0E2F4B"/>
                </a:solidFill>
                <a:latin typeface="Arial"/>
                <a:cs typeface="Arial"/>
              </a:rPr>
              <a:t>Guiding</a:t>
            </a:r>
            <a:r>
              <a:rPr lang="af-ZA" sz="3050" b="1" spc="-114">
                <a:solidFill>
                  <a:srgbClr val="0E2F4B"/>
                </a:solidFill>
                <a:latin typeface="Arial"/>
                <a:cs typeface="Arial"/>
              </a:rPr>
              <a:t> </a:t>
            </a:r>
            <a:r>
              <a:rPr lang="af-ZA" sz="3050" b="1" err="1">
                <a:solidFill>
                  <a:srgbClr val="082F52"/>
                </a:solidFill>
                <a:latin typeface="Arial"/>
                <a:cs typeface="Arial"/>
              </a:rPr>
              <a:t>Question</a:t>
            </a:r>
            <a:r>
              <a:rPr lang="af-ZA" sz="3050" b="1">
                <a:solidFill>
                  <a:srgbClr val="082F52"/>
                </a:solidFill>
                <a:latin typeface="Arial"/>
                <a:cs typeface="Arial"/>
              </a:rPr>
              <a:t>:</a:t>
            </a:r>
            <a:r>
              <a:rPr sz="3050" spc="15">
                <a:solidFill>
                  <a:srgbClr val="082F52"/>
                </a:solidFill>
                <a:latin typeface="Arial"/>
                <a:cs typeface="Arial"/>
              </a:rPr>
              <a:t> </a:t>
            </a:r>
            <a:r>
              <a:rPr sz="3050" spc="-20">
                <a:latin typeface="Arial"/>
                <a:cs typeface="Arial"/>
              </a:rPr>
              <a:t>Can</a:t>
            </a:r>
            <a:r>
              <a:rPr sz="3050" spc="110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we</a:t>
            </a:r>
            <a:r>
              <a:rPr sz="3050" spc="-70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design</a:t>
            </a:r>
            <a:r>
              <a:rPr sz="3050" spc="60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a</a:t>
            </a:r>
            <a:r>
              <a:rPr sz="3050" spc="15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distillation</a:t>
            </a:r>
            <a:r>
              <a:rPr sz="3050" spc="135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process</a:t>
            </a:r>
            <a:r>
              <a:rPr sz="3050" spc="140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that</a:t>
            </a:r>
            <a:r>
              <a:rPr sz="3050" spc="135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doesn't</a:t>
            </a:r>
            <a:r>
              <a:rPr sz="3050" spc="265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just</a:t>
            </a:r>
            <a:r>
              <a:rPr sz="3050" spc="40">
                <a:latin typeface="Arial"/>
                <a:cs typeface="Arial"/>
              </a:rPr>
              <a:t> </a:t>
            </a:r>
            <a:r>
              <a:rPr sz="3050">
                <a:latin typeface="Arial"/>
                <a:cs typeface="Arial"/>
              </a:rPr>
              <a:t>mimic</a:t>
            </a:r>
            <a:r>
              <a:rPr sz="3050" spc="180">
                <a:latin typeface="Arial"/>
                <a:cs typeface="Arial"/>
              </a:rPr>
              <a:t> </a:t>
            </a:r>
            <a:r>
              <a:rPr lang="af-ZA" sz="3050" spc="-25" err="1">
                <a:latin typeface="Arial"/>
                <a:cs typeface="Arial"/>
              </a:rPr>
              <a:t>the</a:t>
            </a:r>
            <a:r>
              <a:rPr lang="af-ZA" altLang="zh-TW" sz="3050" spc="-25">
                <a:latin typeface="Arial"/>
                <a:cs typeface="Arial"/>
              </a:rPr>
              <a:t> </a:t>
            </a:r>
            <a:r>
              <a:rPr lang="af-ZA" sz="3100" spc="-40" err="1">
                <a:latin typeface="Arial"/>
                <a:cs typeface="Arial"/>
              </a:rPr>
              <a:t>teacher</a:t>
            </a:r>
            <a:r>
              <a:rPr sz="3100" spc="-40">
                <a:latin typeface="Arial"/>
                <a:cs typeface="Arial"/>
              </a:rPr>
              <a:t>‘s</a:t>
            </a:r>
            <a:r>
              <a:rPr sz="3100" spc="-30">
                <a:latin typeface="Arial"/>
                <a:cs typeface="Arial"/>
              </a:rPr>
              <a:t> </a:t>
            </a:r>
            <a:r>
              <a:rPr sz="3100">
                <a:latin typeface="Arial"/>
                <a:cs typeface="Arial"/>
              </a:rPr>
              <a:t>output,</a:t>
            </a:r>
            <a:r>
              <a:rPr sz="3100" spc="-145">
                <a:latin typeface="Arial"/>
                <a:cs typeface="Arial"/>
              </a:rPr>
              <a:t> </a:t>
            </a:r>
            <a:r>
              <a:rPr sz="3100">
                <a:latin typeface="Arial"/>
                <a:cs typeface="Arial"/>
              </a:rPr>
              <a:t>but</a:t>
            </a:r>
            <a:r>
              <a:rPr sz="3100" spc="-70">
                <a:latin typeface="Arial"/>
                <a:cs typeface="Arial"/>
              </a:rPr>
              <a:t> </a:t>
            </a:r>
            <a:r>
              <a:rPr sz="3100" spc="-20">
                <a:latin typeface="Arial"/>
                <a:cs typeface="Arial"/>
              </a:rPr>
              <a:t>also</a:t>
            </a:r>
            <a:r>
              <a:rPr sz="3100" spc="-55">
                <a:latin typeface="Arial"/>
                <a:cs typeface="Arial"/>
              </a:rPr>
              <a:t> </a:t>
            </a:r>
            <a:r>
              <a:rPr sz="3100" spc="-10">
                <a:latin typeface="Arial"/>
                <a:cs typeface="Arial"/>
              </a:rPr>
              <a:t>teaches</a:t>
            </a:r>
            <a:r>
              <a:rPr sz="3100" spc="45">
                <a:latin typeface="Arial"/>
                <a:cs typeface="Arial"/>
              </a:rPr>
              <a:t> </a:t>
            </a:r>
            <a:r>
              <a:rPr sz="3100">
                <a:latin typeface="Arial"/>
                <a:cs typeface="Arial"/>
              </a:rPr>
              <a:t>the</a:t>
            </a:r>
            <a:r>
              <a:rPr sz="3100" spc="-150">
                <a:latin typeface="Arial"/>
                <a:cs typeface="Arial"/>
              </a:rPr>
              <a:t> </a:t>
            </a:r>
            <a:r>
              <a:rPr sz="3100">
                <a:latin typeface="Arial"/>
                <a:cs typeface="Arial"/>
              </a:rPr>
              <a:t>student</a:t>
            </a:r>
            <a:r>
              <a:rPr sz="3100" spc="100">
                <a:latin typeface="Arial"/>
                <a:cs typeface="Arial"/>
              </a:rPr>
              <a:t> </a:t>
            </a:r>
            <a:r>
              <a:rPr sz="3100" i="1">
                <a:latin typeface="Arial"/>
                <a:cs typeface="Arial"/>
              </a:rPr>
              <a:t>how</a:t>
            </a:r>
            <a:r>
              <a:rPr sz="3100" i="1" spc="-170">
                <a:latin typeface="Arial"/>
                <a:cs typeface="Arial"/>
              </a:rPr>
              <a:t> </a:t>
            </a:r>
            <a:r>
              <a:rPr sz="3100" spc="60">
                <a:latin typeface="Arial"/>
                <a:cs typeface="Arial"/>
              </a:rPr>
              <a:t>to</a:t>
            </a:r>
            <a:r>
              <a:rPr sz="3100" spc="-185">
                <a:latin typeface="Arial"/>
                <a:cs typeface="Arial"/>
              </a:rPr>
              <a:t> </a:t>
            </a:r>
            <a:r>
              <a:rPr sz="3100" spc="-35">
                <a:latin typeface="Arial"/>
                <a:cs typeface="Arial"/>
              </a:rPr>
              <a:t>handle</a:t>
            </a:r>
            <a:r>
              <a:rPr sz="3100" spc="-45">
                <a:latin typeface="Arial"/>
                <a:cs typeface="Arial"/>
              </a:rPr>
              <a:t> </a:t>
            </a:r>
            <a:r>
              <a:rPr sz="3100" spc="-40">
                <a:latin typeface="Arial"/>
                <a:cs typeface="Arial"/>
              </a:rPr>
              <a:t>images</a:t>
            </a:r>
            <a:r>
              <a:rPr sz="3100" spc="80">
                <a:latin typeface="Arial"/>
                <a:cs typeface="Arial"/>
              </a:rPr>
              <a:t> </a:t>
            </a:r>
            <a:r>
              <a:rPr sz="3100">
                <a:latin typeface="Arial"/>
                <a:cs typeface="Arial"/>
              </a:rPr>
              <a:t>of</a:t>
            </a:r>
            <a:r>
              <a:rPr sz="3100" spc="-20">
                <a:latin typeface="Arial"/>
                <a:cs typeface="Arial"/>
              </a:rPr>
              <a:t> </a:t>
            </a:r>
            <a:r>
              <a:rPr sz="3100" spc="-10">
                <a:latin typeface="Arial"/>
                <a:cs typeface="Arial"/>
              </a:rPr>
              <a:t>varying</a:t>
            </a:r>
            <a:r>
              <a:rPr sz="3100" spc="-65">
                <a:latin typeface="Arial"/>
                <a:cs typeface="Arial"/>
              </a:rPr>
              <a:t> </a:t>
            </a:r>
            <a:r>
              <a:rPr sz="3100" spc="-10">
                <a:latin typeface="Arial"/>
                <a:cs typeface="Arial"/>
              </a:rPr>
              <a:t>quality?</a:t>
            </a:r>
            <a:endParaRPr lang="zh-TW" altLang="en-US" sz="3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24305" y="3797652"/>
            <a:ext cx="2534285" cy="117475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 indent="144780">
              <a:lnSpc>
                <a:spcPts val="3000"/>
              </a:lnSpc>
              <a:spcBef>
                <a:spcPts val="545"/>
              </a:spcBef>
            </a:pPr>
            <a:r>
              <a:rPr sz="2850" spc="-75">
                <a:solidFill>
                  <a:srgbClr val="181818"/>
                </a:solidFill>
                <a:latin typeface="Arial"/>
                <a:cs typeface="Arial"/>
              </a:rPr>
              <a:t>Student</a:t>
            </a:r>
            <a:r>
              <a:rPr sz="2850" spc="-85">
                <a:solidFill>
                  <a:srgbClr val="181818"/>
                </a:solidFill>
                <a:latin typeface="Arial"/>
                <a:cs typeface="Arial"/>
              </a:rPr>
              <a:t> </a:t>
            </a:r>
            <a:r>
              <a:rPr sz="2850" spc="-10">
                <a:solidFill>
                  <a:srgbClr val="131313"/>
                </a:solidFill>
                <a:latin typeface="Arial"/>
                <a:cs typeface="Arial"/>
              </a:rPr>
              <a:t>Model </a:t>
            </a:r>
            <a:r>
              <a:rPr sz="2850" spc="-100">
                <a:solidFill>
                  <a:srgbClr val="151515"/>
                </a:solidFill>
                <a:latin typeface="Arial"/>
                <a:cs typeface="Arial"/>
              </a:rPr>
              <a:t>(MobileFaceNet)</a:t>
            </a:r>
            <a:endParaRPr sz="2850">
              <a:latin typeface="Arial"/>
              <a:cs typeface="Arial"/>
            </a:endParaRPr>
          </a:p>
          <a:p>
            <a:pPr marL="53340">
              <a:lnSpc>
                <a:spcPct val="100000"/>
              </a:lnSpc>
              <a:spcBef>
                <a:spcPts val="200"/>
              </a:spcBef>
            </a:pPr>
            <a:r>
              <a:rPr sz="2000" spc="50">
                <a:solidFill>
                  <a:srgbClr val="595959"/>
                </a:solidFill>
                <a:latin typeface="Arial"/>
                <a:cs typeface="Arial"/>
              </a:rPr>
              <a:t>Lightweight</a:t>
            </a:r>
            <a:r>
              <a:rPr sz="2000" spc="28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>
                <a:solidFill>
                  <a:srgbClr val="626262"/>
                </a:solidFill>
                <a:latin typeface="Arial"/>
                <a:cs typeface="Arial"/>
              </a:rPr>
              <a:t>and</a:t>
            </a:r>
            <a:r>
              <a:rPr sz="2000" spc="18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sz="2000" spc="-70">
                <a:solidFill>
                  <a:srgbClr val="696969"/>
                </a:solidFill>
                <a:latin typeface="Arial"/>
                <a:cs typeface="Arial"/>
              </a:rPr>
              <a:t>fa</a:t>
            </a:r>
            <a:r>
              <a:rPr sz="2000" spc="-245">
                <a:solidFill>
                  <a:srgbClr val="696969"/>
                </a:solidFill>
                <a:latin typeface="Arial"/>
                <a:cs typeface="Arial"/>
              </a:rPr>
              <a:t> </a:t>
            </a:r>
            <a:r>
              <a:rPr sz="2000" spc="-25">
                <a:solidFill>
                  <a:srgbClr val="5E5E5E"/>
                </a:solidFill>
                <a:latin typeface="Arial"/>
                <a:cs typeface="Arial"/>
              </a:rPr>
              <a:t>st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9ED5F6D-C5BF-4AB7-8F96-75C3A5A0D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18F1570-FC9A-6226-34A7-F747129E2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459158"/>
              </p:ext>
            </p:extLst>
          </p:nvPr>
        </p:nvGraphicFramePr>
        <p:xfrm>
          <a:off x="1856495" y="1790686"/>
          <a:ext cx="13762210" cy="7529508"/>
        </p:xfrm>
        <a:graphic>
          <a:graphicData uri="http://schemas.openxmlformats.org/drawingml/2006/table">
            <a:tbl>
              <a:tblPr bandRow="1">
                <a:tableStyleId>{68D230F3-CF80-4859-8CE7-A43EE81993B5}</a:tableStyleId>
              </a:tblPr>
              <a:tblGrid>
                <a:gridCol w="3296284">
                  <a:extLst>
                    <a:ext uri="{9D8B030D-6E8A-4147-A177-3AD203B41FA5}">
                      <a16:colId xmlns:a16="http://schemas.microsoft.com/office/drawing/2014/main" val="2845494752"/>
                    </a:ext>
                  </a:extLst>
                </a:gridCol>
                <a:gridCol w="3488642">
                  <a:extLst>
                    <a:ext uri="{9D8B030D-6E8A-4147-A177-3AD203B41FA5}">
                      <a16:colId xmlns:a16="http://schemas.microsoft.com/office/drawing/2014/main" val="2825707430"/>
                    </a:ext>
                  </a:extLst>
                </a:gridCol>
                <a:gridCol w="3488642">
                  <a:extLst>
                    <a:ext uri="{9D8B030D-6E8A-4147-A177-3AD203B41FA5}">
                      <a16:colId xmlns:a16="http://schemas.microsoft.com/office/drawing/2014/main" val="1271741194"/>
                    </a:ext>
                  </a:extLst>
                </a:gridCol>
                <a:gridCol w="3488642">
                  <a:extLst>
                    <a:ext uri="{9D8B030D-6E8A-4147-A177-3AD203B41FA5}">
                      <a16:colId xmlns:a16="http://schemas.microsoft.com/office/drawing/2014/main" val="1352189070"/>
                    </a:ext>
                  </a:extLst>
                </a:gridCol>
              </a:tblGrid>
              <a:tr h="836612"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300" b="1" dirty="0">
                          <a:solidFill>
                            <a:srgbClr val="000000"/>
                          </a:solidFill>
                          <a:effectLst/>
                        </a:rPr>
                        <a:t>Dataset​</a:t>
                      </a:r>
                      <a:endParaRPr lang="af-ZA" sz="16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300" b="1" dirty="0">
                          <a:solidFill>
                            <a:srgbClr val="000000"/>
                          </a:solidFill>
                          <a:effectLst/>
                        </a:rPr>
                        <a:t>AdaFace Paper (%)​</a:t>
                      </a:r>
                      <a:endParaRPr lang="af-ZA" sz="16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300" b="1" dirty="0">
                          <a:solidFill>
                            <a:srgbClr val="000000"/>
                          </a:solidFill>
                          <a:effectLst/>
                        </a:rPr>
                        <a:t>Pretained (%) / </a:t>
                      </a:r>
                      <a:r>
                        <a:rPr lang="el-GR" sz="2300" b="1" dirty="0">
                          <a:solidFill>
                            <a:srgbClr val="000000"/>
                          </a:solidFill>
                          <a:effectLst/>
                        </a:rPr>
                        <a:t>Δ (</a:t>
                      </a:r>
                      <a:r>
                        <a:rPr lang="af-ZA" sz="2300" b="1" dirty="0">
                          <a:solidFill>
                            <a:srgbClr val="000000"/>
                          </a:solidFill>
                          <a:effectLst/>
                        </a:rPr>
                        <a:t>Diff.)​</a:t>
                      </a:r>
                      <a:endParaRPr lang="af-ZA" sz="1600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1">
                          <a:solidFill>
                            <a:srgbClr val="000000"/>
                          </a:solidFill>
                          <a:effectLst/>
                        </a:rPr>
                        <a:t>Scratch (%) </a:t>
                      </a:r>
                      <a:r>
                        <a:rPr lang="en-US" sz="2300" b="1" u="none" strike="noStrike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en-US" sz="2300" b="1">
                          <a:solidFill>
                            <a:srgbClr val="000000"/>
                          </a:solidFill>
                          <a:effectLst/>
                        </a:rPr>
                        <a:t> </a:t>
                      </a:r>
                      <a:r>
                        <a:rPr lang="el-GR" sz="2300" b="1">
                          <a:solidFill>
                            <a:srgbClr val="000000"/>
                          </a:solidFill>
                          <a:effectLst/>
                        </a:rPr>
                        <a:t>Δ (</a:t>
                      </a:r>
                      <a:r>
                        <a:rPr lang="en-US" sz="2300" b="1">
                          <a:solidFill>
                            <a:srgbClr val="000000"/>
                          </a:solidFill>
                          <a:effectLst/>
                        </a:rPr>
                        <a:t>Diff.)​</a:t>
                      </a:r>
                      <a:endParaRPr lang="en-US" sz="1600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4115081018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>
                          <a:solidFill>
                            <a:srgbClr val="000000"/>
                          </a:solidFill>
                          <a:effectLst/>
                        </a:rPr>
                        <a:t>LFW​</a:t>
                      </a:r>
                      <a:endParaRPr lang="af-ZA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99.83</a:t>
                      </a:r>
                      <a:r>
                        <a:rPr lang="en-US" altLang="zh-TW" sz="23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99.80 / -0.03</a:t>
                      </a:r>
                      <a:r>
                        <a:rPr lang="en-US" altLang="zh-TW" sz="23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99.8 / -0.03​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3238354392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>
                          <a:solidFill>
                            <a:srgbClr val="000000"/>
                          </a:solidFill>
                          <a:effectLst/>
                        </a:rPr>
                        <a:t>CFP-FP​</a:t>
                      </a:r>
                      <a:endParaRPr lang="af-ZA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98.65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98.67 / +0.02</a:t>
                      </a:r>
                      <a:r>
                        <a:rPr lang="en-US" altLang="zh-TW" sz="23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98.41 / -0.14​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4202729140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>
                          <a:solidFill>
                            <a:srgbClr val="000000"/>
                          </a:solidFill>
                          <a:effectLst/>
                        </a:rPr>
                        <a:t>AgeDB-30​</a:t>
                      </a:r>
                      <a:endParaRPr lang="af-ZA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98.27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98.05 / -0.22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98.23 / -0.04​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3455427720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 dirty="0">
                          <a:solidFill>
                            <a:srgbClr val="000000"/>
                          </a:solidFill>
                          <a:effectLst/>
                        </a:rPr>
                        <a:t>CPLFW​</a:t>
                      </a:r>
                      <a:endParaRPr lang="af-ZA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93.46</a:t>
                      </a:r>
                      <a:r>
                        <a:rPr lang="en-US" altLang="zh-TW" sz="23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93.53 / +0.07</a:t>
                      </a:r>
                      <a:r>
                        <a:rPr lang="en-US" altLang="zh-TW" sz="23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92.83 /-0.63​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2131683999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>
                          <a:solidFill>
                            <a:srgbClr val="000000"/>
                          </a:solidFill>
                          <a:effectLst/>
                        </a:rPr>
                        <a:t>CALFW​</a:t>
                      </a:r>
                      <a:endParaRPr lang="af-ZA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96.08</a:t>
                      </a:r>
                      <a:r>
                        <a:rPr lang="en-US" altLang="zh-TW" sz="23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96.12 / +0.04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96.05/-0.03​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3855630125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>
                          <a:solidFill>
                            <a:srgbClr val="000000"/>
                          </a:solidFill>
                          <a:effectLst/>
                        </a:rPr>
                        <a:t>TinyFace (Rank-1)​</a:t>
                      </a:r>
                      <a:endParaRPr lang="af-ZA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68.30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68.11 / -0.19</a:t>
                      </a:r>
                      <a:r>
                        <a:rPr lang="en-US" altLang="zh-TW" sz="23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68.27/ -0.11​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4000708473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 dirty="0">
                          <a:solidFill>
                            <a:srgbClr val="000000"/>
                          </a:solidFill>
                          <a:effectLst/>
                        </a:rPr>
                        <a:t>IJBB (TPR@FPR=0.01)​</a:t>
                      </a:r>
                      <a:endParaRPr lang="af-ZA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95.60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95.59 / -0.01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95.47/-0.13​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151608219"/>
                  </a:ext>
                </a:extLst>
              </a:tr>
              <a:tr h="836612">
                <a:tc>
                  <a:txBody>
                    <a:bodyPr/>
                    <a:lstStyle/>
                    <a:p>
                      <a:pPr algn="l" fontAlgn="base"/>
                      <a:r>
                        <a:rPr lang="af-ZA" sz="2300" b="0" dirty="0">
                          <a:solidFill>
                            <a:srgbClr val="000000"/>
                          </a:solidFill>
                          <a:effectLst/>
                        </a:rPr>
                        <a:t>IJBC (TPR@FPR=0.01)​</a:t>
                      </a:r>
                      <a:endParaRPr lang="af-ZA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96.80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>
                          <a:solidFill>
                            <a:srgbClr val="000000"/>
                          </a:solidFill>
                          <a:effectLst/>
                        </a:rPr>
                        <a:t>96.81 / +0.01</a:t>
                      </a:r>
                      <a:r>
                        <a:rPr lang="en-US" altLang="zh-TW" sz="23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sz="16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300" b="0" dirty="0">
                          <a:solidFill>
                            <a:srgbClr val="000000"/>
                          </a:solidFill>
                          <a:effectLst/>
                        </a:rPr>
                        <a:t>96.78/-0.02​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2443" marR="82443" marT="41221" marB="41221" anchor="ctr"/>
                </a:tc>
                <a:extLst>
                  <a:ext uri="{0D108BD9-81ED-4DB2-BD59-A6C34878D82A}">
                    <a16:rowId xmlns:a16="http://schemas.microsoft.com/office/drawing/2014/main" val="1513232778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A836295D-9BD5-E533-E299-49741A3CF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  <p:sp>
        <p:nvSpPr>
          <p:cNvPr id="10" name="object 3" descr="$PPTXTitle">
            <a:extLst>
              <a:ext uri="{FF2B5EF4-FFF2-40B4-BE49-F238E27FC236}">
                <a16:creationId xmlns:a16="http://schemas.microsoft.com/office/drawing/2014/main" id="{3E8BFA97-D350-AA05-3918-DCEF6CC1CDAE}"/>
              </a:ext>
            </a:extLst>
          </p:cNvPr>
          <p:cNvSpPr txBox="1">
            <a:spLocks/>
          </p:cNvSpPr>
          <p:nvPr/>
        </p:nvSpPr>
        <p:spPr>
          <a:xfrm>
            <a:off x="703715" y="290336"/>
            <a:ext cx="15984219" cy="1012243"/>
          </a:xfrm>
          <a:prstGeom prst="rect">
            <a:avLst/>
          </a:prstGeom>
        </p:spPr>
        <p:txBody>
          <a:bodyPr vert="horz" wrap="square" lIns="0" tIns="255693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30"/>
              </a:spcBef>
            </a:pPr>
            <a:r>
              <a:rPr lang="en-US" sz="4900" spc="-45" dirty="0">
                <a:solidFill>
                  <a:srgbClr val="0A345B"/>
                </a:solidFill>
                <a:latin typeface="Cambria"/>
              </a:rPr>
              <a:t>Midterm Result: IR-101+AdaFace</a:t>
            </a:r>
          </a:p>
        </p:txBody>
      </p:sp>
    </p:spTree>
    <p:extLst>
      <p:ext uri="{BB962C8B-B14F-4D97-AF65-F5344CB8AC3E}">
        <p14:creationId xmlns:p14="http://schemas.microsoft.com/office/powerpoint/2010/main" val="90066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000" y="5956300"/>
            <a:ext cx="2425700" cy="2247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6500" y="5956300"/>
            <a:ext cx="2413000" cy="2247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48400" y="3594100"/>
            <a:ext cx="2400300" cy="2235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26500" y="3594100"/>
            <a:ext cx="2425700" cy="22479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31056" y="851605"/>
            <a:ext cx="15780385" cy="70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50">
                <a:solidFill>
                  <a:srgbClr val="082A46"/>
                </a:solidFill>
                <a:latin typeface="Times New Roman"/>
                <a:cs typeface="Times New Roman"/>
              </a:rPr>
              <a:t>Our</a:t>
            </a:r>
            <a:r>
              <a:rPr sz="4450" spc="-114">
                <a:solidFill>
                  <a:srgbClr val="082A46"/>
                </a:solidFill>
                <a:latin typeface="Times New Roman"/>
                <a:cs typeface="Times New Roman"/>
              </a:rPr>
              <a:t> </a:t>
            </a:r>
            <a:r>
              <a:rPr sz="4450" spc="-40">
                <a:solidFill>
                  <a:srgbClr val="0C263F"/>
                </a:solidFill>
                <a:latin typeface="Times New Roman"/>
                <a:cs typeface="Times New Roman"/>
              </a:rPr>
              <a:t>Philosophy:</a:t>
            </a:r>
            <a:r>
              <a:rPr sz="4450" spc="-35">
                <a:solidFill>
                  <a:srgbClr val="0C263F"/>
                </a:solidFill>
                <a:latin typeface="Times New Roman"/>
                <a:cs typeface="Times New Roman"/>
              </a:rPr>
              <a:t> </a:t>
            </a:r>
            <a:r>
              <a:rPr sz="4450" spc="-550">
                <a:solidFill>
                  <a:srgbClr val="0C2A46"/>
                </a:solidFill>
                <a:latin typeface="Times New Roman"/>
                <a:cs typeface="Times New Roman"/>
              </a:rPr>
              <a:t>A</a:t>
            </a:r>
            <a:r>
              <a:rPr sz="4450" spc="-50">
                <a:solidFill>
                  <a:srgbClr val="0C2A46"/>
                </a:solidFill>
                <a:latin typeface="Times New Roman"/>
                <a:cs typeface="Times New Roman"/>
              </a:rPr>
              <a:t> </a:t>
            </a:r>
            <a:r>
              <a:rPr sz="4450" spc="-60">
                <a:solidFill>
                  <a:srgbClr val="08263D"/>
                </a:solidFill>
                <a:latin typeface="Times New Roman"/>
                <a:cs typeface="Times New Roman"/>
              </a:rPr>
              <a:t>More</a:t>
            </a:r>
            <a:r>
              <a:rPr sz="4450" spc="-130">
                <a:solidFill>
                  <a:srgbClr val="08263D"/>
                </a:solidFill>
                <a:latin typeface="Times New Roman"/>
                <a:cs typeface="Times New Roman"/>
              </a:rPr>
              <a:t> </a:t>
            </a:r>
            <a:r>
              <a:rPr sz="4450">
                <a:solidFill>
                  <a:srgbClr val="08263F"/>
                </a:solidFill>
                <a:latin typeface="Times New Roman"/>
                <a:cs typeface="Times New Roman"/>
              </a:rPr>
              <a:t>Sophisticated</a:t>
            </a:r>
            <a:r>
              <a:rPr sz="4450" spc="145">
                <a:solidFill>
                  <a:srgbClr val="08263F"/>
                </a:solidFill>
                <a:latin typeface="Times New Roman"/>
                <a:cs typeface="Times New Roman"/>
              </a:rPr>
              <a:t> </a:t>
            </a:r>
            <a:r>
              <a:rPr sz="4450">
                <a:solidFill>
                  <a:srgbClr val="0A233B"/>
                </a:solidFill>
                <a:latin typeface="Times New Roman"/>
                <a:cs typeface="Times New Roman"/>
              </a:rPr>
              <a:t>Student-Teacher</a:t>
            </a:r>
            <a:r>
              <a:rPr sz="4450" spc="-75">
                <a:solidFill>
                  <a:srgbClr val="0A233B"/>
                </a:solidFill>
                <a:latin typeface="Times New Roman"/>
                <a:cs typeface="Times New Roman"/>
              </a:rPr>
              <a:t> </a:t>
            </a:r>
            <a:r>
              <a:rPr sz="4450" spc="-140">
                <a:solidFill>
                  <a:srgbClr val="0A2841"/>
                </a:solidFill>
                <a:latin typeface="Times New Roman"/>
                <a:cs typeface="Times New Roman"/>
              </a:rPr>
              <a:t>Exam</a:t>
            </a:r>
            <a:r>
              <a:rPr sz="4450" spc="-114">
                <a:solidFill>
                  <a:srgbClr val="0A2841"/>
                </a:solidFill>
                <a:latin typeface="Times New Roman"/>
                <a:cs typeface="Times New Roman"/>
              </a:rPr>
              <a:t> </a:t>
            </a:r>
            <a:r>
              <a:rPr sz="4450" spc="-10">
                <a:solidFill>
                  <a:srgbClr val="082134"/>
                </a:solidFill>
                <a:latin typeface="Times New Roman"/>
                <a:cs typeface="Times New Roman"/>
              </a:rPr>
              <a:t>System</a:t>
            </a:r>
            <a:endParaRPr sz="4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00643" y="1700036"/>
            <a:ext cx="12006580" cy="1625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3250" spc="-484">
                <a:solidFill>
                  <a:srgbClr val="131313"/>
                </a:solidFill>
                <a:latin typeface="Cambria"/>
                <a:cs typeface="Cambria"/>
              </a:rPr>
              <a:t>We</a:t>
            </a:r>
            <a:r>
              <a:rPr sz="3250" spc="-5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250" spc="-285">
                <a:solidFill>
                  <a:srgbClr val="0C0C0C"/>
                </a:solidFill>
                <a:latin typeface="Cambria"/>
                <a:cs typeface="Cambria"/>
              </a:rPr>
              <a:t>frame</a:t>
            </a:r>
            <a:r>
              <a:rPr sz="3250" spc="114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3250" spc="-380">
                <a:solidFill>
                  <a:srgbClr val="131313"/>
                </a:solidFill>
                <a:latin typeface="Cambria"/>
                <a:cs typeface="Cambria"/>
              </a:rPr>
              <a:t>our</a:t>
            </a:r>
            <a:r>
              <a:rPr sz="3250" spc="19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250" spc="-310">
                <a:solidFill>
                  <a:srgbClr val="070707"/>
                </a:solidFill>
                <a:latin typeface="Cambria"/>
                <a:cs typeface="Cambria"/>
              </a:rPr>
              <a:t>knowledge</a:t>
            </a:r>
            <a:r>
              <a:rPr sz="3250" spc="300">
                <a:solidFill>
                  <a:srgbClr val="070707"/>
                </a:solidFill>
                <a:latin typeface="Cambria"/>
                <a:cs typeface="Cambria"/>
              </a:rPr>
              <a:t> </a:t>
            </a:r>
            <a:r>
              <a:rPr sz="3250" spc="-295">
                <a:solidFill>
                  <a:srgbClr val="0E0E0E"/>
                </a:solidFill>
                <a:latin typeface="Cambria"/>
                <a:cs typeface="Cambria"/>
              </a:rPr>
              <a:t>distillation</a:t>
            </a:r>
            <a:r>
              <a:rPr sz="3250" spc="53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3250" spc="-220">
                <a:solidFill>
                  <a:srgbClr val="0F0F0F"/>
                </a:solidFill>
                <a:latin typeface="Cambria"/>
                <a:cs typeface="Cambria"/>
              </a:rPr>
              <a:t>process</a:t>
            </a:r>
            <a:r>
              <a:rPr sz="3250" spc="160">
                <a:solidFill>
                  <a:srgbClr val="0F0F0F"/>
                </a:solidFill>
                <a:latin typeface="Cambria"/>
                <a:cs typeface="Cambria"/>
              </a:rPr>
              <a:t> </a:t>
            </a:r>
            <a:r>
              <a:rPr sz="3250" spc="-150">
                <a:solidFill>
                  <a:srgbClr val="0C0C0C"/>
                </a:solidFill>
                <a:latin typeface="Cambria"/>
                <a:cs typeface="Cambria"/>
              </a:rPr>
              <a:t>as</a:t>
            </a:r>
            <a:r>
              <a:rPr sz="3250" spc="-15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3250" spc="-345">
                <a:solidFill>
                  <a:srgbClr val="131313"/>
                </a:solidFill>
                <a:latin typeface="Cambria"/>
                <a:cs typeface="Cambria"/>
              </a:rPr>
              <a:t>an</a:t>
            </a:r>
            <a:r>
              <a:rPr sz="3250" spc="155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250" spc="-260">
                <a:solidFill>
                  <a:srgbClr val="0E0E0E"/>
                </a:solidFill>
                <a:latin typeface="Cambria"/>
                <a:cs typeface="Cambria"/>
              </a:rPr>
              <a:t>adaptive</a:t>
            </a:r>
            <a:r>
              <a:rPr sz="3250" spc="15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3250" spc="-260">
                <a:solidFill>
                  <a:srgbClr val="080808"/>
                </a:solidFill>
                <a:latin typeface="Cambria"/>
                <a:cs typeface="Cambria"/>
              </a:rPr>
              <a:t>educational</a:t>
            </a:r>
            <a:r>
              <a:rPr sz="3250" spc="30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3250" spc="-130">
                <a:solidFill>
                  <a:srgbClr val="080808"/>
                </a:solidFill>
                <a:latin typeface="Cambria"/>
                <a:cs typeface="Cambria"/>
              </a:rPr>
              <a:t>system.</a:t>
            </a:r>
            <a:endParaRPr sz="3250">
              <a:latin typeface="Cambria"/>
              <a:cs typeface="Cambria"/>
            </a:endParaRPr>
          </a:p>
          <a:p>
            <a:pPr marL="15875" algn="ctr">
              <a:lnSpc>
                <a:spcPct val="100000"/>
              </a:lnSpc>
              <a:spcBef>
                <a:spcPts val="3700"/>
              </a:spcBef>
            </a:pPr>
            <a:r>
              <a:rPr sz="4150">
                <a:solidFill>
                  <a:srgbClr val="0C213D"/>
                </a:solidFill>
                <a:latin typeface="Cambria"/>
                <a:cs typeface="Cambria"/>
              </a:rPr>
              <a:t>The</a:t>
            </a:r>
            <a:r>
              <a:rPr sz="4150" spc="-170">
                <a:solidFill>
                  <a:srgbClr val="0C213D"/>
                </a:solidFill>
                <a:latin typeface="Cambria"/>
                <a:cs typeface="Cambria"/>
              </a:rPr>
              <a:t> </a:t>
            </a:r>
            <a:r>
              <a:rPr sz="4150" spc="-80">
                <a:solidFill>
                  <a:srgbClr val="0C2641"/>
                </a:solidFill>
                <a:latin typeface="Cambria"/>
                <a:cs typeface="Cambria"/>
              </a:rPr>
              <a:t>Key</a:t>
            </a:r>
            <a:r>
              <a:rPr sz="4150" spc="-95">
                <a:solidFill>
                  <a:srgbClr val="0C2641"/>
                </a:solidFill>
                <a:latin typeface="Cambria"/>
                <a:cs typeface="Cambria"/>
              </a:rPr>
              <a:t> </a:t>
            </a:r>
            <a:r>
              <a:rPr sz="4150" spc="-30">
                <a:solidFill>
                  <a:srgbClr val="071F36"/>
                </a:solidFill>
                <a:latin typeface="Cambria"/>
                <a:cs typeface="Cambria"/>
              </a:rPr>
              <a:t>Players</a:t>
            </a:r>
            <a:endParaRPr sz="41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1794" y="3879943"/>
            <a:ext cx="5083810" cy="1849224"/>
          </a:xfrm>
          <a:prstGeom prst="rect">
            <a:avLst/>
          </a:prstGeom>
        </p:spPr>
        <p:txBody>
          <a:bodyPr vert="horz" wrap="square" lIns="0" tIns="203200" rIns="0" bIns="0" rtlCol="0" anchor="t">
            <a:spAutoFit/>
          </a:bodyPr>
          <a:lstStyle/>
          <a:p>
            <a:pPr marL="2317750">
              <a:lnSpc>
                <a:spcPct val="100000"/>
              </a:lnSpc>
              <a:spcBef>
                <a:spcPts val="1600"/>
              </a:spcBef>
            </a:pPr>
            <a:r>
              <a:rPr sz="3100">
                <a:solidFill>
                  <a:srgbClr val="0C1C2F"/>
                </a:solidFill>
                <a:latin typeface="Cambria"/>
                <a:cs typeface="Cambria"/>
              </a:rPr>
              <a:t>The</a:t>
            </a:r>
            <a:r>
              <a:rPr sz="3100" spc="-135">
                <a:solidFill>
                  <a:srgbClr val="0C1C2F"/>
                </a:solidFill>
                <a:latin typeface="Cambria"/>
                <a:cs typeface="Cambria"/>
              </a:rPr>
              <a:t> </a:t>
            </a:r>
            <a:r>
              <a:rPr sz="3100" spc="-45">
                <a:solidFill>
                  <a:srgbClr val="1C1C1C"/>
                </a:solidFill>
                <a:latin typeface="Cambria"/>
                <a:cs typeface="Cambria"/>
              </a:rPr>
              <a:t>Student</a:t>
            </a:r>
            <a:r>
              <a:rPr sz="3100" spc="-15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3100" spc="-80">
                <a:solidFill>
                  <a:srgbClr val="181818"/>
                </a:solidFill>
                <a:latin typeface="Cambria"/>
                <a:cs typeface="Cambria"/>
              </a:rPr>
              <a:t>(</a:t>
            </a:r>
            <a:r>
              <a:rPr lang="af-ZA" sz="3100" spc="-80" err="1">
                <a:solidFill>
                  <a:srgbClr val="181818"/>
                </a:solidFill>
                <a:latin typeface="Cambria"/>
                <a:cs typeface="Cambria"/>
              </a:rPr>
              <a:t>f</a:t>
            </a:r>
            <a:r>
              <a:rPr lang="af-ZA" sz="3100" spc="-80" baseline="-25000" err="1">
                <a:solidFill>
                  <a:srgbClr val="181818"/>
                </a:solidFill>
                <a:latin typeface="Cambria"/>
                <a:cs typeface="Cambria"/>
              </a:rPr>
              <a:t>s</a:t>
            </a:r>
            <a:r>
              <a:rPr sz="3100" spc="-80">
                <a:solidFill>
                  <a:srgbClr val="181818"/>
                </a:solidFill>
                <a:latin typeface="Cambria"/>
                <a:cs typeface="Cambria"/>
              </a:rPr>
              <a:t>)</a:t>
            </a:r>
            <a:endParaRPr sz="3100">
              <a:latin typeface="Cambria"/>
              <a:cs typeface="Cambria"/>
            </a:endParaRPr>
          </a:p>
          <a:p>
            <a:pPr marL="815340" marR="5080" indent="635000" algn="r">
              <a:lnSpc>
                <a:spcPts val="2620"/>
              </a:lnSpc>
              <a:spcBef>
                <a:spcPts val="1340"/>
              </a:spcBef>
            </a:pPr>
            <a:r>
              <a:rPr lang="en-US" sz="2200">
                <a:solidFill>
                  <a:srgbClr val="363636"/>
                </a:solidFill>
                <a:latin typeface="Cambria"/>
              </a:rPr>
              <a:t>The lightweight </a:t>
            </a:r>
            <a:r>
              <a:rPr lang="en-US" sz="2200" err="1">
                <a:solidFill>
                  <a:srgbClr val="363636"/>
                </a:solidFill>
                <a:latin typeface="Cambria"/>
              </a:rPr>
              <a:t>MobileFaceNet</a:t>
            </a:r>
            <a:r>
              <a:rPr lang="en-US" sz="2200">
                <a:solidFill>
                  <a:srgbClr val="363636"/>
                </a:solidFill>
                <a:latin typeface="Cambria"/>
              </a:rPr>
              <a:t> model, providing its answer (</a:t>
            </a:r>
            <a:r>
              <a:rPr lang="en-US" sz="2200" err="1">
                <a:solidFill>
                  <a:srgbClr val="363636"/>
                </a:solidFill>
                <a:latin typeface="Cambria"/>
              </a:rPr>
              <a:t>erribedding</a:t>
            </a:r>
            <a:r>
              <a:rPr lang="en-US" sz="2200">
                <a:solidFill>
                  <a:srgbClr val="363636"/>
                </a:solidFill>
                <a:latin typeface="Cambria"/>
              </a:rPr>
              <a:t>) for a face.</a:t>
            </a:r>
            <a:endParaRPr lang="en-US" sz="2200">
              <a:solidFill>
                <a:srgbClr val="363636"/>
              </a:solidFill>
              <a:latin typeface="Cambria"/>
              <a:ea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4810" y="6145209"/>
            <a:ext cx="4441190" cy="1557655"/>
          </a:xfrm>
          <a:prstGeom prst="rect">
            <a:avLst/>
          </a:prstGeom>
        </p:spPr>
        <p:txBody>
          <a:bodyPr vert="horz" wrap="square" lIns="0" tIns="24320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sz="3050" spc="75">
                <a:solidFill>
                  <a:srgbClr val="0E2336"/>
                </a:solidFill>
                <a:latin typeface="Times New Roman"/>
                <a:cs typeface="Times New Roman"/>
              </a:rPr>
              <a:t>The</a:t>
            </a:r>
            <a:r>
              <a:rPr sz="3050" spc="-110">
                <a:solidFill>
                  <a:srgbClr val="0E2336"/>
                </a:solidFill>
                <a:latin typeface="Times New Roman"/>
                <a:cs typeface="Times New Roman"/>
              </a:rPr>
              <a:t> </a:t>
            </a:r>
            <a:r>
              <a:rPr sz="3050" spc="65">
                <a:solidFill>
                  <a:srgbClr val="181818"/>
                </a:solidFill>
                <a:latin typeface="Times New Roman"/>
                <a:cs typeface="Times New Roman"/>
              </a:rPr>
              <a:t>Standard</a:t>
            </a:r>
            <a:r>
              <a:rPr sz="3050" spc="25">
                <a:solidFill>
                  <a:srgbClr val="181818"/>
                </a:solidFill>
                <a:latin typeface="Times New Roman"/>
                <a:cs typeface="Times New Roman"/>
              </a:rPr>
              <a:t> </a:t>
            </a:r>
            <a:r>
              <a:rPr sz="3050">
                <a:solidFill>
                  <a:srgbClr val="151515"/>
                </a:solidFill>
                <a:latin typeface="Times New Roman"/>
                <a:cs typeface="Times New Roman"/>
              </a:rPr>
              <a:t>Answer</a:t>
            </a:r>
            <a:r>
              <a:rPr sz="3050" spc="140">
                <a:solidFill>
                  <a:srgbClr val="151515"/>
                </a:solidFill>
                <a:latin typeface="Times New Roman"/>
                <a:cs typeface="Times New Roman"/>
              </a:rPr>
              <a:t> </a:t>
            </a:r>
            <a:r>
              <a:rPr sz="3050">
                <a:solidFill>
                  <a:srgbClr val="1A1A1A"/>
                </a:solidFill>
                <a:latin typeface="Times New Roman"/>
                <a:cs typeface="Times New Roman"/>
              </a:rPr>
              <a:t>(</a:t>
            </a:r>
            <a:r>
              <a:rPr lang="af-ZA" sz="3050">
                <a:solidFill>
                  <a:srgbClr val="1A1A1A"/>
                </a:solidFill>
                <a:latin typeface="Times New Roman"/>
                <a:cs typeface="Times New Roman"/>
              </a:rPr>
              <a:t>w</a:t>
            </a:r>
            <a:r>
              <a:rPr lang="af-ZA" sz="3050" spc="-60" baseline="-25000">
                <a:solidFill>
                  <a:srgbClr val="111111"/>
                </a:solidFill>
                <a:latin typeface="Times New Roman"/>
                <a:cs typeface="Times New Roman"/>
              </a:rPr>
              <a:t>y</a:t>
            </a:r>
            <a:r>
              <a:rPr sz="3050" spc="-60">
                <a:solidFill>
                  <a:srgbClr val="111111"/>
                </a:solidFill>
                <a:latin typeface="Times New Roman"/>
                <a:cs typeface="Times New Roman"/>
              </a:rPr>
              <a:t>)</a:t>
            </a:r>
            <a:endParaRPr sz="3050">
              <a:latin typeface="Times New Roman"/>
              <a:cs typeface="Times New Roman"/>
            </a:endParaRPr>
          </a:p>
          <a:p>
            <a:pPr marL="815340">
              <a:lnSpc>
                <a:spcPts val="2620"/>
              </a:lnSpc>
              <a:spcBef>
                <a:spcPts val="1340"/>
              </a:spcBef>
            </a:pPr>
            <a:r>
              <a:rPr sz="2200">
                <a:solidFill>
                  <a:srgbClr val="363636"/>
                </a:solidFill>
                <a:latin typeface="Cambria"/>
                <a:cs typeface="Cambria"/>
              </a:rPr>
              <a:t>The</a:t>
            </a:r>
            <a:r>
              <a:rPr sz="2200" spc="5">
                <a:solidFill>
                  <a:srgbClr val="363636"/>
                </a:solidFill>
                <a:latin typeface="Cambria"/>
                <a:cs typeface="Cambria"/>
              </a:rPr>
              <a:t> </a:t>
            </a:r>
            <a:r>
              <a:rPr sz="2200">
                <a:solidFill>
                  <a:srgbClr val="282828"/>
                </a:solidFill>
                <a:latin typeface="Cambria"/>
                <a:cs typeface="Cambria"/>
              </a:rPr>
              <a:t>class</a:t>
            </a:r>
            <a:r>
              <a:rPr sz="2200" spc="-55">
                <a:solidFill>
                  <a:srgbClr val="282828"/>
                </a:solidFill>
                <a:latin typeface="Cambria"/>
                <a:cs typeface="Cambria"/>
              </a:rPr>
              <a:t> </a:t>
            </a:r>
            <a:r>
              <a:rPr sz="2200" spc="-40">
                <a:solidFill>
                  <a:srgbClr val="424242"/>
                </a:solidFill>
                <a:latin typeface="Cambria"/>
                <a:cs typeface="Cambria"/>
              </a:rPr>
              <a:t>center</a:t>
            </a:r>
            <a:r>
              <a:rPr sz="2200" spc="4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sz="2200" spc="-65">
                <a:solidFill>
                  <a:srgbClr val="565656"/>
                </a:solidFill>
                <a:latin typeface="Cambria"/>
                <a:cs typeface="Cambria"/>
              </a:rPr>
              <a:t>for</a:t>
            </a:r>
            <a:r>
              <a:rPr sz="2200" spc="-55">
                <a:solidFill>
                  <a:srgbClr val="565656"/>
                </a:solidFill>
                <a:latin typeface="Cambria"/>
                <a:cs typeface="Cambria"/>
              </a:rPr>
              <a:t> </a:t>
            </a:r>
            <a:r>
              <a:rPr sz="2200">
                <a:solidFill>
                  <a:srgbClr val="424242"/>
                </a:solidFill>
                <a:latin typeface="Cambria"/>
                <a:cs typeface="Cambria"/>
              </a:rPr>
              <a:t>an</a:t>
            </a:r>
            <a:r>
              <a:rPr sz="2200" spc="30">
                <a:solidFill>
                  <a:srgbClr val="424242"/>
                </a:solidFill>
                <a:latin typeface="Cambria"/>
                <a:cs typeface="Cambria"/>
              </a:rPr>
              <a:t> </a:t>
            </a:r>
            <a:r>
              <a:rPr sz="2200" spc="-60">
                <a:solidFill>
                  <a:srgbClr val="2A2A2A"/>
                </a:solidFill>
                <a:latin typeface="Cambria"/>
                <a:cs typeface="Cambria"/>
              </a:rPr>
              <a:t>identity.</a:t>
            </a:r>
            <a:endParaRPr sz="2200">
              <a:latin typeface="Cambria"/>
              <a:cs typeface="Cambria"/>
            </a:endParaRPr>
          </a:p>
          <a:p>
            <a:pPr marL="654685">
              <a:lnSpc>
                <a:spcPts val="2620"/>
              </a:lnSpc>
            </a:pPr>
            <a:r>
              <a:rPr sz="2200" i="1">
                <a:solidFill>
                  <a:srgbClr val="8E4F2D"/>
                </a:solidFill>
                <a:latin typeface="Cambria"/>
                <a:cs typeface="Cambria"/>
              </a:rPr>
              <a:t>Crucially,</a:t>
            </a:r>
            <a:r>
              <a:rPr sz="2200" i="1" spc="165">
                <a:solidFill>
                  <a:srgbClr val="8E4F2D"/>
                </a:solidFill>
                <a:latin typeface="Cambria"/>
                <a:cs typeface="Cambria"/>
              </a:rPr>
              <a:t> </a:t>
            </a:r>
            <a:r>
              <a:rPr sz="2200" i="1">
                <a:solidFill>
                  <a:srgbClr val="8C502F"/>
                </a:solidFill>
                <a:latin typeface="Cambria"/>
                <a:cs typeface="Cambria"/>
              </a:rPr>
              <a:t>this</a:t>
            </a:r>
            <a:r>
              <a:rPr sz="2200" i="1" spc="60">
                <a:solidFill>
                  <a:srgbClr val="8C502F"/>
                </a:solidFill>
                <a:latin typeface="Cambria"/>
                <a:cs typeface="Cambria"/>
              </a:rPr>
              <a:t> </a:t>
            </a:r>
            <a:r>
              <a:rPr sz="2200" i="1" spc="55">
                <a:solidFill>
                  <a:srgbClr val="80492B"/>
                </a:solidFill>
                <a:latin typeface="Cambria"/>
                <a:cs typeface="Cambria"/>
              </a:rPr>
              <a:t>is</a:t>
            </a:r>
            <a:r>
              <a:rPr sz="2200" i="1" spc="15">
                <a:solidFill>
                  <a:srgbClr val="80492B"/>
                </a:solidFill>
                <a:latin typeface="Cambria"/>
                <a:cs typeface="Cambria"/>
              </a:rPr>
              <a:t> </a:t>
            </a:r>
            <a:r>
              <a:rPr sz="2200" i="1">
                <a:solidFill>
                  <a:srgbClr val="8C502F"/>
                </a:solidFill>
                <a:latin typeface="Cambria"/>
                <a:cs typeface="Cambria"/>
              </a:rPr>
              <a:t>no</a:t>
            </a:r>
            <a:r>
              <a:rPr sz="2200" i="1" spc="-45">
                <a:solidFill>
                  <a:srgbClr val="8C502F"/>
                </a:solidFill>
                <a:latin typeface="Cambria"/>
                <a:cs typeface="Cambria"/>
              </a:rPr>
              <a:t> </a:t>
            </a:r>
            <a:r>
              <a:rPr sz="2200" i="1">
                <a:solidFill>
                  <a:srgbClr val="874B2A"/>
                </a:solidFill>
                <a:latin typeface="Cambria"/>
                <a:cs typeface="Cambria"/>
              </a:rPr>
              <a:t>longer</a:t>
            </a:r>
            <a:r>
              <a:rPr sz="2200" i="1" spc="395">
                <a:solidFill>
                  <a:srgbClr val="874B2A"/>
                </a:solidFill>
                <a:latin typeface="Cambria"/>
                <a:cs typeface="Cambria"/>
              </a:rPr>
              <a:t> </a:t>
            </a:r>
            <a:r>
              <a:rPr sz="2200" i="1" spc="-10">
                <a:solidFill>
                  <a:srgbClr val="834F2F"/>
                </a:solidFill>
                <a:latin typeface="Cambria"/>
                <a:cs typeface="Cambria"/>
              </a:rPr>
              <a:t>fixed.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366009" y="3871194"/>
            <a:ext cx="5863044" cy="1653658"/>
          </a:xfrm>
          <a:prstGeom prst="rect">
            <a:avLst/>
          </a:prstGeom>
        </p:spPr>
        <p:txBody>
          <a:bodyPr vert="horz" wrap="square" lIns="0" tIns="238125" rIns="0" bIns="0" rtlCol="0" anchor="t">
            <a:spAutoFit/>
          </a:bodyPr>
          <a:lstStyle/>
          <a:p>
            <a:pPr marL="12700">
              <a:spcBef>
                <a:spcPts val="1875"/>
              </a:spcBef>
            </a:pPr>
            <a:r>
              <a:rPr sz="3200" spc="-55">
                <a:solidFill>
                  <a:srgbClr val="1A1A1A"/>
                </a:solidFill>
                <a:latin typeface="Cambria"/>
                <a:cs typeface="Cambria"/>
              </a:rPr>
              <a:t>The</a:t>
            </a:r>
            <a:r>
              <a:rPr sz="3200" spc="-65">
                <a:solidFill>
                  <a:srgbClr val="1A1A1A"/>
                </a:solidFill>
                <a:latin typeface="Cambria"/>
                <a:cs typeface="Cambria"/>
              </a:rPr>
              <a:t> </a:t>
            </a:r>
            <a:r>
              <a:rPr sz="3200" spc="-170">
                <a:solidFill>
                  <a:srgbClr val="1C1C1C"/>
                </a:solidFill>
                <a:latin typeface="Cambria"/>
                <a:cs typeface="Cambria"/>
              </a:rPr>
              <a:t>Teacher</a:t>
            </a:r>
            <a:r>
              <a:rPr sz="3200" spc="-40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sz="3200" spc="-20">
                <a:solidFill>
                  <a:srgbClr val="161616"/>
                </a:solidFill>
                <a:latin typeface="Cambria"/>
                <a:cs typeface="Cambria"/>
              </a:rPr>
              <a:t>(</a:t>
            </a:r>
            <a:r>
              <a:rPr lang="af-ZA" sz="3200" spc="-20" err="1">
                <a:solidFill>
                  <a:srgbClr val="161616"/>
                </a:solidFill>
                <a:latin typeface="Cambria"/>
                <a:cs typeface="Cambria"/>
              </a:rPr>
              <a:t>f</a:t>
            </a:r>
            <a:r>
              <a:rPr lang="af-ZA" sz="3200" spc="-20" baseline="-25000" err="1">
                <a:solidFill>
                  <a:srgbClr val="161616"/>
                </a:solidFill>
                <a:latin typeface="Cambria"/>
                <a:cs typeface="Cambria"/>
              </a:rPr>
              <a:t>t</a:t>
            </a:r>
            <a:r>
              <a:rPr sz="3200" spc="-20">
                <a:solidFill>
                  <a:srgbClr val="161616"/>
                </a:solidFill>
                <a:latin typeface="Cambria"/>
                <a:cs typeface="Cambria"/>
              </a:rPr>
              <a:t>)</a:t>
            </a:r>
            <a:endParaRPr lang="en-US" altLang="zh-TW" sz="2200">
              <a:solidFill>
                <a:srgbClr val="363636"/>
              </a:solidFill>
              <a:latin typeface="Cambria"/>
            </a:endParaRPr>
          </a:p>
          <a:p>
            <a:pPr marL="12700">
              <a:spcBef>
                <a:spcPts val="1875"/>
              </a:spcBef>
            </a:pPr>
            <a:r>
              <a:rPr lang="en-US" sz="2200">
                <a:solidFill>
                  <a:srgbClr val="363636"/>
                </a:solidFill>
                <a:latin typeface="Cambria"/>
              </a:rPr>
              <a:t>The powerful IR—101/IR-50 model, </a:t>
            </a:r>
            <a:r>
              <a:rPr lang="en-US" sz="2200" err="1">
                <a:solidFill>
                  <a:srgbClr val="363636"/>
                </a:solidFill>
                <a:latin typeface="Cambria"/>
              </a:rPr>
              <a:t>providing</a:t>
            </a:r>
            <a:r>
              <a:rPr lang="en-US" altLang="zh-TW" sz="2200">
                <a:solidFill>
                  <a:srgbClr val="363636"/>
                </a:solidFill>
                <a:latin typeface="Cambria"/>
              </a:rPr>
              <a:t> </a:t>
            </a:r>
            <a:r>
              <a:rPr lang="en-US" sz="2200" err="1">
                <a:solidFill>
                  <a:srgbClr val="363636"/>
                </a:solidFill>
                <a:latin typeface="Cambria"/>
              </a:rPr>
              <a:t>the</a:t>
            </a:r>
            <a:r>
              <a:rPr lang="en-US" sz="2200">
                <a:solidFill>
                  <a:srgbClr val="363636"/>
                </a:solidFill>
                <a:latin typeface="Cambria"/>
              </a:rPr>
              <a:t> expert "demonstration</a:t>
            </a:r>
            <a:r>
              <a:rPr lang="en-US" altLang="zh-TW" sz="2200">
                <a:solidFill>
                  <a:srgbClr val="363636"/>
                </a:solidFill>
                <a:latin typeface="Cambria"/>
              </a:rPr>
              <a:t> </a:t>
            </a:r>
            <a:r>
              <a:rPr lang="en-US" sz="2200">
                <a:solidFill>
                  <a:srgbClr val="363636"/>
                </a:solidFill>
                <a:latin typeface="Cambria"/>
              </a:rPr>
              <a:t>answer."</a:t>
            </a:r>
            <a:endParaRPr lang="en-US" altLang="zh-TW" sz="2200">
              <a:solidFill>
                <a:srgbClr val="363636"/>
              </a:solidFill>
              <a:latin typeface="Cambria"/>
              <a:ea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66578" y="6152914"/>
            <a:ext cx="5659300" cy="1863725"/>
          </a:xfrm>
          <a:prstGeom prst="rect">
            <a:avLst/>
          </a:prstGeom>
        </p:spPr>
        <p:txBody>
          <a:bodyPr vert="horz" wrap="square" lIns="0" tIns="215900" rIns="0" bIns="0" rtlCol="0" anchor="t">
            <a:spAutoFit/>
          </a:bodyPr>
          <a:lstStyle/>
          <a:p>
            <a:pPr marL="12700">
              <a:spcBef>
                <a:spcPts val="1700"/>
              </a:spcBef>
            </a:pPr>
            <a:r>
              <a:rPr sz="3050">
                <a:solidFill>
                  <a:srgbClr val="181818"/>
                </a:solidFill>
                <a:latin typeface="Cambria"/>
                <a:cs typeface="Cambria"/>
              </a:rPr>
              <a:t>The</a:t>
            </a:r>
            <a:r>
              <a:rPr sz="3050" spc="-7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3050">
                <a:solidFill>
                  <a:srgbClr val="0E1F36"/>
                </a:solidFill>
                <a:latin typeface="Cambria"/>
                <a:cs typeface="Cambria"/>
              </a:rPr>
              <a:t>Exam</a:t>
            </a:r>
            <a:r>
              <a:rPr sz="3050" spc="35">
                <a:solidFill>
                  <a:srgbClr val="0E1F36"/>
                </a:solidFill>
                <a:latin typeface="Cambria"/>
                <a:cs typeface="Cambria"/>
              </a:rPr>
              <a:t> </a:t>
            </a:r>
            <a:r>
              <a:rPr sz="3050" spc="-75">
                <a:solidFill>
                  <a:srgbClr val="081D33"/>
                </a:solidFill>
                <a:latin typeface="Cambria"/>
                <a:cs typeface="Cambria"/>
              </a:rPr>
              <a:t>Paper</a:t>
            </a:r>
            <a:r>
              <a:rPr sz="3050" spc="-95">
                <a:solidFill>
                  <a:srgbClr val="081D33"/>
                </a:solidFill>
                <a:latin typeface="Cambria"/>
                <a:cs typeface="Cambria"/>
              </a:rPr>
              <a:t> </a:t>
            </a:r>
            <a:r>
              <a:rPr lang="en-US" sz="3050" spc="-65">
                <a:solidFill>
                  <a:srgbClr val="1F1F1F"/>
                </a:solidFill>
                <a:latin typeface="Cambria"/>
                <a:cs typeface="Cambria"/>
              </a:rPr>
              <a:t>(Loss</a:t>
            </a:r>
            <a:r>
              <a:rPr lang="en-US" altLang="zh-TW" sz="3050" spc="-45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lang="en-US" sz="3050" spc="-30">
                <a:solidFill>
                  <a:srgbClr val="1A1A1A"/>
                </a:solidFill>
                <a:latin typeface="Cambria"/>
                <a:cs typeface="Cambria"/>
              </a:rPr>
              <a:t>Function)</a:t>
            </a:r>
            <a:endParaRPr lang="en-US" sz="3050">
              <a:latin typeface="Cambria"/>
              <a:cs typeface="Cambria"/>
            </a:endParaRPr>
          </a:p>
          <a:p>
            <a:pPr marL="27305" marR="325755" indent="3175">
              <a:lnSpc>
                <a:spcPct val="94300"/>
              </a:lnSpc>
              <a:spcBef>
                <a:spcPts val="1350"/>
              </a:spcBef>
            </a:pPr>
            <a:r>
              <a:rPr lang="en-US" sz="2200">
                <a:solidFill>
                  <a:srgbClr val="363636"/>
                </a:solidFill>
                <a:latin typeface="Cambria"/>
              </a:rPr>
              <a:t>The set of rules for grading the student, with a difficulty level (margin) that changes dynamically.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27405" y="8832262"/>
            <a:ext cx="16998189" cy="365485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 algn="ctr">
              <a:spcBef>
                <a:spcPts val="90"/>
              </a:spcBef>
            </a:pPr>
            <a:r>
              <a:rPr lang="en-US" sz="2300" b="1">
                <a:solidFill>
                  <a:srgbClr val="051626"/>
                </a:solidFill>
                <a:latin typeface="Arial"/>
                <a:cs typeface="Arial"/>
              </a:rPr>
              <a:t>The </a:t>
            </a:r>
            <a:r>
              <a:rPr lang="en-US" sz="2300" b="1" err="1">
                <a:solidFill>
                  <a:srgbClr val="051626"/>
                </a:solidFill>
                <a:latin typeface="Arial"/>
                <a:cs typeface="Arial"/>
              </a:rPr>
              <a:t>G</a:t>
            </a:r>
            <a:r>
              <a:rPr lang="en-US" sz="2300" b="1" err="1">
                <a:solidFill>
                  <a:srgbClr val="131313"/>
                </a:solidFill>
                <a:latin typeface="Arial"/>
                <a:cs typeface="Arial"/>
              </a:rPr>
              <a:t>oaI</a:t>
            </a:r>
            <a:r>
              <a:rPr lang="en-US" sz="2300" b="1">
                <a:solidFill>
                  <a:srgbClr val="131313"/>
                </a:solidFill>
                <a:latin typeface="Arial"/>
                <a:cs typeface="Arial"/>
              </a:rPr>
              <a:t>: </a:t>
            </a:r>
            <a:r>
              <a:rPr lang="en-US" sz="2300">
                <a:solidFill>
                  <a:srgbClr val="0F0F0F"/>
                </a:solidFill>
                <a:latin typeface="Arial"/>
                <a:cs typeface="Arial"/>
              </a:rPr>
              <a:t>The </a:t>
            </a:r>
            <a:r>
              <a:rPr lang="en-US" sz="2300">
                <a:solidFill>
                  <a:srgbClr val="080808"/>
                </a:solidFill>
                <a:latin typeface="Arial"/>
                <a:cs typeface="Arial"/>
              </a:rPr>
              <a:t>Teacher </a:t>
            </a:r>
            <a:r>
              <a:rPr lang="en-US" sz="2300">
                <a:solidFill>
                  <a:srgbClr val="0C0C0C"/>
                </a:solidFill>
                <a:latin typeface="Arial"/>
                <a:cs typeface="Arial"/>
              </a:rPr>
              <a:t>corrects </a:t>
            </a:r>
            <a:r>
              <a:rPr sz="2300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lang="af-ZA" sz="23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lang="af-ZA" sz="2300">
                <a:solidFill>
                  <a:srgbClr val="0C0C0C"/>
                </a:solidFill>
                <a:latin typeface="Arial"/>
                <a:cs typeface="Arial"/>
              </a:rPr>
              <a:t>’Standard </a:t>
            </a:r>
            <a:r>
              <a:rPr lang="af-ZA" sz="2300">
                <a:latin typeface="Arial"/>
                <a:cs typeface="Arial"/>
              </a:rPr>
              <a:t>Answer,’ </a:t>
            </a:r>
            <a:r>
              <a:rPr lang="af-ZA" sz="2300">
                <a:solidFill>
                  <a:srgbClr val="0F0F0F"/>
                </a:solidFill>
                <a:latin typeface="Arial"/>
                <a:cs typeface="Arial"/>
              </a:rPr>
              <a:t>and </a:t>
            </a:r>
            <a:r>
              <a:rPr sz="2300">
                <a:solidFill>
                  <a:srgbClr val="0F0F0F"/>
                </a:solidFill>
                <a:latin typeface="Arial"/>
                <a:cs typeface="Arial"/>
              </a:rPr>
              <a:t>the</a:t>
            </a:r>
            <a:r>
              <a:rPr lang="af-ZA" sz="230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lang="af-ZA" sz="2300">
                <a:solidFill>
                  <a:srgbClr val="0C0C0C"/>
                </a:solidFill>
                <a:latin typeface="Arial"/>
                <a:cs typeface="Arial"/>
              </a:rPr>
              <a:t>Student strives </a:t>
            </a:r>
            <a:r>
              <a:rPr sz="230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lang="af-ZA" sz="230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lang="af-ZA" sz="2300">
                <a:solidFill>
                  <a:srgbClr val="0F0F0F"/>
                </a:solidFill>
                <a:latin typeface="Arial"/>
                <a:cs typeface="Arial"/>
              </a:rPr>
              <a:t>match </a:t>
            </a:r>
            <a:r>
              <a:rPr sz="2300">
                <a:solidFill>
                  <a:srgbClr val="111111"/>
                </a:solidFill>
                <a:latin typeface="Arial"/>
                <a:cs typeface="Arial"/>
              </a:rPr>
              <a:t>it</a:t>
            </a:r>
            <a:r>
              <a:rPr lang="af-ZA" sz="2300">
                <a:solidFill>
                  <a:srgbClr val="111111"/>
                </a:solidFill>
                <a:latin typeface="Arial"/>
                <a:cs typeface="Arial"/>
              </a:rPr>
              <a:t> on </a:t>
            </a:r>
            <a:r>
              <a:rPr lang="af-ZA" sz="2300">
                <a:solidFill>
                  <a:srgbClr val="0A0A0A"/>
                </a:solidFill>
                <a:latin typeface="Arial"/>
                <a:cs typeface="Arial"/>
              </a:rPr>
              <a:t>an </a:t>
            </a:r>
            <a:r>
              <a:rPr lang="af-ZA" sz="2300">
                <a:solidFill>
                  <a:srgbClr val="131313"/>
                </a:solidFill>
                <a:latin typeface="Arial"/>
                <a:cs typeface="Arial"/>
              </a:rPr>
              <a:t>’Exam</a:t>
            </a:r>
            <a:r>
              <a:rPr sz="23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lang="af-ZA" sz="2300">
                <a:solidFill>
                  <a:srgbClr val="0C0C0C"/>
                </a:solidFill>
                <a:latin typeface="Arial"/>
                <a:cs typeface="Arial"/>
              </a:rPr>
              <a:t>Paper' </a:t>
            </a:r>
            <a:r>
              <a:rPr lang="af-ZA" sz="2300">
                <a:solidFill>
                  <a:srgbClr val="0A0A0A"/>
                </a:solidFill>
                <a:latin typeface="Arial"/>
                <a:cs typeface="Arial"/>
              </a:rPr>
              <a:t>o</a:t>
            </a:r>
            <a:r>
              <a:rPr lang="af-ZA" altLang="zh-TW" sz="2300">
                <a:solidFill>
                  <a:srgbClr val="0A0A0A"/>
                </a:solidFill>
                <a:latin typeface="Arial"/>
                <a:cs typeface="Arial"/>
              </a:rPr>
              <a:t>f</a:t>
            </a:r>
            <a:r>
              <a:rPr lang="af-ZA" sz="2300">
                <a:solidFill>
                  <a:srgbClr val="0A0A0A"/>
                </a:solidFill>
                <a:latin typeface="Arial"/>
                <a:cs typeface="Arial"/>
              </a:rPr>
              <a:t> </a:t>
            </a:r>
            <a:r>
              <a:rPr lang="af-ZA" sz="2300">
                <a:solidFill>
                  <a:srgbClr val="0F0F0F"/>
                </a:solidFill>
                <a:latin typeface="Arial"/>
                <a:cs typeface="Arial"/>
              </a:rPr>
              <a:t>varying </a:t>
            </a:r>
            <a:r>
              <a:rPr lang="af-ZA" sz="2300">
                <a:solidFill>
                  <a:srgbClr val="0A0A0A"/>
                </a:solidFill>
                <a:latin typeface="Arial"/>
                <a:cs typeface="Arial"/>
              </a:rPr>
              <a:t>difficulty.</a:t>
            </a:r>
            <a:endParaRPr lang="af-ZA" altLang="zh-TW" sz="2300">
              <a:latin typeface="Arial"/>
              <a:cs typeface="Arial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A0102937-5164-402B-9434-2441713CB4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873813" y="5273361"/>
            <a:ext cx="15921990" cy="0"/>
          </a:xfrm>
          <a:custGeom>
            <a:avLst/>
            <a:gdLst/>
            <a:ahLst/>
            <a:cxnLst/>
            <a:rect l="l" t="t" r="r" b="b"/>
            <a:pathLst>
              <a:path w="15921990">
                <a:moveTo>
                  <a:pt x="0" y="0"/>
                </a:moveTo>
                <a:lnTo>
                  <a:pt x="15921567" y="0"/>
                </a:lnTo>
              </a:path>
            </a:pathLst>
          </a:custGeom>
          <a:ln w="25400">
            <a:solidFill>
              <a:srgbClr val="6E6E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72871" y="773327"/>
            <a:ext cx="15825469" cy="723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550" spc="-35">
                <a:solidFill>
                  <a:srgbClr val="0A2F4B"/>
                </a:solidFill>
                <a:latin typeface="Arial"/>
                <a:cs typeface="Arial"/>
              </a:rPr>
              <a:t>The</a:t>
            </a:r>
            <a:r>
              <a:rPr sz="4550" spc="-285">
                <a:solidFill>
                  <a:srgbClr val="0A2F4B"/>
                </a:solidFill>
                <a:latin typeface="Arial"/>
                <a:cs typeface="Arial"/>
              </a:rPr>
              <a:t> </a:t>
            </a:r>
            <a:r>
              <a:rPr sz="4550" spc="-90">
                <a:solidFill>
                  <a:srgbClr val="052844"/>
                </a:solidFill>
                <a:latin typeface="Arial"/>
                <a:cs typeface="Arial"/>
              </a:rPr>
              <a:t>Teacher</a:t>
            </a:r>
            <a:r>
              <a:rPr sz="4550" spc="-100">
                <a:solidFill>
                  <a:srgbClr val="052844"/>
                </a:solidFill>
                <a:latin typeface="Arial"/>
                <a:cs typeface="Arial"/>
              </a:rPr>
              <a:t> </a:t>
            </a:r>
            <a:r>
              <a:rPr sz="4550">
                <a:solidFill>
                  <a:srgbClr val="072B49"/>
                </a:solidFill>
                <a:latin typeface="Arial"/>
                <a:cs typeface="Arial"/>
              </a:rPr>
              <a:t>Corrects</a:t>
            </a:r>
            <a:r>
              <a:rPr sz="4550" spc="-204">
                <a:solidFill>
                  <a:srgbClr val="072B49"/>
                </a:solidFill>
                <a:latin typeface="Arial"/>
                <a:cs typeface="Arial"/>
              </a:rPr>
              <a:t> </a:t>
            </a:r>
            <a:r>
              <a:rPr sz="4550">
                <a:solidFill>
                  <a:srgbClr val="082841"/>
                </a:solidFill>
                <a:latin typeface="Arial"/>
                <a:cs typeface="Arial"/>
              </a:rPr>
              <a:t>the</a:t>
            </a:r>
            <a:r>
              <a:rPr sz="4550" spc="-250">
                <a:solidFill>
                  <a:srgbClr val="082841"/>
                </a:solidFill>
                <a:latin typeface="Arial"/>
                <a:cs typeface="Arial"/>
              </a:rPr>
              <a:t> </a:t>
            </a:r>
            <a:r>
              <a:rPr sz="4550" spc="-20">
                <a:solidFill>
                  <a:srgbClr val="053154"/>
                </a:solidFill>
                <a:latin typeface="Arial"/>
                <a:cs typeface="Arial"/>
              </a:rPr>
              <a:t>Answer</a:t>
            </a:r>
            <a:r>
              <a:rPr sz="4550" spc="-55">
                <a:solidFill>
                  <a:srgbClr val="053154"/>
                </a:solidFill>
                <a:latin typeface="Arial"/>
                <a:cs typeface="Arial"/>
              </a:rPr>
              <a:t> </a:t>
            </a:r>
            <a:r>
              <a:rPr sz="4550" spc="-145">
                <a:solidFill>
                  <a:srgbClr val="053159"/>
                </a:solidFill>
                <a:latin typeface="Arial"/>
                <a:cs typeface="Arial"/>
              </a:rPr>
              <a:t>Key:</a:t>
            </a:r>
            <a:r>
              <a:rPr sz="4550" spc="-195">
                <a:solidFill>
                  <a:srgbClr val="053159"/>
                </a:solidFill>
                <a:latin typeface="Arial"/>
                <a:cs typeface="Arial"/>
              </a:rPr>
              <a:t> </a:t>
            </a:r>
            <a:r>
              <a:rPr sz="4550" spc="-45">
                <a:solidFill>
                  <a:srgbClr val="052844"/>
                </a:solidFill>
                <a:latin typeface="Arial"/>
                <a:cs typeface="Arial"/>
              </a:rPr>
              <a:t>Dynamic</a:t>
            </a:r>
            <a:r>
              <a:rPr sz="4550" spc="-114">
                <a:solidFill>
                  <a:srgbClr val="052844"/>
                </a:solidFill>
                <a:latin typeface="Arial"/>
                <a:cs typeface="Arial"/>
              </a:rPr>
              <a:t> </a:t>
            </a:r>
            <a:r>
              <a:rPr sz="4550" spc="-80">
                <a:solidFill>
                  <a:srgbClr val="082B46"/>
                </a:solidFill>
                <a:latin typeface="Arial"/>
                <a:cs typeface="Arial"/>
              </a:rPr>
              <a:t>Class</a:t>
            </a:r>
            <a:r>
              <a:rPr sz="4550" spc="-235">
                <a:solidFill>
                  <a:srgbClr val="082B46"/>
                </a:solidFill>
                <a:latin typeface="Arial"/>
                <a:cs typeface="Arial"/>
              </a:rPr>
              <a:t> </a:t>
            </a:r>
            <a:r>
              <a:rPr sz="4550" spc="-10">
                <a:solidFill>
                  <a:srgbClr val="052442"/>
                </a:solidFill>
                <a:latin typeface="Arial"/>
                <a:cs typeface="Arial"/>
              </a:rPr>
              <a:t>Centers</a:t>
            </a:r>
            <a:endParaRPr sz="4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604" y="1687052"/>
            <a:ext cx="7364095" cy="1769110"/>
          </a:xfrm>
          <a:prstGeom prst="rect">
            <a:avLst/>
          </a:prstGeom>
        </p:spPr>
        <p:txBody>
          <a:bodyPr vert="horz" wrap="square" lIns="0" tIns="182245" rIns="0" bIns="0" rtlCol="0" anchor="t">
            <a:spAutoFit/>
          </a:bodyPr>
          <a:lstStyle/>
          <a:p>
            <a:pPr marL="22225">
              <a:lnSpc>
                <a:spcPct val="100000"/>
              </a:lnSpc>
              <a:spcBef>
                <a:spcPts val="1435"/>
              </a:spcBef>
            </a:pPr>
            <a:r>
              <a:rPr lang="af-ZA" sz="3450" b="1" spc="-105">
                <a:solidFill>
                  <a:srgbClr val="052842"/>
                </a:solidFill>
                <a:latin typeface="Arial"/>
                <a:cs typeface="Arial"/>
              </a:rPr>
              <a:t>The</a:t>
            </a:r>
            <a:r>
              <a:rPr lang="af-ZA" sz="3450" b="1" spc="-140">
                <a:solidFill>
                  <a:srgbClr val="052842"/>
                </a:solidFill>
                <a:latin typeface="Arial"/>
                <a:cs typeface="Arial"/>
              </a:rPr>
              <a:t> </a:t>
            </a:r>
            <a:r>
              <a:rPr lang="af-ZA" sz="3450" b="1" spc="-110">
                <a:solidFill>
                  <a:srgbClr val="0C2A42"/>
                </a:solidFill>
                <a:latin typeface="Arial"/>
                <a:cs typeface="Arial"/>
              </a:rPr>
              <a:t>Old</a:t>
            </a:r>
            <a:r>
              <a:rPr lang="af-ZA" sz="3450" b="1" spc="-130">
                <a:solidFill>
                  <a:srgbClr val="0C2A42"/>
                </a:solidFill>
                <a:latin typeface="Arial"/>
                <a:cs typeface="Arial"/>
              </a:rPr>
              <a:t> </a:t>
            </a:r>
            <a:r>
              <a:rPr lang="af-ZA" sz="3450" b="1" spc="-220">
                <a:solidFill>
                  <a:srgbClr val="0A2D4D"/>
                </a:solidFill>
                <a:latin typeface="Arial"/>
                <a:cs typeface="Arial"/>
              </a:rPr>
              <a:t>Way</a:t>
            </a:r>
            <a:r>
              <a:rPr lang="af-ZA" sz="3450" b="1" spc="5">
                <a:solidFill>
                  <a:srgbClr val="0A2D4D"/>
                </a:solidFill>
                <a:latin typeface="Arial"/>
                <a:cs typeface="Arial"/>
              </a:rPr>
              <a:t> </a:t>
            </a:r>
            <a:r>
              <a:rPr lang="af-ZA" sz="3450" b="1">
                <a:solidFill>
                  <a:srgbClr val="0C2A42"/>
                </a:solidFill>
                <a:latin typeface="Arial"/>
                <a:cs typeface="Arial"/>
              </a:rPr>
              <a:t>(without</a:t>
            </a:r>
            <a:r>
              <a:rPr lang="af-ZA" sz="3450" b="1" spc="170">
                <a:solidFill>
                  <a:srgbClr val="0C2A42"/>
                </a:solidFill>
                <a:latin typeface="Arial"/>
                <a:cs typeface="Arial"/>
              </a:rPr>
              <a:t> </a:t>
            </a:r>
            <a:r>
              <a:rPr lang="af-ZA" sz="3450" b="1" spc="-345">
                <a:solidFill>
                  <a:srgbClr val="0C2D49"/>
                </a:solidFill>
                <a:latin typeface="Arial"/>
                <a:cs typeface="Arial"/>
              </a:rPr>
              <a:t>a</a:t>
            </a:r>
            <a:r>
              <a:rPr lang="af-ZA" sz="3450" b="1">
                <a:solidFill>
                  <a:srgbClr val="0C2D49"/>
                </a:solidFill>
                <a:latin typeface="Arial"/>
                <a:cs typeface="Arial"/>
              </a:rPr>
              <a:t> </a:t>
            </a:r>
            <a:r>
              <a:rPr lang="af-ZA" sz="3450" b="1" spc="-10">
                <a:solidFill>
                  <a:srgbClr val="0A263D"/>
                </a:solidFill>
                <a:latin typeface="Arial"/>
                <a:cs typeface="Arial"/>
              </a:rPr>
              <a:t>Teacher)</a:t>
            </a:r>
            <a:endParaRPr lang="af-ZA" sz="3450" b="1">
              <a:latin typeface="Arial"/>
              <a:cs typeface="Arial"/>
            </a:endParaRPr>
          </a:p>
          <a:p>
            <a:pPr marL="17780" marR="5080" indent="-5715">
              <a:lnSpc>
                <a:spcPts val="3200"/>
              </a:lnSpc>
              <a:spcBef>
                <a:spcPts val="1850"/>
              </a:spcBef>
            </a:pPr>
            <a:r>
              <a:rPr lang="af-ZA" sz="3200">
                <a:latin typeface="Arial"/>
                <a:cs typeface="Arial"/>
              </a:rPr>
              <a:t>Class centers (</a:t>
            </a:r>
            <a:r>
              <a:rPr lang="af-ZA" sz="3200" err="1">
                <a:latin typeface="Arial"/>
                <a:cs typeface="Arial"/>
              </a:rPr>
              <a:t>w</a:t>
            </a:r>
            <a:r>
              <a:rPr lang="af-ZA" sz="3200" baseline="-25000" err="1">
                <a:latin typeface="Arial"/>
                <a:cs typeface="Arial"/>
              </a:rPr>
              <a:t>y</a:t>
            </a:r>
            <a:r>
              <a:rPr lang="af-ZA" sz="3200">
                <a:latin typeface="Arial"/>
                <a:cs typeface="Arial"/>
              </a:rPr>
              <a:t>) are a “consensus” formed by all student samples over</a:t>
            </a:r>
            <a:r>
              <a:rPr sz="3200">
                <a:latin typeface="Arial"/>
                <a:cs typeface="Arial"/>
              </a:rPr>
              <a:t> </a:t>
            </a:r>
            <a:r>
              <a:rPr lang="af-ZA" sz="3200">
                <a:latin typeface="Arial"/>
                <a:cs typeface="Arial"/>
              </a:rPr>
              <a:t>time.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9165" y="1687052"/>
            <a:ext cx="7412355" cy="1769110"/>
          </a:xfrm>
          <a:prstGeom prst="rect">
            <a:avLst/>
          </a:prstGeom>
        </p:spPr>
        <p:txBody>
          <a:bodyPr vert="horz" wrap="square" lIns="0" tIns="18224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435"/>
              </a:spcBef>
            </a:pPr>
            <a:r>
              <a:rPr lang="af-ZA" sz="3450" b="1" spc="-65">
                <a:solidFill>
                  <a:srgbClr val="0C263B"/>
                </a:solidFill>
                <a:latin typeface="Arial"/>
                <a:cs typeface="Arial"/>
              </a:rPr>
              <a:t>The</a:t>
            </a:r>
            <a:r>
              <a:rPr lang="af-ZA" sz="3450" b="1" spc="-135">
                <a:solidFill>
                  <a:srgbClr val="0C263B"/>
                </a:solidFill>
                <a:latin typeface="Arial"/>
                <a:cs typeface="Arial"/>
              </a:rPr>
              <a:t> </a:t>
            </a:r>
            <a:r>
              <a:rPr lang="af-ZA" sz="3450" b="1" spc="-55" err="1">
                <a:solidFill>
                  <a:srgbClr val="01213F"/>
                </a:solidFill>
                <a:latin typeface="Arial"/>
                <a:cs typeface="Arial"/>
              </a:rPr>
              <a:t>AdaDistill</a:t>
            </a:r>
            <a:r>
              <a:rPr lang="af-ZA" sz="3450" b="1" spc="-190">
                <a:solidFill>
                  <a:srgbClr val="01213F"/>
                </a:solidFill>
                <a:latin typeface="Arial"/>
                <a:cs typeface="Arial"/>
              </a:rPr>
              <a:t> </a:t>
            </a:r>
            <a:r>
              <a:rPr lang="af-ZA" sz="3450" b="1" spc="-10">
                <a:solidFill>
                  <a:srgbClr val="0A2138"/>
                </a:solidFill>
                <a:latin typeface="Arial"/>
                <a:cs typeface="Arial"/>
              </a:rPr>
              <a:t>Insight</a:t>
            </a:r>
            <a:endParaRPr lang="af-ZA" sz="3450" b="1">
              <a:latin typeface="Arial"/>
              <a:cs typeface="Arial"/>
            </a:endParaRPr>
          </a:p>
          <a:p>
            <a:pPr marL="12700" marR="5080" indent="3175">
              <a:lnSpc>
                <a:spcPts val="3200"/>
              </a:lnSpc>
              <a:spcBef>
                <a:spcPts val="1850"/>
              </a:spcBef>
            </a:pPr>
            <a:r>
              <a:rPr lang="af-ZA" sz="3200">
                <a:latin typeface="Arial"/>
                <a:cs typeface="Arial"/>
              </a:rPr>
              <a:t>A weak student shouldn't learn from an abstract consensus.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5131" y="3798044"/>
            <a:ext cx="6617970" cy="8845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340"/>
              </a:lnSpc>
              <a:spcBef>
                <a:spcPts val="114"/>
              </a:spcBef>
            </a:pPr>
            <a:r>
              <a:rPr sz="2900" spc="-114">
                <a:latin typeface="Arial"/>
                <a:cs typeface="Arial"/>
              </a:rPr>
              <a:t>This</a:t>
            </a:r>
            <a:r>
              <a:rPr sz="2900" spc="-105">
                <a:latin typeface="Arial"/>
                <a:cs typeface="Arial"/>
              </a:rPr>
              <a:t> </a:t>
            </a:r>
            <a:r>
              <a:rPr sz="2900" spc="-10">
                <a:latin typeface="Arial"/>
                <a:cs typeface="Arial"/>
              </a:rPr>
              <a:t>is</a:t>
            </a:r>
            <a:r>
              <a:rPr sz="2900" spc="-190">
                <a:latin typeface="Arial"/>
                <a:cs typeface="Arial"/>
              </a:rPr>
              <a:t> </a:t>
            </a:r>
            <a:r>
              <a:rPr sz="2900" spc="-80">
                <a:latin typeface="Arial"/>
                <a:cs typeface="Arial"/>
              </a:rPr>
              <a:t>unreliable</a:t>
            </a:r>
            <a:r>
              <a:rPr sz="2900" spc="-120">
                <a:latin typeface="Arial"/>
                <a:cs typeface="Arial"/>
              </a:rPr>
              <a:t> </a:t>
            </a:r>
            <a:r>
              <a:rPr sz="2900">
                <a:latin typeface="Arial"/>
                <a:cs typeface="Arial"/>
              </a:rPr>
              <a:t>in</a:t>
            </a:r>
            <a:r>
              <a:rPr sz="2900" spc="-200">
                <a:latin typeface="Arial"/>
                <a:cs typeface="Arial"/>
              </a:rPr>
              <a:t> </a:t>
            </a:r>
            <a:r>
              <a:rPr sz="2900" spc="-70">
                <a:latin typeface="Arial"/>
                <a:cs typeface="Arial"/>
              </a:rPr>
              <a:t>early</a:t>
            </a:r>
            <a:r>
              <a:rPr sz="2900" spc="-130">
                <a:latin typeface="Arial"/>
                <a:cs typeface="Arial"/>
              </a:rPr>
              <a:t> </a:t>
            </a:r>
            <a:r>
              <a:rPr sz="2900" spc="-30">
                <a:latin typeface="Arial"/>
                <a:cs typeface="Arial"/>
              </a:rPr>
              <a:t>training</a:t>
            </a:r>
            <a:r>
              <a:rPr sz="2900" spc="-90">
                <a:latin typeface="Arial"/>
                <a:cs typeface="Arial"/>
              </a:rPr>
              <a:t> </a:t>
            </a:r>
            <a:r>
              <a:rPr sz="2900" spc="-80">
                <a:latin typeface="Arial"/>
                <a:cs typeface="Arial"/>
              </a:rPr>
              <a:t>when</a:t>
            </a:r>
            <a:r>
              <a:rPr sz="2900" spc="-95">
                <a:latin typeface="Arial"/>
                <a:cs typeface="Arial"/>
              </a:rPr>
              <a:t> </a:t>
            </a:r>
            <a:r>
              <a:rPr sz="2900" spc="-25">
                <a:latin typeface="Arial"/>
                <a:cs typeface="Arial"/>
              </a:rPr>
              <a:t>the</a:t>
            </a:r>
            <a:endParaRPr sz="2900">
              <a:latin typeface="Arial"/>
              <a:cs typeface="Arial"/>
            </a:endParaRPr>
          </a:p>
          <a:p>
            <a:pPr marL="22225">
              <a:lnSpc>
                <a:spcPts val="3400"/>
              </a:lnSpc>
            </a:pPr>
            <a:r>
              <a:rPr sz="2950" spc="-80">
                <a:latin typeface="Arial"/>
                <a:cs typeface="Arial"/>
              </a:rPr>
              <a:t>student</a:t>
            </a:r>
            <a:r>
              <a:rPr sz="2950" spc="-45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is</a:t>
            </a:r>
            <a:r>
              <a:rPr sz="2950" spc="-200">
                <a:latin typeface="Arial"/>
                <a:cs typeface="Arial"/>
              </a:rPr>
              <a:t> </a:t>
            </a:r>
            <a:r>
              <a:rPr sz="2950" spc="-10">
                <a:latin typeface="Arial"/>
                <a:cs typeface="Arial"/>
              </a:rPr>
              <a:t>weak.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94428" y="3798044"/>
            <a:ext cx="7632700" cy="88709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 indent="10160">
              <a:lnSpc>
                <a:spcPts val="3200"/>
              </a:lnSpc>
              <a:spcBef>
                <a:spcPts val="525"/>
              </a:spcBef>
            </a:pPr>
            <a:r>
              <a:rPr sz="2950" spc="-180">
                <a:latin typeface="Arial"/>
                <a:cs typeface="Arial"/>
              </a:rPr>
              <a:t>The</a:t>
            </a:r>
            <a:r>
              <a:rPr sz="2950" spc="-150">
                <a:latin typeface="Arial"/>
                <a:cs typeface="Arial"/>
              </a:rPr>
              <a:t> </a:t>
            </a:r>
            <a:r>
              <a:rPr sz="2950" spc="-75">
                <a:latin typeface="Arial"/>
                <a:cs typeface="Arial"/>
              </a:rPr>
              <a:t>“standard</a:t>
            </a:r>
            <a:r>
              <a:rPr sz="2950" spc="-135">
                <a:latin typeface="Arial"/>
                <a:cs typeface="Arial"/>
              </a:rPr>
              <a:t> </a:t>
            </a:r>
            <a:r>
              <a:rPr sz="2950" spc="-105">
                <a:latin typeface="Arial"/>
                <a:cs typeface="Arial"/>
              </a:rPr>
              <a:t>answer”</a:t>
            </a:r>
            <a:r>
              <a:rPr sz="2950" spc="-100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itself</a:t>
            </a:r>
            <a:r>
              <a:rPr sz="2950" spc="15">
                <a:latin typeface="Arial"/>
                <a:cs typeface="Arial"/>
              </a:rPr>
              <a:t> </a:t>
            </a:r>
            <a:r>
              <a:rPr sz="2950" spc="-114">
                <a:latin typeface="Arial"/>
                <a:cs typeface="Arial"/>
              </a:rPr>
              <a:t>should</a:t>
            </a:r>
            <a:r>
              <a:rPr sz="2950" spc="-65">
                <a:latin typeface="Arial"/>
                <a:cs typeface="Arial"/>
              </a:rPr>
              <a:t> </a:t>
            </a:r>
            <a:r>
              <a:rPr sz="2950" spc="-110">
                <a:latin typeface="Arial"/>
                <a:cs typeface="Arial"/>
              </a:rPr>
              <a:t>be</a:t>
            </a:r>
            <a:r>
              <a:rPr sz="2950" spc="-100">
                <a:latin typeface="Arial"/>
                <a:cs typeface="Arial"/>
              </a:rPr>
              <a:t> </a:t>
            </a:r>
            <a:r>
              <a:rPr sz="2950" spc="-70">
                <a:latin typeface="Arial"/>
                <a:cs typeface="Arial"/>
              </a:rPr>
              <a:t>guided</a:t>
            </a:r>
            <a:r>
              <a:rPr sz="2950" spc="-80">
                <a:latin typeface="Arial"/>
                <a:cs typeface="Arial"/>
              </a:rPr>
              <a:t> </a:t>
            </a:r>
            <a:r>
              <a:rPr sz="2950" spc="-55">
                <a:latin typeface="Arial"/>
                <a:cs typeface="Arial"/>
              </a:rPr>
              <a:t>by </a:t>
            </a:r>
            <a:r>
              <a:rPr sz="2950" spc="-20">
                <a:latin typeface="Arial"/>
                <a:cs typeface="Arial"/>
              </a:rPr>
              <a:t>the</a:t>
            </a:r>
            <a:r>
              <a:rPr sz="2950" spc="-190">
                <a:latin typeface="Arial"/>
                <a:cs typeface="Arial"/>
              </a:rPr>
              <a:t> </a:t>
            </a:r>
            <a:r>
              <a:rPr sz="2950" spc="-80">
                <a:latin typeface="Arial"/>
                <a:cs typeface="Arial"/>
              </a:rPr>
              <a:t>teacher's</a:t>
            </a:r>
            <a:r>
              <a:rPr sz="2950" spc="-40">
                <a:latin typeface="Arial"/>
                <a:cs typeface="Arial"/>
              </a:rPr>
              <a:t> </a:t>
            </a:r>
            <a:r>
              <a:rPr sz="2950" spc="-10">
                <a:latin typeface="Arial"/>
                <a:cs typeface="Arial"/>
              </a:rPr>
              <a:t>expertise.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5195" y="5524538"/>
            <a:ext cx="9881235" cy="554990"/>
          </a:xfrm>
          <a:prstGeom prst="rect">
            <a:avLst/>
          </a:prstGeom>
        </p:spPr>
        <p:txBody>
          <a:bodyPr vert="horz" wrap="square" lIns="0" tIns="1524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100">
                <a:solidFill>
                  <a:srgbClr val="072338"/>
                </a:solidFill>
                <a:latin typeface="Arial"/>
                <a:cs typeface="Arial"/>
              </a:rPr>
              <a:t> </a:t>
            </a:r>
            <a:r>
              <a:rPr lang="af-ZA" sz="3450" b="1" spc="-55">
                <a:solidFill>
                  <a:srgbClr val="072F52"/>
                </a:solidFill>
                <a:latin typeface="Arial"/>
                <a:cs typeface="Arial"/>
              </a:rPr>
              <a:t>Mechanism:</a:t>
            </a:r>
            <a:r>
              <a:rPr lang="af-ZA" sz="3450" b="1" spc="-185">
                <a:solidFill>
                  <a:srgbClr val="072F52"/>
                </a:solidFill>
                <a:latin typeface="Arial"/>
                <a:cs typeface="Arial"/>
              </a:rPr>
              <a:t> </a:t>
            </a:r>
            <a:r>
              <a:rPr lang="af-ZA" sz="3450" b="1" spc="-50">
                <a:solidFill>
                  <a:srgbClr val="052844"/>
                </a:solidFill>
                <a:latin typeface="Arial"/>
                <a:cs typeface="Arial"/>
              </a:rPr>
              <a:t>Exponential</a:t>
            </a:r>
            <a:r>
              <a:rPr lang="af-ZA" sz="3450" b="1" spc="-190">
                <a:solidFill>
                  <a:srgbClr val="052844"/>
                </a:solidFill>
                <a:latin typeface="Arial"/>
                <a:cs typeface="Arial"/>
              </a:rPr>
              <a:t> </a:t>
            </a:r>
            <a:r>
              <a:rPr lang="af-ZA" sz="3450" b="1">
                <a:solidFill>
                  <a:srgbClr val="082F54"/>
                </a:solidFill>
                <a:latin typeface="Arial"/>
                <a:cs typeface="Arial"/>
              </a:rPr>
              <a:t>Moving</a:t>
            </a:r>
            <a:r>
              <a:rPr lang="af-ZA" sz="3450" b="1" spc="-225">
                <a:solidFill>
                  <a:srgbClr val="082F54"/>
                </a:solidFill>
                <a:latin typeface="Arial"/>
                <a:cs typeface="Arial"/>
              </a:rPr>
              <a:t> </a:t>
            </a:r>
            <a:r>
              <a:rPr lang="af-ZA" sz="3450" b="1" spc="-90">
                <a:solidFill>
                  <a:srgbClr val="082B4D"/>
                </a:solidFill>
                <a:latin typeface="Arial"/>
                <a:cs typeface="Arial"/>
              </a:rPr>
              <a:t>Average</a:t>
            </a:r>
            <a:r>
              <a:rPr lang="af-ZA" sz="3450" b="1" spc="-25">
                <a:solidFill>
                  <a:srgbClr val="082B4D"/>
                </a:solidFill>
                <a:latin typeface="Arial"/>
                <a:cs typeface="Arial"/>
              </a:rPr>
              <a:t> </a:t>
            </a:r>
            <a:r>
              <a:rPr lang="af-ZA" sz="3450" b="1" spc="-60">
                <a:solidFill>
                  <a:srgbClr val="082138"/>
                </a:solidFill>
                <a:latin typeface="Arial"/>
                <a:cs typeface="Arial"/>
              </a:rPr>
              <a:t>(EMA)</a:t>
            </a:r>
            <a:endParaRPr lang="af-ZA" sz="3450" b="1">
              <a:latin typeface="Arial"/>
              <a:cs typeface="Arial"/>
            </a:endParaRPr>
          </a:p>
        </p:txBody>
      </p:sp>
      <p:pic>
        <p:nvPicPr>
          <p:cNvPr id="19" name="圖片 18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0DC09C67-4E39-88C8-BBA8-AEF7A5156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127" y="6752342"/>
            <a:ext cx="14943510" cy="181238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E87E5CB-366C-4917-9EC7-7D2A481DC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C7EDBEA0-2904-44EC-B88E-230D4A040DB9}"/>
              </a:ext>
            </a:extLst>
          </p:cNvPr>
          <p:cNvCxnSpPr/>
          <p:nvPr/>
        </p:nvCxnSpPr>
        <p:spPr>
          <a:xfrm>
            <a:off x="8439550" y="1823579"/>
            <a:ext cx="0" cy="3449782"/>
          </a:xfrm>
          <a:prstGeom prst="line">
            <a:avLst/>
          </a:prstGeom>
          <a:ln w="25400">
            <a:solidFill>
              <a:srgbClr val="6E6E6E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字型, 螢幕擷取畫面, 行 的圖片&#10;&#10;AI 產生的內容可能不正確。">
            <a:extLst>
              <a:ext uri="{FF2B5EF4-FFF2-40B4-BE49-F238E27FC236}">
                <a16:creationId xmlns:a16="http://schemas.microsoft.com/office/drawing/2014/main" id="{8042C6B3-AD39-7557-2A67-37E116BBE4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"/>
          <a:stretch>
            <a:fillRect/>
          </a:stretch>
        </p:blipFill>
        <p:spPr>
          <a:xfrm>
            <a:off x="-9442" y="10"/>
            <a:ext cx="17484642" cy="97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172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圖片 38">
            <a:extLst>
              <a:ext uri="{FF2B5EF4-FFF2-40B4-BE49-F238E27FC236}">
                <a16:creationId xmlns:a16="http://schemas.microsoft.com/office/drawing/2014/main" id="{4EACFB1D-8E71-41A1-AEF8-74C126920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BA0D45B-A67D-56D2-F06D-ED002F5BF28D}"/>
              </a:ext>
            </a:extLst>
          </p:cNvPr>
          <p:cNvGrpSpPr/>
          <p:nvPr/>
        </p:nvGrpSpPr>
        <p:grpSpPr>
          <a:xfrm>
            <a:off x="5540482" y="7928655"/>
            <a:ext cx="6382648" cy="1413043"/>
            <a:chOff x="5642816" y="7805831"/>
            <a:chExt cx="6382648" cy="1413043"/>
          </a:xfrm>
        </p:grpSpPr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6324D8AA-FF13-48E7-8611-13F73307C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21" t="-16099" r="-321" b="14035"/>
            <a:stretch>
              <a:fillRect/>
            </a:stretch>
          </p:blipFill>
          <p:spPr>
            <a:xfrm>
              <a:off x="5642816" y="7805831"/>
              <a:ext cx="6382648" cy="593104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B55F2253-09D9-4770-9FFA-7CD814E54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6750" y="8532978"/>
              <a:ext cx="2114845" cy="685896"/>
            </a:xfrm>
            <a:prstGeom prst="rect">
              <a:avLst/>
            </a:prstGeom>
          </p:spPr>
        </p:pic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BA716E3D-09AA-2C9A-C286-CFF989CC60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667" y="909"/>
            <a:ext cx="15510422" cy="7658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5448300"/>
            <a:ext cx="1625600" cy="2120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09500" y="6362700"/>
            <a:ext cx="952500" cy="279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79500" y="5613400"/>
            <a:ext cx="2705100" cy="1663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79100" y="2743200"/>
            <a:ext cx="1651000" cy="2133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09500" y="3708400"/>
            <a:ext cx="952500" cy="292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779500" y="3048000"/>
            <a:ext cx="2755900" cy="166370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42952" y="545747"/>
            <a:ext cx="15727680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50" spc="70" dirty="0">
                <a:solidFill>
                  <a:srgbClr val="083456"/>
                </a:solidFill>
              </a:rPr>
              <a:t>The</a:t>
            </a:r>
            <a:r>
              <a:rPr sz="4650" spc="-30" dirty="0">
                <a:solidFill>
                  <a:srgbClr val="083456"/>
                </a:solidFill>
              </a:rPr>
              <a:t> </a:t>
            </a:r>
            <a:r>
              <a:rPr sz="4650" dirty="0">
                <a:solidFill>
                  <a:srgbClr val="082D48"/>
                </a:solidFill>
              </a:rPr>
              <a:t>Exam</a:t>
            </a:r>
            <a:r>
              <a:rPr sz="4650" spc="195" dirty="0">
                <a:solidFill>
                  <a:srgbClr val="082D48"/>
                </a:solidFill>
              </a:rPr>
              <a:t> </a:t>
            </a:r>
            <a:r>
              <a:rPr sz="4650" spc="55" dirty="0">
                <a:solidFill>
                  <a:srgbClr val="082F50"/>
                </a:solidFill>
              </a:rPr>
              <a:t>Adapts,</a:t>
            </a:r>
            <a:r>
              <a:rPr sz="4650" spc="35" dirty="0">
                <a:solidFill>
                  <a:srgbClr val="082F50"/>
                </a:solidFill>
              </a:rPr>
              <a:t> </a:t>
            </a:r>
            <a:r>
              <a:rPr sz="4650" dirty="0">
                <a:solidFill>
                  <a:srgbClr val="0A314F"/>
                </a:solidFill>
              </a:rPr>
              <a:t>Part</a:t>
            </a:r>
            <a:r>
              <a:rPr sz="4650" spc="-5" dirty="0">
                <a:solidFill>
                  <a:srgbClr val="0A314F"/>
                </a:solidFill>
              </a:rPr>
              <a:t> </a:t>
            </a:r>
            <a:r>
              <a:rPr sz="4650" spc="-310" dirty="0">
                <a:solidFill>
                  <a:srgbClr val="0E3B5B"/>
                </a:solidFill>
              </a:rPr>
              <a:t>1:</a:t>
            </a:r>
            <a:r>
              <a:rPr sz="4650" spc="-50" dirty="0">
                <a:solidFill>
                  <a:srgbClr val="0E3B5B"/>
                </a:solidFill>
              </a:rPr>
              <a:t> </a:t>
            </a:r>
            <a:r>
              <a:rPr sz="4650" spc="50" dirty="0">
                <a:solidFill>
                  <a:srgbClr val="052D49"/>
                </a:solidFill>
              </a:rPr>
              <a:t>Difficulty</a:t>
            </a:r>
            <a:r>
              <a:rPr sz="4650" spc="125" dirty="0">
                <a:solidFill>
                  <a:srgbClr val="052D49"/>
                </a:solidFill>
              </a:rPr>
              <a:t> </a:t>
            </a:r>
            <a:r>
              <a:rPr sz="4650" dirty="0">
                <a:solidFill>
                  <a:srgbClr val="0A3454"/>
                </a:solidFill>
              </a:rPr>
              <a:t>Based</a:t>
            </a:r>
            <a:r>
              <a:rPr sz="4650" spc="75" dirty="0">
                <a:solidFill>
                  <a:srgbClr val="0A3454"/>
                </a:solidFill>
              </a:rPr>
              <a:t> </a:t>
            </a:r>
            <a:r>
              <a:rPr sz="4650" spc="120" dirty="0">
                <a:solidFill>
                  <a:srgbClr val="073154"/>
                </a:solidFill>
              </a:rPr>
              <a:t>on</a:t>
            </a:r>
            <a:r>
              <a:rPr sz="4650" spc="-140" dirty="0">
                <a:solidFill>
                  <a:srgbClr val="073154"/>
                </a:solidFill>
              </a:rPr>
              <a:t> </a:t>
            </a:r>
            <a:r>
              <a:rPr sz="4650" spc="80" dirty="0">
                <a:solidFill>
                  <a:srgbClr val="032B4F"/>
                </a:solidFill>
              </a:rPr>
              <a:t>Question</a:t>
            </a:r>
            <a:r>
              <a:rPr sz="4650" spc="95" dirty="0">
                <a:solidFill>
                  <a:srgbClr val="032B4F"/>
                </a:solidFill>
              </a:rPr>
              <a:t> </a:t>
            </a:r>
            <a:r>
              <a:rPr sz="4650" spc="40" dirty="0">
                <a:solidFill>
                  <a:srgbClr val="053150"/>
                </a:solidFill>
              </a:rPr>
              <a:t>Clarity</a:t>
            </a:r>
            <a:endParaRPr sz="4650" dirty="0"/>
          </a:p>
        </p:txBody>
      </p:sp>
      <p:sp>
        <p:nvSpPr>
          <p:cNvPr id="9" name="object 9"/>
          <p:cNvSpPr txBox="1"/>
          <p:nvPr/>
        </p:nvSpPr>
        <p:spPr>
          <a:xfrm>
            <a:off x="752905" y="1650294"/>
            <a:ext cx="1341691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35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sz="2800" spc="-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60">
                <a:latin typeface="Arial" panose="020B0604020202020204" pitchFamily="34" charset="0"/>
                <a:cs typeface="Arial" panose="020B0604020202020204" pitchFamily="34" charset="0"/>
              </a:rPr>
              <a:t>mechanism</a:t>
            </a:r>
            <a:r>
              <a:rPr sz="2800" spc="114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4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sz="2800" spc="-19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45">
                <a:latin typeface="Arial" panose="020B0604020202020204" pitchFamily="34" charset="0"/>
                <a:cs typeface="Arial" panose="020B0604020202020204" pitchFamily="34" charset="0"/>
              </a:rPr>
              <a:t>inherited</a:t>
            </a:r>
            <a:r>
              <a:rPr sz="2800" spc="1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95">
                <a:latin typeface="Arial" panose="020B0604020202020204" pitchFamily="34" charset="0"/>
                <a:cs typeface="Arial" panose="020B0604020202020204" pitchFamily="34" charset="0"/>
              </a:rPr>
              <a:t>directly</a:t>
            </a:r>
            <a:r>
              <a:rPr sz="2800" spc="10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75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sz="2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305" err="1">
                <a:latin typeface="Arial" panose="020B0604020202020204" pitchFamily="34" charset="0"/>
                <a:cs typeface="Arial" panose="020B0604020202020204" pitchFamily="34" charset="0"/>
              </a:rPr>
              <a:t>AdaFace</a:t>
            </a:r>
            <a:r>
              <a:rPr sz="2800" spc="8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6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2800" spc="-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90">
                <a:latin typeface="Arial" panose="020B0604020202020204" pitchFamily="34" charset="0"/>
                <a:cs typeface="Arial" panose="020B0604020202020204" pitchFamily="34" charset="0"/>
              </a:rPr>
              <a:t>focuses</a:t>
            </a:r>
            <a:r>
              <a:rPr sz="2800" spc="-9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15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800" spc="-12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35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2800" spc="-21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45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sz="2800" spc="-4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245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r>
              <a:rPr sz="2800" spc="-11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45">
                <a:latin typeface="Arial" panose="020B0604020202020204" pitchFamily="34" charset="0"/>
                <a:cs typeface="Arial" panose="020B0604020202020204" pitchFamily="34" charset="0"/>
              </a:rPr>
              <a:t>itself.</a:t>
            </a:r>
            <a:endParaRPr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2905" y="2300605"/>
            <a:ext cx="8674100" cy="157924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450"/>
              </a:spcBef>
            </a:pPr>
            <a:r>
              <a:rPr lang="af-ZA" sz="2950" b="1">
                <a:solidFill>
                  <a:srgbClr val="082D49"/>
                </a:solidFill>
                <a:latin typeface="Arial"/>
                <a:cs typeface="Arial"/>
              </a:rPr>
              <a:t>Quality</a:t>
            </a:r>
            <a:r>
              <a:rPr lang="af-ZA" sz="2950" b="1" spc="265">
                <a:solidFill>
                  <a:srgbClr val="082D49"/>
                </a:solidFill>
                <a:latin typeface="Arial"/>
                <a:cs typeface="Arial"/>
              </a:rPr>
              <a:t> </a:t>
            </a:r>
            <a:r>
              <a:rPr lang="af-ZA" sz="2950" b="1" spc="-10">
                <a:solidFill>
                  <a:srgbClr val="0C2F49"/>
                </a:solidFill>
                <a:latin typeface="Arial"/>
                <a:cs typeface="Arial"/>
              </a:rPr>
              <a:t>Proxy</a:t>
            </a:r>
            <a:endParaRPr lang="af-ZA" sz="2950" b="1">
              <a:latin typeface="Arial"/>
              <a:cs typeface="Arial"/>
            </a:endParaRPr>
          </a:p>
          <a:p>
            <a:pPr marL="38100" marR="30480" indent="13970">
              <a:lnSpc>
                <a:spcPts val="2900"/>
              </a:lnSpc>
              <a:spcBef>
                <a:spcPts val="1590"/>
              </a:spcBef>
            </a:pPr>
            <a:r>
              <a:rPr sz="2600">
                <a:latin typeface="Arial"/>
                <a:cs typeface="Arial"/>
              </a:rPr>
              <a:t>The</a:t>
            </a:r>
            <a:r>
              <a:rPr sz="2600" spc="6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L2</a:t>
            </a:r>
            <a:r>
              <a:rPr sz="2600" spc="-9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norm</a:t>
            </a:r>
            <a:r>
              <a:rPr sz="2600" spc="4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of</a:t>
            </a:r>
            <a:r>
              <a:rPr sz="2600" spc="6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the</a:t>
            </a:r>
            <a:r>
              <a:rPr sz="2600" spc="1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feature</a:t>
            </a:r>
            <a:r>
              <a:rPr sz="2600" spc="9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embedding</a:t>
            </a:r>
            <a:r>
              <a:rPr sz="2600" spc="60">
                <a:latin typeface="Arial"/>
                <a:cs typeface="Arial"/>
              </a:rPr>
              <a:t> </a:t>
            </a:r>
            <a:r>
              <a:rPr lang="en-US" altLang="zh-TW" sz="2600" spc="60">
                <a:latin typeface="Arial"/>
                <a:cs typeface="Arial"/>
              </a:rPr>
              <a:t>(||</a:t>
            </a:r>
            <a:r>
              <a:rPr lang="en-US" altLang="zh-TW" sz="2600" b="1" spc="60">
                <a:latin typeface="Arial"/>
                <a:cs typeface="Arial"/>
              </a:rPr>
              <a:t>f</a:t>
            </a:r>
            <a:r>
              <a:rPr lang="en-US" altLang="zh-TW" sz="2600" spc="60">
                <a:latin typeface="Arial"/>
                <a:cs typeface="Arial"/>
              </a:rPr>
              <a:t>||) </a:t>
            </a:r>
            <a:r>
              <a:rPr lang="en-US" sz="2600" spc="60">
                <a:latin typeface="Arial"/>
                <a:cs typeface="Arial"/>
              </a:rPr>
              <a:t>serves </a:t>
            </a:r>
            <a:r>
              <a:rPr sz="2600">
                <a:latin typeface="Arial"/>
                <a:cs typeface="Arial"/>
              </a:rPr>
              <a:t>as</a:t>
            </a:r>
            <a:r>
              <a:rPr sz="2600" spc="15">
                <a:latin typeface="Arial"/>
                <a:cs typeface="Arial"/>
              </a:rPr>
              <a:t> </a:t>
            </a:r>
            <a:r>
              <a:rPr sz="2600" spc="-25">
                <a:latin typeface="Arial"/>
                <a:cs typeface="Arial"/>
              </a:rPr>
              <a:t>an </a:t>
            </a:r>
            <a:r>
              <a:rPr sz="2600">
                <a:latin typeface="Arial"/>
                <a:cs typeface="Arial"/>
              </a:rPr>
              <a:t>indicator</a:t>
            </a:r>
            <a:r>
              <a:rPr sz="2600" spc="25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of</a:t>
            </a:r>
            <a:r>
              <a:rPr sz="2600" spc="19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image</a:t>
            </a:r>
            <a:r>
              <a:rPr sz="2600" spc="170">
                <a:latin typeface="Arial"/>
                <a:cs typeface="Arial"/>
              </a:rPr>
              <a:t> </a:t>
            </a:r>
            <a:r>
              <a:rPr sz="2600" spc="-10">
                <a:latin typeface="Arial"/>
                <a:cs typeface="Arial"/>
              </a:rPr>
              <a:t>quality.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2905" y="4169276"/>
            <a:ext cx="4422306" cy="47128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af-ZA" sz="2950" b="1">
                <a:solidFill>
                  <a:srgbClr val="262626"/>
                </a:solidFill>
                <a:latin typeface="Arial"/>
                <a:cs typeface="Arial"/>
              </a:rPr>
              <a:t>Dynamic</a:t>
            </a:r>
            <a:r>
              <a:rPr lang="af-ZA" sz="2950" b="1" spc="27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af-ZA" sz="2950" b="1">
                <a:solidFill>
                  <a:srgbClr val="262626"/>
                </a:solidFill>
                <a:latin typeface="Arial"/>
                <a:cs typeface="Arial"/>
              </a:rPr>
              <a:t>Margin</a:t>
            </a:r>
            <a:r>
              <a:rPr lang="af-ZA" sz="2950" b="1" spc="24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lang="af-ZA" sz="2950" b="1" spc="-10">
                <a:solidFill>
                  <a:srgbClr val="232323"/>
                </a:solidFill>
                <a:latin typeface="Arial"/>
                <a:cs typeface="Arial"/>
              </a:rPr>
              <a:t>Logic</a:t>
            </a:r>
            <a:endParaRPr lang="af-ZA" sz="2950" b="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4663" y="4771991"/>
            <a:ext cx="9365037" cy="427681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71475" marR="5080" indent="-359410">
              <a:lnSpc>
                <a:spcPts val="3000"/>
              </a:lnSpc>
              <a:spcBef>
                <a:spcPts val="335"/>
              </a:spcBef>
              <a:buClr>
                <a:srgbClr val="000000"/>
              </a:buClr>
              <a:buChar char="•"/>
              <a:tabLst>
                <a:tab pos="373380" algn="l"/>
                <a:tab pos="3825875" algn="l"/>
                <a:tab pos="7079615" algn="l"/>
              </a:tabLst>
            </a:pPr>
            <a:r>
              <a:rPr sz="2600" spc="60">
                <a:solidFill>
                  <a:srgbClr val="994D26"/>
                </a:solidFill>
                <a:latin typeface="Arial"/>
                <a:cs typeface="Arial"/>
              </a:rPr>
              <a:t>High-</a:t>
            </a:r>
            <a:r>
              <a:rPr sz="2600" spc="55">
                <a:solidFill>
                  <a:srgbClr val="994D26"/>
                </a:solidFill>
                <a:latin typeface="Arial"/>
                <a:cs typeface="Arial"/>
              </a:rPr>
              <a:t>Quality</a:t>
            </a:r>
            <a:r>
              <a:rPr lang="af-ZA" altLang="zh-TW" sz="2600" spc="170">
                <a:solidFill>
                  <a:srgbClr val="994D26"/>
                </a:solidFill>
                <a:latin typeface="Arial"/>
                <a:cs typeface="Arial"/>
              </a:rPr>
              <a:t> </a:t>
            </a:r>
            <a:r>
              <a:rPr lang="af-ZA" sz="2600" spc="40">
                <a:solidFill>
                  <a:srgbClr val="934921"/>
                </a:solidFill>
                <a:latin typeface="Arial"/>
                <a:cs typeface="Arial"/>
              </a:rPr>
              <a:t>Image</a:t>
            </a:r>
            <a:r>
              <a:rPr lang="af-ZA" altLang="zh-TW" sz="2600" spc="40">
                <a:solidFill>
                  <a:srgbClr val="934921"/>
                </a:solidFill>
                <a:latin typeface="Arial"/>
                <a:cs typeface="Arial"/>
              </a:rPr>
              <a:t> </a:t>
            </a:r>
            <a:r>
              <a:rPr lang="af-ZA" altLang="zh-TW" sz="2600" spc="40">
                <a:solidFill>
                  <a:schemeClr val="tx1"/>
                </a:solidFill>
                <a:latin typeface="Arial"/>
                <a:ea typeface="微軟正黑體" panose="020B0604030504040204" pitchFamily="34" charset="-120"/>
                <a:cs typeface="Arial"/>
              </a:rPr>
              <a:t>→</a:t>
            </a:r>
            <a:r>
              <a:rPr lang="af-ZA" sz="2600">
                <a:latin typeface="Arial"/>
                <a:cs typeface="Arial"/>
              </a:rPr>
              <a:t>	</a:t>
            </a:r>
            <a:r>
              <a:rPr sz="2600">
                <a:latin typeface="Arial"/>
                <a:cs typeface="Arial"/>
              </a:rPr>
              <a:t>High</a:t>
            </a:r>
            <a:r>
              <a:rPr sz="2600" spc="-15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Feature</a:t>
            </a:r>
            <a:r>
              <a:rPr sz="2600" spc="-105">
                <a:latin typeface="Arial"/>
                <a:cs typeface="Arial"/>
              </a:rPr>
              <a:t> </a:t>
            </a:r>
            <a:r>
              <a:rPr lang="af-ZA" sz="2600" spc="-10">
                <a:latin typeface="Arial"/>
                <a:cs typeface="Arial"/>
              </a:rPr>
              <a:t>Norm</a:t>
            </a:r>
            <a:r>
              <a:rPr lang="af-ZA" altLang="zh-TW" sz="2600" spc="40">
                <a:solidFill>
                  <a:schemeClr val="tx1"/>
                </a:solidFill>
                <a:latin typeface="Arial"/>
                <a:ea typeface="微軟正黑體" panose="020B0604030504040204" pitchFamily="34" charset="-120"/>
                <a:cs typeface="Arial"/>
              </a:rPr>
              <a:t> → </a:t>
            </a:r>
            <a:r>
              <a:rPr sz="2600" spc="-10">
                <a:solidFill>
                  <a:srgbClr val="994D26"/>
                </a:solidFill>
                <a:latin typeface="Arial"/>
                <a:cs typeface="Arial"/>
              </a:rPr>
              <a:t>Larger </a:t>
            </a:r>
            <a:r>
              <a:rPr lang="af-ZA" sz="2600" spc="-10">
                <a:solidFill>
                  <a:srgbClr val="994D26"/>
                </a:solidFill>
                <a:latin typeface="Arial"/>
                <a:cs typeface="Arial"/>
              </a:rPr>
              <a:t>Margin</a:t>
            </a:r>
            <a:r>
              <a:rPr sz="2600" spc="45">
                <a:latin typeface="Arial"/>
                <a:cs typeface="Arial"/>
              </a:rPr>
              <a:t>.</a:t>
            </a:r>
            <a:r>
              <a:rPr sz="2600" spc="-85">
                <a:latin typeface="Arial"/>
                <a:cs typeface="Arial"/>
              </a:rPr>
              <a:t> 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4664" y="6254436"/>
            <a:ext cx="9339636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135"/>
              </a:spcBef>
              <a:buClr>
                <a:srgbClr val="000000"/>
              </a:buClr>
              <a:buChar char="•"/>
              <a:tabLst>
                <a:tab pos="374015" algn="l"/>
                <a:tab pos="3739515" algn="l"/>
                <a:tab pos="6936740" algn="l"/>
              </a:tabLst>
            </a:pPr>
            <a:r>
              <a:rPr sz="2600" spc="70">
                <a:solidFill>
                  <a:srgbClr val="A15228"/>
                </a:solidFill>
                <a:latin typeface="Arial"/>
                <a:cs typeface="Arial"/>
              </a:rPr>
              <a:t>Low-</a:t>
            </a:r>
            <a:r>
              <a:rPr sz="2600" spc="55">
                <a:solidFill>
                  <a:srgbClr val="A15228"/>
                </a:solidFill>
                <a:latin typeface="Arial"/>
                <a:cs typeface="Arial"/>
              </a:rPr>
              <a:t>Quality</a:t>
            </a:r>
            <a:r>
              <a:rPr sz="2600" spc="150">
                <a:solidFill>
                  <a:srgbClr val="A15228"/>
                </a:solidFill>
                <a:latin typeface="Arial"/>
                <a:cs typeface="Arial"/>
              </a:rPr>
              <a:t> </a:t>
            </a:r>
            <a:r>
              <a:rPr lang="af-ZA" sz="2600" spc="-10">
                <a:solidFill>
                  <a:srgbClr val="9E5934"/>
                </a:solidFill>
                <a:latin typeface="Arial"/>
                <a:cs typeface="Arial"/>
              </a:rPr>
              <a:t>Image</a:t>
            </a:r>
            <a:r>
              <a:rPr lang="af-ZA" altLang="zh-TW" sz="2600" spc="-10">
                <a:solidFill>
                  <a:srgbClr val="9E5934"/>
                </a:solidFill>
                <a:latin typeface="Arial"/>
                <a:cs typeface="Arial"/>
              </a:rPr>
              <a:t> </a:t>
            </a:r>
            <a:r>
              <a:rPr lang="af-ZA" altLang="zh-TW" sz="2600" spc="40">
                <a:solidFill>
                  <a:schemeClr val="tx1"/>
                </a:solidFill>
                <a:latin typeface="Arial"/>
                <a:ea typeface="微軟正黑體" panose="020B0604030504040204" pitchFamily="34" charset="-120"/>
                <a:cs typeface="Arial"/>
              </a:rPr>
              <a:t>→</a:t>
            </a:r>
            <a:r>
              <a:rPr lang="af-ZA" altLang="zh-TW" sz="2600">
                <a:latin typeface="Arial"/>
                <a:cs typeface="Arial"/>
              </a:rPr>
              <a:t>	</a:t>
            </a:r>
            <a:r>
              <a:rPr sz="2600">
                <a:latin typeface="Arial"/>
                <a:cs typeface="Arial"/>
              </a:rPr>
              <a:t>Low</a:t>
            </a:r>
            <a:r>
              <a:rPr sz="2600" spc="-13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Feature</a:t>
            </a:r>
            <a:r>
              <a:rPr sz="2600" spc="-55">
                <a:latin typeface="Arial"/>
                <a:cs typeface="Arial"/>
              </a:rPr>
              <a:t> </a:t>
            </a:r>
            <a:r>
              <a:rPr lang="af-ZA" sz="2600" spc="-10">
                <a:latin typeface="Arial"/>
                <a:cs typeface="Arial"/>
              </a:rPr>
              <a:t>Norm</a:t>
            </a:r>
            <a:r>
              <a:rPr lang="af-ZA" altLang="zh-TW" sz="2600" spc="-10">
                <a:latin typeface="Arial"/>
                <a:cs typeface="Arial"/>
              </a:rPr>
              <a:t> </a:t>
            </a:r>
            <a:r>
              <a:rPr lang="af-ZA" altLang="zh-TW" sz="2600" spc="40">
                <a:solidFill>
                  <a:schemeClr val="tx1"/>
                </a:solidFill>
                <a:latin typeface="Arial"/>
                <a:ea typeface="微軟正黑體" panose="020B0604030504040204" pitchFamily="34" charset="-120"/>
                <a:cs typeface="Arial"/>
              </a:rPr>
              <a:t>→</a:t>
            </a:r>
            <a:r>
              <a:rPr lang="af-ZA" altLang="zh-TW" sz="2600">
                <a:latin typeface="Arial"/>
                <a:cs typeface="Arial"/>
              </a:rPr>
              <a:t>	</a:t>
            </a:r>
            <a:r>
              <a:rPr sz="2600" spc="-10">
                <a:solidFill>
                  <a:srgbClr val="9C4D24"/>
                </a:solidFill>
                <a:latin typeface="Arial"/>
                <a:cs typeface="Arial"/>
              </a:rPr>
              <a:t>Smaller</a:t>
            </a:r>
            <a:r>
              <a:rPr lang="en-US" altLang="zh-TW" sz="2600" spc="-10">
                <a:solidFill>
                  <a:srgbClr val="9C4D24"/>
                </a:solidFill>
                <a:latin typeface="Arial"/>
                <a:cs typeface="Arial"/>
              </a:rPr>
              <a:t> Margin</a:t>
            </a:r>
            <a:endParaRPr sz="2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5926" y="6718565"/>
            <a:ext cx="7733773" cy="81753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sz="2600">
                <a:latin typeface="Arial"/>
                <a:cs typeface="Arial"/>
              </a:rPr>
              <a:t>The</a:t>
            </a:r>
            <a:r>
              <a:rPr sz="2600" spc="25">
                <a:latin typeface="Arial"/>
                <a:cs typeface="Arial"/>
              </a:rPr>
              <a:t> </a:t>
            </a:r>
            <a:r>
              <a:rPr sz="2600" spc="-10">
                <a:latin typeface="Arial"/>
                <a:cs typeface="Arial"/>
              </a:rPr>
              <a:t>exam</a:t>
            </a:r>
            <a:r>
              <a:rPr sz="2600" spc="1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is</a:t>
            </a:r>
            <a:r>
              <a:rPr sz="2600" spc="-10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made</a:t>
            </a:r>
            <a:r>
              <a:rPr sz="2600" spc="3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easier</a:t>
            </a:r>
            <a:r>
              <a:rPr sz="2600" spc="9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for</a:t>
            </a:r>
            <a:r>
              <a:rPr sz="2600" spc="3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blurry,</a:t>
            </a:r>
            <a:r>
              <a:rPr sz="2600" spc="-65">
                <a:latin typeface="Arial"/>
                <a:cs typeface="Arial"/>
              </a:rPr>
              <a:t> </a:t>
            </a:r>
            <a:r>
              <a:rPr sz="2600" spc="-20">
                <a:latin typeface="Arial"/>
                <a:cs typeface="Arial"/>
              </a:rPr>
              <a:t>hard</a:t>
            </a:r>
            <a:r>
              <a:rPr lang="en-US" altLang="zh-TW" sz="2600" spc="-20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questions</a:t>
            </a:r>
            <a:r>
              <a:rPr lang="en-US" altLang="zh-TW" sz="2600" spc="215">
                <a:latin typeface="Arial"/>
                <a:cs typeface="Arial"/>
              </a:rPr>
              <a:t> </a:t>
            </a:r>
            <a:r>
              <a:rPr lang="en-US" altLang="zh-TW" sz="2600" spc="60">
                <a:latin typeface="Arial"/>
                <a:cs typeface="Arial"/>
              </a:rPr>
              <a:t>to</a:t>
            </a:r>
            <a:r>
              <a:rPr lang="en-US" altLang="zh-TW" sz="2600" spc="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prevent</a:t>
            </a:r>
            <a:r>
              <a:rPr lang="en-US" altLang="zh-TW" sz="2600" spc="409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the</a:t>
            </a:r>
            <a:r>
              <a:rPr lang="en-US" altLang="zh-TW" sz="2600" spc="130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model</a:t>
            </a:r>
            <a:r>
              <a:rPr lang="en-US" altLang="zh-TW" sz="2600" spc="200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from</a:t>
            </a:r>
            <a:r>
              <a:rPr lang="en-US" altLang="zh-TW" sz="2600" spc="22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overfitting</a:t>
            </a:r>
            <a:r>
              <a:rPr lang="en-US" altLang="zh-TW" sz="2600" spc="215">
                <a:latin typeface="Arial"/>
                <a:cs typeface="Arial"/>
              </a:rPr>
              <a:t> </a:t>
            </a:r>
            <a:r>
              <a:rPr lang="en-US" altLang="zh-TW" sz="2600" spc="60">
                <a:latin typeface="Arial"/>
                <a:cs typeface="Arial"/>
              </a:rPr>
              <a:t>to</a:t>
            </a:r>
            <a:r>
              <a:rPr lang="en-US" altLang="zh-TW" sz="2600" spc="5">
                <a:latin typeface="Arial"/>
                <a:cs typeface="Arial"/>
              </a:rPr>
              <a:t> </a:t>
            </a:r>
            <a:r>
              <a:rPr lang="en-US" altLang="zh-TW" sz="2600" spc="-10">
                <a:latin typeface="Arial"/>
                <a:cs typeface="Arial"/>
              </a:rPr>
              <a:t>noise.</a:t>
            </a:r>
            <a:endParaRPr lang="en-US" altLang="zh-TW" sz="2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85975" y="2589388"/>
            <a:ext cx="204152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10">
                <a:latin typeface="Arial"/>
                <a:cs typeface="Arial"/>
              </a:rPr>
              <a:t>Exam</a:t>
            </a:r>
            <a:r>
              <a:rPr sz="2350" spc="-150">
                <a:latin typeface="Arial"/>
                <a:cs typeface="Arial"/>
              </a:rPr>
              <a:t> </a:t>
            </a:r>
            <a:r>
              <a:rPr sz="2350" spc="-10">
                <a:latin typeface="Arial"/>
                <a:cs typeface="Arial"/>
              </a:rPr>
              <a:t>Difficulty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727514" y="4424186"/>
            <a:ext cx="791845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10">
                <a:latin typeface="Arial"/>
                <a:cs typeface="Arial"/>
              </a:rPr>
              <a:t>Harder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74875" y="5154788"/>
            <a:ext cx="202882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50">
                <a:latin typeface="Arial"/>
                <a:cs typeface="Arial"/>
              </a:rPr>
              <a:t>Exam</a:t>
            </a:r>
            <a:r>
              <a:rPr sz="2350" spc="-90">
                <a:latin typeface="Arial"/>
                <a:cs typeface="Arial"/>
              </a:rPr>
              <a:t> </a:t>
            </a:r>
            <a:r>
              <a:rPr sz="2350" spc="-10">
                <a:latin typeface="Arial"/>
                <a:cs typeface="Arial"/>
              </a:rPr>
              <a:t>Difficulty</a:t>
            </a:r>
            <a:endParaRPr sz="23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52471" y="6980766"/>
            <a:ext cx="71564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60">
                <a:latin typeface="Arial"/>
                <a:cs typeface="Arial"/>
              </a:rPr>
              <a:t>Easier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7916" y="8290983"/>
            <a:ext cx="16040100" cy="906017"/>
          </a:xfrm>
          <a:prstGeom prst="rect">
            <a:avLst/>
          </a:prstGeom>
          <a:ln w="12700">
            <a:solidFill>
              <a:srgbClr val="875438"/>
            </a:solidFill>
          </a:ln>
        </p:spPr>
        <p:txBody>
          <a:bodyPr vert="horz" wrap="square" lIns="0" tIns="135255" rIns="0" bIns="0" rtlCol="0" anchor="t">
            <a:spAutoFit/>
          </a:bodyPr>
          <a:lstStyle/>
          <a:p>
            <a:pPr marL="180340" marR="666750" indent="-15875">
              <a:lnSpc>
                <a:spcPts val="3000"/>
              </a:lnSpc>
              <a:spcBef>
                <a:spcPts val="1065"/>
              </a:spcBef>
            </a:pPr>
            <a:r>
              <a:rPr sz="2600" b="1" spc="-10">
                <a:latin typeface="Arial"/>
                <a:cs typeface="Arial"/>
              </a:rPr>
              <a:t>Impact:</a:t>
            </a:r>
            <a:r>
              <a:rPr sz="2600" b="1" spc="-8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This</a:t>
            </a:r>
            <a:r>
              <a:rPr sz="2600" spc="10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only</a:t>
            </a:r>
            <a:r>
              <a:rPr sz="2600" spc="204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changes</a:t>
            </a:r>
            <a:r>
              <a:rPr sz="2600" spc="19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the</a:t>
            </a:r>
            <a:r>
              <a:rPr sz="2600" spc="190">
                <a:latin typeface="Arial"/>
                <a:cs typeface="Arial"/>
              </a:rPr>
              <a:t> </a:t>
            </a:r>
            <a:r>
              <a:rPr lang="af-ZA" sz="2600" spc="-65" err="1">
                <a:solidFill>
                  <a:srgbClr val="7E4F31"/>
                </a:solidFill>
                <a:latin typeface="Arial"/>
                <a:cs typeface="Arial"/>
              </a:rPr>
              <a:t>difficulty</a:t>
            </a:r>
            <a:r>
              <a:rPr lang="af-ZA" sz="2600" spc="170">
                <a:solidFill>
                  <a:srgbClr val="7E4F31"/>
                </a:solidFill>
                <a:latin typeface="Arial"/>
                <a:cs typeface="Arial"/>
              </a:rPr>
              <a:t> </a:t>
            </a:r>
            <a:r>
              <a:rPr sz="2600" i="1">
                <a:solidFill>
                  <a:srgbClr val="875231"/>
                </a:solidFill>
                <a:latin typeface="Arial"/>
                <a:cs typeface="Arial"/>
              </a:rPr>
              <a:t>of</a:t>
            </a:r>
            <a:r>
              <a:rPr sz="2600" i="1" spc="370">
                <a:solidFill>
                  <a:srgbClr val="875231"/>
                </a:solidFill>
                <a:latin typeface="Arial"/>
                <a:cs typeface="Arial"/>
              </a:rPr>
              <a:t> </a:t>
            </a:r>
            <a:r>
              <a:rPr sz="2600">
                <a:solidFill>
                  <a:srgbClr val="994F26"/>
                </a:solidFill>
                <a:latin typeface="Arial"/>
                <a:cs typeface="Arial"/>
              </a:rPr>
              <a:t>the</a:t>
            </a:r>
            <a:r>
              <a:rPr sz="2600" spc="105">
                <a:solidFill>
                  <a:srgbClr val="994F26"/>
                </a:solidFill>
                <a:latin typeface="Arial"/>
                <a:cs typeface="Arial"/>
              </a:rPr>
              <a:t> </a:t>
            </a:r>
            <a:r>
              <a:rPr sz="2600" i="1">
                <a:solidFill>
                  <a:srgbClr val="804928"/>
                </a:solidFill>
                <a:latin typeface="Arial"/>
                <a:cs typeface="Arial"/>
              </a:rPr>
              <a:t>test</a:t>
            </a:r>
            <a:r>
              <a:rPr sz="2600" i="1" spc="295">
                <a:solidFill>
                  <a:srgbClr val="804928"/>
                </a:solidFill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for</a:t>
            </a:r>
            <a:r>
              <a:rPr sz="2600" spc="4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the</a:t>
            </a:r>
            <a:r>
              <a:rPr sz="2600" spc="10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student</a:t>
            </a:r>
            <a:r>
              <a:rPr sz="2600" spc="305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(the</a:t>
            </a:r>
            <a:r>
              <a:rPr sz="2600" spc="1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logit), not</a:t>
            </a:r>
            <a:r>
              <a:rPr sz="2600" spc="10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the</a:t>
            </a:r>
            <a:r>
              <a:rPr sz="2600" spc="80">
                <a:latin typeface="Arial"/>
                <a:cs typeface="Arial"/>
              </a:rPr>
              <a:t> </a:t>
            </a:r>
            <a:r>
              <a:rPr sz="2600" i="1">
                <a:solidFill>
                  <a:srgbClr val="794826"/>
                </a:solidFill>
                <a:latin typeface="Arial"/>
                <a:cs typeface="Arial"/>
              </a:rPr>
              <a:t>standard</a:t>
            </a:r>
            <a:r>
              <a:rPr sz="2600" i="1" spc="360">
                <a:solidFill>
                  <a:srgbClr val="794826"/>
                </a:solidFill>
                <a:latin typeface="Arial"/>
                <a:cs typeface="Arial"/>
              </a:rPr>
              <a:t> </a:t>
            </a:r>
            <a:r>
              <a:rPr lang="af-ZA" sz="2600" spc="-160" err="1">
                <a:solidFill>
                  <a:srgbClr val="915D3D"/>
                </a:solidFill>
                <a:latin typeface="Arial"/>
                <a:cs typeface="Arial"/>
              </a:rPr>
              <a:t>answover</a:t>
            </a:r>
            <a:r>
              <a:rPr sz="2600" spc="-160">
                <a:solidFill>
                  <a:srgbClr val="915D3D"/>
                </a:solidFill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(the</a:t>
            </a:r>
            <a:r>
              <a:rPr sz="2600" spc="50">
                <a:latin typeface="Arial"/>
                <a:cs typeface="Arial"/>
              </a:rPr>
              <a:t> </a:t>
            </a:r>
            <a:r>
              <a:rPr sz="2600">
                <a:latin typeface="Arial"/>
                <a:cs typeface="Arial"/>
              </a:rPr>
              <a:t>class</a:t>
            </a:r>
            <a:r>
              <a:rPr sz="2600" spc="95">
                <a:latin typeface="Arial"/>
                <a:cs typeface="Arial"/>
              </a:rPr>
              <a:t> </a:t>
            </a:r>
            <a:r>
              <a:rPr sz="2600" spc="-10">
                <a:latin typeface="Arial"/>
                <a:cs typeface="Arial"/>
              </a:rPr>
              <a:t>center).</a:t>
            </a:r>
            <a:endParaRPr sz="2600">
              <a:latin typeface="Arial"/>
              <a:cs typeface="Arial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2F63FE-FDCE-4532-AB90-3687C809F6EF}"/>
              </a:ext>
            </a:extLst>
          </p:cNvPr>
          <p:cNvSpPr/>
          <p:nvPr/>
        </p:nvSpPr>
        <p:spPr>
          <a:xfrm>
            <a:off x="1235682" y="5204506"/>
            <a:ext cx="7160173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600">
                <a:latin typeface="Arial"/>
                <a:cs typeface="Arial"/>
              </a:rPr>
              <a:t>The</a:t>
            </a:r>
            <a:r>
              <a:rPr lang="en-US" altLang="zh-TW" sz="2600" spc="-10">
                <a:latin typeface="Arial"/>
                <a:cs typeface="Arial"/>
              </a:rPr>
              <a:t> exam</a:t>
            </a:r>
            <a:r>
              <a:rPr lang="en-US" altLang="zh-TW" sz="2600" spc="1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is</a:t>
            </a:r>
            <a:r>
              <a:rPr lang="en-US" altLang="zh-TW" sz="2600" spc="-110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made</a:t>
            </a:r>
            <a:r>
              <a:rPr lang="en-US" altLang="zh-TW" sz="2600" spc="5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harder</a:t>
            </a:r>
            <a:r>
              <a:rPr lang="en-US" altLang="zh-TW" sz="2600" spc="16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for</a:t>
            </a:r>
            <a:r>
              <a:rPr lang="en-US" altLang="zh-TW" sz="2600" spc="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clear,</a:t>
            </a:r>
            <a:r>
              <a:rPr lang="en-US" altLang="zh-TW" sz="2600" spc="-75">
                <a:latin typeface="Arial"/>
                <a:cs typeface="Arial"/>
              </a:rPr>
              <a:t> </a:t>
            </a:r>
            <a:r>
              <a:rPr lang="en-US" altLang="zh-TW" sz="2600" spc="-20">
                <a:latin typeface="Arial"/>
                <a:cs typeface="Arial"/>
              </a:rPr>
              <a:t>easy </a:t>
            </a:r>
            <a:r>
              <a:rPr lang="en-US" altLang="zh-TW" sz="2600">
                <a:latin typeface="Arial"/>
                <a:cs typeface="Arial"/>
              </a:rPr>
              <a:t>questions</a:t>
            </a:r>
            <a:r>
              <a:rPr lang="en-US" altLang="zh-TW" sz="2600" spc="200">
                <a:latin typeface="Arial"/>
                <a:cs typeface="Arial"/>
              </a:rPr>
              <a:t> </a:t>
            </a:r>
            <a:r>
              <a:rPr lang="en-US" altLang="zh-TW" sz="2600" spc="60">
                <a:latin typeface="Arial"/>
                <a:cs typeface="Arial"/>
              </a:rPr>
              <a:t>to</a:t>
            </a:r>
            <a:r>
              <a:rPr lang="en-US" altLang="zh-TW" sz="2600" spc="-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push</a:t>
            </a:r>
            <a:r>
              <a:rPr lang="en-US" altLang="zh-TW" sz="2600" spc="130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for</a:t>
            </a:r>
            <a:r>
              <a:rPr lang="en-US" altLang="zh-TW" sz="2600" spc="160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better</a:t>
            </a:r>
            <a:r>
              <a:rPr lang="en-US" altLang="zh-TW" sz="2600" spc="325">
                <a:latin typeface="Arial"/>
                <a:cs typeface="Arial"/>
              </a:rPr>
              <a:t> </a:t>
            </a:r>
            <a:r>
              <a:rPr lang="en-US" altLang="zh-TW" sz="2600">
                <a:latin typeface="Arial"/>
                <a:cs typeface="Arial"/>
              </a:rPr>
              <a:t>feature</a:t>
            </a:r>
            <a:r>
              <a:rPr lang="en-US" altLang="zh-TW" sz="2600" spc="180">
                <a:latin typeface="Arial"/>
                <a:cs typeface="Arial"/>
              </a:rPr>
              <a:t> </a:t>
            </a:r>
            <a:r>
              <a:rPr lang="en-US" altLang="zh-TW" sz="2600" spc="-10">
                <a:latin typeface="Arial"/>
                <a:cs typeface="Arial"/>
              </a:rPr>
              <a:t>separation.</a:t>
            </a:r>
            <a:endParaRPr lang="zh-TW" alt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3126F52-CFF5-405B-B74E-130AA5B520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4B80030-0A7D-BDEC-85A4-3D3A96F36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912759"/>
              </p:ext>
            </p:extLst>
          </p:nvPr>
        </p:nvGraphicFramePr>
        <p:xfrm>
          <a:off x="742952" y="3442601"/>
          <a:ext cx="16263253" cy="3709143"/>
        </p:xfrm>
        <a:graphic>
          <a:graphicData uri="http://schemas.openxmlformats.org/drawingml/2006/table">
            <a:tbl>
              <a:tblPr bandRow="1">
                <a:tableStyleId>{68D230F3-CF80-4859-8CE7-A43EE81993B5}</a:tableStyleId>
              </a:tblPr>
              <a:tblGrid>
                <a:gridCol w="2385277">
                  <a:extLst>
                    <a:ext uri="{9D8B030D-6E8A-4147-A177-3AD203B41FA5}">
                      <a16:colId xmlns:a16="http://schemas.microsoft.com/office/drawing/2014/main" val="309775402"/>
                    </a:ext>
                  </a:extLst>
                </a:gridCol>
                <a:gridCol w="1982568">
                  <a:extLst>
                    <a:ext uri="{9D8B030D-6E8A-4147-A177-3AD203B41FA5}">
                      <a16:colId xmlns:a16="http://schemas.microsoft.com/office/drawing/2014/main" val="1946452707"/>
                    </a:ext>
                  </a:extLst>
                </a:gridCol>
                <a:gridCol w="1982568">
                  <a:extLst>
                    <a:ext uri="{9D8B030D-6E8A-4147-A177-3AD203B41FA5}">
                      <a16:colId xmlns:a16="http://schemas.microsoft.com/office/drawing/2014/main" val="2892807719"/>
                    </a:ext>
                  </a:extLst>
                </a:gridCol>
                <a:gridCol w="1982568">
                  <a:extLst>
                    <a:ext uri="{9D8B030D-6E8A-4147-A177-3AD203B41FA5}">
                      <a16:colId xmlns:a16="http://schemas.microsoft.com/office/drawing/2014/main" val="3427823577"/>
                    </a:ext>
                  </a:extLst>
                </a:gridCol>
                <a:gridCol w="1982568">
                  <a:extLst>
                    <a:ext uri="{9D8B030D-6E8A-4147-A177-3AD203B41FA5}">
                      <a16:colId xmlns:a16="http://schemas.microsoft.com/office/drawing/2014/main" val="2672151497"/>
                    </a:ext>
                  </a:extLst>
                </a:gridCol>
                <a:gridCol w="1982568">
                  <a:extLst>
                    <a:ext uri="{9D8B030D-6E8A-4147-A177-3AD203B41FA5}">
                      <a16:colId xmlns:a16="http://schemas.microsoft.com/office/drawing/2014/main" val="3915231341"/>
                    </a:ext>
                  </a:extLst>
                </a:gridCol>
                <a:gridCol w="1982568">
                  <a:extLst>
                    <a:ext uri="{9D8B030D-6E8A-4147-A177-3AD203B41FA5}">
                      <a16:colId xmlns:a16="http://schemas.microsoft.com/office/drawing/2014/main" val="3956108685"/>
                    </a:ext>
                  </a:extLst>
                </a:gridCol>
                <a:gridCol w="1982568">
                  <a:extLst>
                    <a:ext uri="{9D8B030D-6E8A-4147-A177-3AD203B41FA5}">
                      <a16:colId xmlns:a16="http://schemas.microsoft.com/office/drawing/2014/main" val="1857147011"/>
                    </a:ext>
                  </a:extLst>
                </a:gridCol>
              </a:tblGrid>
              <a:tr h="816429"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 dirty="0">
                          <a:solidFill>
                            <a:srgbClr val="000000"/>
                          </a:solidFill>
                          <a:effectLst/>
                        </a:rPr>
                        <a:t>Method​</a:t>
                      </a:r>
                      <a:endParaRPr lang="af-ZA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 dirty="0">
                          <a:solidFill>
                            <a:srgbClr val="000000"/>
                          </a:solidFill>
                          <a:effectLst/>
                        </a:rPr>
                        <a:t>LFW​</a:t>
                      </a:r>
                      <a:endParaRPr lang="af-ZA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 dirty="0">
                          <a:solidFill>
                            <a:srgbClr val="000000"/>
                          </a:solidFill>
                          <a:effectLst/>
                        </a:rPr>
                        <a:t>CFPFP​</a:t>
                      </a:r>
                      <a:endParaRPr lang="af-ZA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>
                          <a:solidFill>
                            <a:srgbClr val="000000"/>
                          </a:solidFill>
                          <a:effectLst/>
                        </a:rPr>
                        <a:t>AgeDB-30​</a:t>
                      </a:r>
                      <a:endParaRPr lang="af-Z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 dirty="0">
                          <a:solidFill>
                            <a:srgbClr val="000000"/>
                          </a:solidFill>
                          <a:effectLst/>
                        </a:rPr>
                        <a:t>CALFW​</a:t>
                      </a:r>
                      <a:endParaRPr lang="af-ZA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>
                          <a:solidFill>
                            <a:srgbClr val="000000"/>
                          </a:solidFill>
                          <a:effectLst/>
                        </a:rPr>
                        <a:t>CPLFW​</a:t>
                      </a:r>
                      <a:endParaRPr lang="af-Z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>
                          <a:solidFill>
                            <a:srgbClr val="000000"/>
                          </a:solidFill>
                          <a:effectLst/>
                        </a:rPr>
                        <a:t>IJB-C (1e-4)​</a:t>
                      </a:r>
                      <a:endParaRPr lang="af-Z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>
                          <a:solidFill>
                            <a:srgbClr val="000000"/>
                          </a:solidFill>
                          <a:effectLst/>
                        </a:rPr>
                        <a:t>IJB-C (1e-5)​</a:t>
                      </a:r>
                      <a:endParaRPr lang="af-Z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619865"/>
                  </a:ext>
                </a:extLst>
              </a:tr>
              <a:tr h="1446357"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 dirty="0">
                          <a:solidFill>
                            <a:srgbClr val="000000"/>
                          </a:solidFill>
                          <a:effectLst/>
                        </a:rPr>
                        <a:t>MFN + ArcFace​</a:t>
                      </a:r>
                      <a:endParaRPr lang="af-ZA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99.52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91.66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95.82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95.12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87.93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89.13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81.65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7829702"/>
                  </a:ext>
                </a:extLst>
              </a:tr>
              <a:tr h="1446357">
                <a:tc>
                  <a:txBody>
                    <a:bodyPr/>
                    <a:lstStyle/>
                    <a:p>
                      <a:pPr algn="ctr" fontAlgn="base"/>
                      <a:r>
                        <a:rPr lang="af-ZA" sz="2400" b="0">
                          <a:solidFill>
                            <a:srgbClr val="000000"/>
                          </a:solidFill>
                          <a:effectLst/>
                        </a:rPr>
                        <a:t>MFN + AdaFace ​</a:t>
                      </a:r>
                      <a:endParaRPr lang="af-ZA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>
                          <a:solidFill>
                            <a:srgbClr val="000000"/>
                          </a:solidFill>
                          <a:effectLst/>
                        </a:rPr>
                        <a:t>99.57</a:t>
                      </a:r>
                      <a:r>
                        <a:rPr lang="en-US" altLang="zh-TW" sz="24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>
                          <a:solidFill>
                            <a:srgbClr val="000000"/>
                          </a:solidFill>
                          <a:effectLst/>
                        </a:rPr>
                        <a:t>92.43</a:t>
                      </a:r>
                      <a:r>
                        <a:rPr lang="en-US" altLang="zh-TW" sz="24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>
                          <a:solidFill>
                            <a:srgbClr val="000000"/>
                          </a:solidFill>
                          <a:effectLst/>
                        </a:rPr>
                        <a:t>96.07</a:t>
                      </a:r>
                      <a:r>
                        <a:rPr lang="en-US" altLang="zh-TW" sz="24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>
                          <a:solidFill>
                            <a:srgbClr val="000000"/>
                          </a:solidFill>
                          <a:effectLst/>
                        </a:rPr>
                        <a:t>95.32</a:t>
                      </a:r>
                      <a:r>
                        <a:rPr lang="en-US" altLang="zh-TW" sz="2400" b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88.46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90.21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400" b="0" dirty="0">
                          <a:solidFill>
                            <a:srgbClr val="000000"/>
                          </a:solidFill>
                          <a:effectLst/>
                        </a:rPr>
                        <a:t>83.78</a:t>
                      </a:r>
                      <a:r>
                        <a:rPr lang="en-US" altLang="zh-TW" sz="2400" b="0" dirty="0">
                          <a:solidFill>
                            <a:srgbClr val="000000"/>
                          </a:solidFill>
                          <a:effectLst/>
                        </a:rPr>
                        <a:t>​</a:t>
                      </a:r>
                      <a:endParaRPr lang="en-US" altLang="zh-TW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7314747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8F6F178D-3086-95B0-8C45-970985C1E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  <p:sp>
        <p:nvSpPr>
          <p:cNvPr id="7" name="object 8" descr="$PPTXTitle">
            <a:extLst>
              <a:ext uri="{FF2B5EF4-FFF2-40B4-BE49-F238E27FC236}">
                <a16:creationId xmlns:a16="http://schemas.microsoft.com/office/drawing/2014/main" id="{36D8C5C5-E589-089D-E277-DD18340A3CA7}"/>
              </a:ext>
            </a:extLst>
          </p:cNvPr>
          <p:cNvSpPr txBox="1">
            <a:spLocks/>
          </p:cNvSpPr>
          <p:nvPr/>
        </p:nvSpPr>
        <p:spPr>
          <a:xfrm>
            <a:off x="742952" y="909948"/>
            <a:ext cx="15727680" cy="728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650" spc="70" dirty="0">
                <a:solidFill>
                  <a:srgbClr val="083456"/>
                </a:solidFill>
                <a:latin typeface="Cambria"/>
              </a:rPr>
              <a:t>Comparison: </a:t>
            </a:r>
            <a:r>
              <a:rPr lang="en-US" sz="4650" spc="70" dirty="0" err="1">
                <a:solidFill>
                  <a:srgbClr val="083456"/>
                </a:solidFill>
                <a:latin typeface="Cambria"/>
              </a:rPr>
              <a:t>ArcFace</a:t>
            </a:r>
            <a:r>
              <a:rPr lang="en-US" sz="4650" spc="70" dirty="0">
                <a:solidFill>
                  <a:srgbClr val="083456"/>
                </a:solidFill>
                <a:latin typeface="Cambria"/>
              </a:rPr>
              <a:t> vs </a:t>
            </a:r>
            <a:r>
              <a:rPr lang="en-US" sz="4650" spc="70" dirty="0" err="1">
                <a:solidFill>
                  <a:srgbClr val="083456"/>
                </a:solidFill>
                <a:latin typeface="Cambria"/>
              </a:rPr>
              <a:t>AdaFace</a:t>
            </a:r>
            <a:endParaRPr lang="en-US" sz="4650" spc="70" dirty="0">
              <a:solidFill>
                <a:srgbClr val="083456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27400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85200"/>
            <a:ext cx="17475200" cy="116840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45306" y="474454"/>
            <a:ext cx="15984219" cy="1808056"/>
          </a:xfrm>
          <a:prstGeom prst="rect">
            <a:avLst/>
          </a:prstGeom>
        </p:spPr>
        <p:txBody>
          <a:bodyPr vert="horz" wrap="square" lIns="0" tIns="84031" rIns="0" bIns="0" rtlCol="0">
            <a:spAutoFit/>
          </a:bodyPr>
          <a:lstStyle/>
          <a:p>
            <a:pPr marL="20955">
              <a:lnSpc>
                <a:spcPts val="6645"/>
              </a:lnSpc>
              <a:spcBef>
                <a:spcPts val="120"/>
              </a:spcBef>
            </a:pPr>
            <a:r>
              <a:rPr sz="5950" dirty="0">
                <a:solidFill>
                  <a:srgbClr val="033152"/>
                </a:solidFill>
              </a:rPr>
              <a:t>The</a:t>
            </a:r>
            <a:r>
              <a:rPr sz="5950" spc="-120" dirty="0">
                <a:solidFill>
                  <a:srgbClr val="033152"/>
                </a:solidFill>
              </a:rPr>
              <a:t> </a:t>
            </a:r>
            <a:r>
              <a:rPr sz="5950" dirty="0">
                <a:solidFill>
                  <a:srgbClr val="072F4F"/>
                </a:solidFill>
              </a:rPr>
              <a:t>Exam</a:t>
            </a:r>
            <a:r>
              <a:rPr sz="5950" spc="70" dirty="0">
                <a:solidFill>
                  <a:srgbClr val="072F4F"/>
                </a:solidFill>
              </a:rPr>
              <a:t> </a:t>
            </a:r>
            <a:r>
              <a:rPr sz="5950" dirty="0">
                <a:solidFill>
                  <a:srgbClr val="012F50"/>
                </a:solidFill>
              </a:rPr>
              <a:t>Adapts,</a:t>
            </a:r>
            <a:r>
              <a:rPr sz="5950" spc="75" dirty="0">
                <a:solidFill>
                  <a:srgbClr val="012F50"/>
                </a:solidFill>
              </a:rPr>
              <a:t> </a:t>
            </a:r>
            <a:r>
              <a:rPr sz="5950" dirty="0">
                <a:solidFill>
                  <a:srgbClr val="033157"/>
                </a:solidFill>
              </a:rPr>
              <a:t>Part</a:t>
            </a:r>
            <a:r>
              <a:rPr sz="5950" spc="80" dirty="0">
                <a:solidFill>
                  <a:srgbClr val="033157"/>
                </a:solidFill>
              </a:rPr>
              <a:t> </a:t>
            </a:r>
            <a:r>
              <a:rPr sz="5950" dirty="0">
                <a:solidFill>
                  <a:srgbClr val="073459"/>
                </a:solidFill>
              </a:rPr>
              <a:t>2:</a:t>
            </a:r>
            <a:r>
              <a:rPr sz="5950" spc="-270" dirty="0">
                <a:solidFill>
                  <a:srgbClr val="073459"/>
                </a:solidFill>
              </a:rPr>
              <a:t> </a:t>
            </a:r>
            <a:r>
              <a:rPr sz="5950" spc="70" dirty="0">
                <a:solidFill>
                  <a:srgbClr val="032A4D"/>
                </a:solidFill>
              </a:rPr>
              <a:t>Getting</a:t>
            </a:r>
            <a:r>
              <a:rPr sz="5950" spc="305" dirty="0">
                <a:solidFill>
                  <a:srgbClr val="032A4D"/>
                </a:solidFill>
              </a:rPr>
              <a:t> </a:t>
            </a:r>
            <a:r>
              <a:rPr sz="5950" dirty="0">
                <a:solidFill>
                  <a:srgbClr val="053154"/>
                </a:solidFill>
              </a:rPr>
              <a:t>Stricter</a:t>
            </a:r>
            <a:r>
              <a:rPr sz="5950" spc="105" dirty="0">
                <a:solidFill>
                  <a:srgbClr val="053154"/>
                </a:solidFill>
              </a:rPr>
              <a:t> </a:t>
            </a:r>
            <a:r>
              <a:rPr sz="5950" spc="-20" dirty="0">
                <a:solidFill>
                  <a:srgbClr val="053156"/>
                </a:solidFill>
              </a:rPr>
              <a:t>When</a:t>
            </a:r>
            <a:endParaRPr sz="5950" dirty="0"/>
          </a:p>
          <a:p>
            <a:pPr marL="31115">
              <a:lnSpc>
                <a:spcPts val="6825"/>
              </a:lnSpc>
            </a:pPr>
            <a:r>
              <a:rPr sz="6100" dirty="0">
                <a:solidFill>
                  <a:srgbClr val="0A3659"/>
                </a:solidFill>
              </a:rPr>
              <a:t>the</a:t>
            </a:r>
            <a:r>
              <a:rPr sz="6100" spc="-335" dirty="0">
                <a:solidFill>
                  <a:srgbClr val="0A3659"/>
                </a:solidFill>
              </a:rPr>
              <a:t> </a:t>
            </a:r>
            <a:r>
              <a:rPr sz="6100" spc="-10" dirty="0">
                <a:solidFill>
                  <a:srgbClr val="032B4F"/>
                </a:solidFill>
              </a:rPr>
              <a:t>Student</a:t>
            </a:r>
            <a:r>
              <a:rPr sz="6100" spc="-80" dirty="0">
                <a:solidFill>
                  <a:srgbClr val="032B4F"/>
                </a:solidFill>
              </a:rPr>
              <a:t> </a:t>
            </a:r>
            <a:r>
              <a:rPr sz="6100" spc="-60" dirty="0">
                <a:solidFill>
                  <a:srgbClr val="032A4F"/>
                </a:solidFill>
              </a:rPr>
              <a:t>Falls</a:t>
            </a:r>
            <a:r>
              <a:rPr sz="6100" spc="-275" dirty="0">
                <a:solidFill>
                  <a:srgbClr val="032A4F"/>
                </a:solidFill>
              </a:rPr>
              <a:t> </a:t>
            </a:r>
            <a:r>
              <a:rPr sz="6100" spc="-10" dirty="0">
                <a:solidFill>
                  <a:srgbClr val="032D50"/>
                </a:solidFill>
              </a:rPr>
              <a:t>Behind</a:t>
            </a:r>
            <a:endParaRPr sz="6100" dirty="0"/>
          </a:p>
        </p:txBody>
      </p:sp>
      <p:sp>
        <p:nvSpPr>
          <p:cNvPr id="8" name="object 8"/>
          <p:cNvSpPr txBox="1"/>
          <p:nvPr/>
        </p:nvSpPr>
        <p:spPr>
          <a:xfrm>
            <a:off x="716397" y="2651285"/>
            <a:ext cx="12787630" cy="185673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-20" dirty="0">
                <a:latin typeface="Arial"/>
                <a:cs typeface="Arial"/>
              </a:rPr>
              <a:t>Image</a:t>
            </a:r>
            <a:r>
              <a:rPr sz="2750" spc="-3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quality</a:t>
            </a:r>
            <a:r>
              <a:rPr sz="2750" spc="-1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isn't</a:t>
            </a:r>
            <a:r>
              <a:rPr sz="2750" spc="-1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9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only</a:t>
            </a:r>
            <a:r>
              <a:rPr sz="2750" spc="2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factor.</a:t>
            </a:r>
            <a:r>
              <a:rPr sz="2750" spc="-85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What</a:t>
            </a:r>
            <a:r>
              <a:rPr sz="2750" spc="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if</a:t>
            </a:r>
            <a:r>
              <a:rPr sz="2750" spc="1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8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student</a:t>
            </a:r>
            <a:r>
              <a:rPr sz="2750" spc="3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is</a:t>
            </a:r>
            <a:r>
              <a:rPr sz="2750" spc="-10" dirty="0">
                <a:latin typeface="Arial"/>
                <a:cs typeface="Arial"/>
              </a:rPr>
              <a:t> </a:t>
            </a:r>
            <a:r>
              <a:rPr sz="2750" spc="-20" dirty="0">
                <a:latin typeface="Arial"/>
                <a:cs typeface="Arial"/>
              </a:rPr>
              <a:t>simply </a:t>
            </a:r>
            <a:r>
              <a:rPr sz="2750" dirty="0">
                <a:latin typeface="Arial"/>
                <a:cs typeface="Arial"/>
              </a:rPr>
              <a:t>learning</a:t>
            </a:r>
            <a:r>
              <a:rPr sz="2750" spc="-45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incorrectly?</a:t>
            </a:r>
            <a:endParaRPr sz="2750" dirty="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900"/>
              </a:spcBef>
            </a:pPr>
            <a:r>
              <a:rPr sz="3750" dirty="0">
                <a:solidFill>
                  <a:srgbClr val="082A46"/>
                </a:solidFill>
                <a:latin typeface="Cambria"/>
                <a:cs typeface="Cambria"/>
              </a:rPr>
              <a:t>Introducing</a:t>
            </a:r>
            <a:r>
              <a:rPr sz="3750" spc="415" dirty="0">
                <a:solidFill>
                  <a:srgbClr val="082A46"/>
                </a:solidFill>
                <a:latin typeface="Cambria"/>
                <a:cs typeface="Cambria"/>
              </a:rPr>
              <a:t> </a:t>
            </a:r>
            <a:r>
              <a:rPr sz="3750" dirty="0">
                <a:solidFill>
                  <a:srgbClr val="082844"/>
                </a:solidFill>
                <a:latin typeface="Cambria"/>
                <a:cs typeface="Cambria"/>
              </a:rPr>
              <a:t>the</a:t>
            </a:r>
            <a:r>
              <a:rPr sz="3750" spc="-20" dirty="0">
                <a:solidFill>
                  <a:srgbClr val="082844"/>
                </a:solidFill>
                <a:latin typeface="Cambria"/>
                <a:cs typeface="Cambria"/>
              </a:rPr>
              <a:t> </a:t>
            </a:r>
            <a:r>
              <a:rPr sz="3750" dirty="0">
                <a:solidFill>
                  <a:srgbClr val="0A2D4D"/>
                </a:solidFill>
                <a:latin typeface="Cambria"/>
                <a:cs typeface="Cambria"/>
              </a:rPr>
              <a:t>Geometry-Aware</a:t>
            </a:r>
            <a:r>
              <a:rPr sz="3750" spc="-140" dirty="0">
                <a:solidFill>
                  <a:srgbClr val="0A2D4D"/>
                </a:solidFill>
                <a:latin typeface="Cambria"/>
                <a:cs typeface="Cambria"/>
              </a:rPr>
              <a:t> </a:t>
            </a:r>
            <a:r>
              <a:rPr sz="3750" spc="-10" dirty="0">
                <a:solidFill>
                  <a:srgbClr val="0C2D50"/>
                </a:solidFill>
                <a:latin typeface="Cambria"/>
                <a:cs typeface="Cambria"/>
              </a:rPr>
              <a:t>Margin</a:t>
            </a:r>
            <a:endParaRPr sz="3750" dirty="0">
              <a:latin typeface="Cambria"/>
              <a:cs typeface="Cambria"/>
            </a:endParaRPr>
          </a:p>
          <a:p>
            <a:pPr marL="28575">
              <a:lnSpc>
                <a:spcPct val="100000"/>
              </a:lnSpc>
              <a:spcBef>
                <a:spcPts val="450"/>
              </a:spcBef>
            </a:pPr>
            <a:r>
              <a:rPr sz="2700" spc="-100" dirty="0">
                <a:latin typeface="Arial"/>
                <a:cs typeface="Arial"/>
              </a:rPr>
              <a:t>We</a:t>
            </a:r>
            <a:r>
              <a:rPr sz="2700" spc="2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add</a:t>
            </a:r>
            <a:r>
              <a:rPr sz="2700" spc="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a</a:t>
            </a:r>
            <a:r>
              <a:rPr sz="2700" spc="1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penalty</a:t>
            </a:r>
            <a:r>
              <a:rPr sz="2700" spc="1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based</a:t>
            </a:r>
            <a:r>
              <a:rPr sz="2700" spc="150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on</a:t>
            </a:r>
            <a:r>
              <a:rPr sz="2700" spc="-10" dirty="0">
                <a:latin typeface="Arial"/>
                <a:cs typeface="Arial"/>
              </a:rPr>
              <a:t> </a:t>
            </a:r>
            <a:r>
              <a:rPr sz="2700" spc="70" dirty="0">
                <a:latin typeface="Arial"/>
                <a:cs typeface="Arial"/>
              </a:rPr>
              <a:t>the</a:t>
            </a:r>
            <a:r>
              <a:rPr sz="2700" spc="35" dirty="0">
                <a:latin typeface="Arial"/>
                <a:cs typeface="Arial"/>
              </a:rPr>
              <a:t> </a:t>
            </a:r>
            <a:r>
              <a:rPr sz="2700" dirty="0">
                <a:latin typeface="Arial"/>
                <a:cs typeface="Arial"/>
              </a:rPr>
              <a:t>student-teacher</a:t>
            </a:r>
            <a:r>
              <a:rPr sz="2700" spc="-25" dirty="0">
                <a:latin typeface="Arial"/>
                <a:cs typeface="Arial"/>
              </a:rPr>
              <a:t> </a:t>
            </a:r>
            <a:r>
              <a:rPr sz="2700" spc="-10" dirty="0">
                <a:latin typeface="Arial"/>
                <a:cs typeface="Arial"/>
              </a:rPr>
              <a:t>disagreement.</a:t>
            </a:r>
            <a:endParaRPr sz="2700" dirty="0">
              <a:latin typeface="Arial"/>
              <a:cs typeface="Arial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68C8268E-4011-421A-8B81-C25E2134B770}"/>
              </a:ext>
            </a:extLst>
          </p:cNvPr>
          <p:cNvGrpSpPr/>
          <p:nvPr/>
        </p:nvGrpSpPr>
        <p:grpSpPr>
          <a:xfrm>
            <a:off x="1203583" y="4876800"/>
            <a:ext cx="15068034" cy="2751768"/>
            <a:chOff x="1203583" y="3530357"/>
            <a:chExt cx="15068034" cy="2751768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04027" y="3530357"/>
              <a:ext cx="1079500" cy="914400"/>
            </a:xfrm>
            <a:prstGeom prst="rect">
              <a:avLst/>
            </a:prstGeom>
          </p:spPr>
        </p:pic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E681483F-2876-4F0B-A7E8-70876D995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3583" y="4445165"/>
              <a:ext cx="15068034" cy="1836960"/>
            </a:xfrm>
            <a:prstGeom prst="rect">
              <a:avLst/>
            </a:prstGeom>
          </p:spPr>
        </p:pic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F0FE7017-84FC-470B-95FD-1E7C6775F2C3}"/>
              </a:ext>
            </a:extLst>
          </p:cNvPr>
          <p:cNvSpPr/>
          <p:nvPr/>
        </p:nvSpPr>
        <p:spPr>
          <a:xfrm>
            <a:off x="703715" y="8719215"/>
            <a:ext cx="16268103" cy="91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320" marR="31750" lvl="0" indent="-8255" defTabSz="914400" eaLnBrk="1" fontAlgn="auto" latinLnBrk="0" hangingPunct="1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700" b="1" spc="45" dirty="0">
                <a:latin typeface="Arial"/>
                <a:cs typeface="Arial"/>
              </a:rPr>
              <a:t>Impact:</a:t>
            </a:r>
            <a:r>
              <a:rPr lang="en-US" altLang="zh-TW" sz="2700" b="1" spc="-4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This</a:t>
            </a:r>
            <a:r>
              <a:rPr lang="en-US" altLang="zh-TW" sz="2700" spc="20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provides</a:t>
            </a:r>
            <a:r>
              <a:rPr lang="en-US" altLang="zh-TW" sz="2700" spc="13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a</a:t>
            </a:r>
            <a:r>
              <a:rPr lang="en-US" altLang="zh-TW" sz="2700" spc="40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second</a:t>
            </a:r>
            <a:r>
              <a:rPr lang="en-US" altLang="zh-TW" sz="2700" spc="-3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layer</a:t>
            </a:r>
            <a:r>
              <a:rPr lang="en-US" altLang="zh-TW" sz="2700" spc="13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of</a:t>
            </a:r>
            <a:r>
              <a:rPr lang="en-US" altLang="zh-TW" sz="2700" spc="3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adaptation.</a:t>
            </a:r>
            <a:r>
              <a:rPr lang="en-US" altLang="zh-TW" sz="2700" spc="90" dirty="0">
                <a:latin typeface="Arial"/>
                <a:cs typeface="Arial"/>
              </a:rPr>
              <a:t> </a:t>
            </a:r>
            <a:r>
              <a:rPr lang="en-US" altLang="zh-TW" sz="2700" spc="-60" dirty="0">
                <a:latin typeface="Arial"/>
                <a:cs typeface="Arial"/>
              </a:rPr>
              <a:t>Even</a:t>
            </a:r>
            <a:r>
              <a:rPr lang="en-US" altLang="zh-TW" sz="2700" spc="4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for</a:t>
            </a:r>
            <a:r>
              <a:rPr lang="en-US" altLang="zh-TW" sz="2700" spc="85" dirty="0">
                <a:latin typeface="Arial"/>
                <a:cs typeface="Arial"/>
              </a:rPr>
              <a:t> </a:t>
            </a:r>
            <a:r>
              <a:rPr lang="en-US" altLang="zh-TW" sz="2700" spc="-254" dirty="0">
                <a:latin typeface="Arial"/>
                <a:cs typeface="Arial"/>
              </a:rPr>
              <a:t>a</a:t>
            </a:r>
            <a:r>
              <a:rPr lang="en-US" altLang="zh-TW" sz="2700" spc="70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medium-quality</a:t>
            </a:r>
            <a:r>
              <a:rPr lang="en-US" altLang="zh-TW" sz="2700" spc="-130" dirty="0">
                <a:latin typeface="Arial"/>
                <a:cs typeface="Arial"/>
              </a:rPr>
              <a:t> </a:t>
            </a:r>
            <a:r>
              <a:rPr lang="en-US" altLang="zh-TW" sz="2700" spc="-10" dirty="0">
                <a:latin typeface="Arial"/>
                <a:cs typeface="Arial"/>
              </a:rPr>
              <a:t>image,</a:t>
            </a:r>
            <a:r>
              <a:rPr lang="en-US" altLang="zh-TW" sz="2700" spc="-55" dirty="0">
                <a:latin typeface="Arial"/>
                <a:cs typeface="Arial"/>
              </a:rPr>
              <a:t> </a:t>
            </a:r>
            <a:r>
              <a:rPr lang="en-US" altLang="zh-TW" sz="2700" spc="50" dirty="0">
                <a:latin typeface="Arial"/>
                <a:cs typeface="Arial"/>
              </a:rPr>
              <a:t>if</a:t>
            </a:r>
            <a:r>
              <a:rPr lang="en-US" altLang="zh-TW" sz="2700" spc="-30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the</a:t>
            </a:r>
            <a:r>
              <a:rPr lang="en-US" altLang="zh-TW" sz="2700" spc="80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student</a:t>
            </a:r>
            <a:r>
              <a:rPr lang="en-US" altLang="zh-TW" sz="2700" spc="204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is</a:t>
            </a:r>
            <a:r>
              <a:rPr lang="en-US" altLang="zh-TW" sz="2700" spc="-95" dirty="0">
                <a:latin typeface="Arial"/>
                <a:cs typeface="Arial"/>
              </a:rPr>
              <a:t> </a:t>
            </a:r>
            <a:r>
              <a:rPr lang="en-US" altLang="zh-TW" sz="2700" spc="-25" dirty="0">
                <a:latin typeface="Arial"/>
                <a:cs typeface="Arial"/>
              </a:rPr>
              <a:t>far </a:t>
            </a:r>
            <a:r>
              <a:rPr lang="en-US" altLang="zh-TW" sz="2700" spc="75" dirty="0">
                <a:latin typeface="Arial"/>
                <a:cs typeface="Arial"/>
              </a:rPr>
              <a:t>off</a:t>
            </a:r>
            <a:r>
              <a:rPr lang="en-US" altLang="zh-TW" sz="2700" spc="-1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track,</a:t>
            </a:r>
            <a:r>
              <a:rPr lang="en-US" altLang="zh-TW" sz="2700" spc="40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the</a:t>
            </a:r>
            <a:r>
              <a:rPr lang="en-US" altLang="zh-TW" sz="2700" spc="-3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learning</a:t>
            </a:r>
            <a:r>
              <a:rPr lang="en-US" altLang="zh-TW" sz="2700" spc="15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challenge</a:t>
            </a:r>
            <a:r>
              <a:rPr lang="en-US" altLang="zh-TW" sz="2700" spc="50" dirty="0">
                <a:latin typeface="Arial"/>
                <a:cs typeface="Arial"/>
              </a:rPr>
              <a:t> </a:t>
            </a:r>
            <a:r>
              <a:rPr lang="en-US" altLang="zh-TW" sz="2700" dirty="0">
                <a:latin typeface="Arial"/>
                <a:cs typeface="Arial"/>
              </a:rPr>
              <a:t>is</a:t>
            </a:r>
            <a:r>
              <a:rPr lang="en-US" altLang="zh-TW" sz="2700" spc="-65" dirty="0">
                <a:latin typeface="Arial"/>
                <a:cs typeface="Arial"/>
              </a:rPr>
              <a:t> </a:t>
            </a:r>
            <a:r>
              <a:rPr lang="en-US" altLang="zh-TW" sz="2700" spc="-10" dirty="0">
                <a:latin typeface="Arial"/>
                <a:cs typeface="Arial"/>
              </a:rPr>
              <a:t>intensified.</a:t>
            </a:r>
            <a:endParaRPr lang="en-US" altLang="zh-TW" sz="27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DD13B67-5387-4D6E-F188-6EFAC6DB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008" b="4727"/>
          <a:stretch/>
        </p:blipFill>
        <p:spPr>
          <a:xfrm>
            <a:off x="342133" y="2703246"/>
            <a:ext cx="16790934" cy="6417129"/>
          </a:xfrm>
          <a:prstGeom prst="rect">
            <a:avLst/>
          </a:prstGeom>
        </p:spPr>
      </p:pic>
      <p:sp>
        <p:nvSpPr>
          <p:cNvPr id="4" name="object 7" descr="$PPTXTitle">
            <a:extLst>
              <a:ext uri="{FF2B5EF4-FFF2-40B4-BE49-F238E27FC236}">
                <a16:creationId xmlns:a16="http://schemas.microsoft.com/office/drawing/2014/main" id="{7B7B331E-84EB-D829-B55E-7786420A0BCA}"/>
              </a:ext>
            </a:extLst>
          </p:cNvPr>
          <p:cNvSpPr txBox="1">
            <a:spLocks/>
          </p:cNvSpPr>
          <p:nvPr/>
        </p:nvSpPr>
        <p:spPr>
          <a:xfrm>
            <a:off x="845306" y="474454"/>
            <a:ext cx="15984219" cy="1808056"/>
          </a:xfrm>
          <a:prstGeom prst="rect">
            <a:avLst/>
          </a:prstGeom>
        </p:spPr>
        <p:txBody>
          <a:bodyPr vert="horz" wrap="square" lIns="0" tIns="84031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20955">
              <a:lnSpc>
                <a:spcPts val="6645"/>
              </a:lnSpc>
              <a:spcBef>
                <a:spcPts val="120"/>
              </a:spcBef>
            </a:pPr>
            <a:r>
              <a:rPr lang="en-US" sz="5950">
                <a:solidFill>
                  <a:srgbClr val="033152"/>
                </a:solidFill>
              </a:rPr>
              <a:t>The</a:t>
            </a:r>
            <a:r>
              <a:rPr lang="en-US" sz="5950" spc="-120">
                <a:solidFill>
                  <a:srgbClr val="033152"/>
                </a:solidFill>
              </a:rPr>
              <a:t> </a:t>
            </a:r>
            <a:r>
              <a:rPr lang="en-US" sz="5950">
                <a:solidFill>
                  <a:srgbClr val="072F4F"/>
                </a:solidFill>
              </a:rPr>
              <a:t>Exam</a:t>
            </a:r>
            <a:r>
              <a:rPr lang="en-US" sz="5950" spc="70">
                <a:solidFill>
                  <a:srgbClr val="072F4F"/>
                </a:solidFill>
              </a:rPr>
              <a:t> </a:t>
            </a:r>
            <a:r>
              <a:rPr lang="en-US" sz="5950">
                <a:solidFill>
                  <a:srgbClr val="012F50"/>
                </a:solidFill>
              </a:rPr>
              <a:t>Adapts,</a:t>
            </a:r>
            <a:r>
              <a:rPr lang="en-US" sz="5950" spc="75">
                <a:solidFill>
                  <a:srgbClr val="012F50"/>
                </a:solidFill>
              </a:rPr>
              <a:t> </a:t>
            </a:r>
            <a:r>
              <a:rPr lang="en-US" sz="5950">
                <a:solidFill>
                  <a:srgbClr val="033157"/>
                </a:solidFill>
              </a:rPr>
              <a:t>Part</a:t>
            </a:r>
            <a:r>
              <a:rPr lang="en-US" sz="5950" spc="80">
                <a:solidFill>
                  <a:srgbClr val="033157"/>
                </a:solidFill>
              </a:rPr>
              <a:t> </a:t>
            </a:r>
            <a:r>
              <a:rPr lang="en-US" sz="5950">
                <a:solidFill>
                  <a:srgbClr val="073459"/>
                </a:solidFill>
              </a:rPr>
              <a:t>2:</a:t>
            </a:r>
            <a:r>
              <a:rPr lang="en-US" sz="5950" spc="-270">
                <a:solidFill>
                  <a:srgbClr val="073459"/>
                </a:solidFill>
              </a:rPr>
              <a:t> </a:t>
            </a:r>
            <a:r>
              <a:rPr lang="en-US" sz="5950" spc="70">
                <a:solidFill>
                  <a:srgbClr val="032A4D"/>
                </a:solidFill>
              </a:rPr>
              <a:t>Getting</a:t>
            </a:r>
            <a:r>
              <a:rPr lang="en-US" sz="5950" spc="305">
                <a:solidFill>
                  <a:srgbClr val="032A4D"/>
                </a:solidFill>
              </a:rPr>
              <a:t> </a:t>
            </a:r>
            <a:r>
              <a:rPr lang="en-US" sz="5950">
                <a:solidFill>
                  <a:srgbClr val="053154"/>
                </a:solidFill>
              </a:rPr>
              <a:t>Stricter</a:t>
            </a:r>
            <a:r>
              <a:rPr lang="en-US" sz="5950" spc="105">
                <a:solidFill>
                  <a:srgbClr val="053154"/>
                </a:solidFill>
              </a:rPr>
              <a:t> </a:t>
            </a:r>
            <a:r>
              <a:rPr lang="en-US" sz="5950" spc="-20">
                <a:solidFill>
                  <a:srgbClr val="053156"/>
                </a:solidFill>
              </a:rPr>
              <a:t>When</a:t>
            </a:r>
            <a:endParaRPr lang="en-US" sz="5950"/>
          </a:p>
          <a:p>
            <a:pPr marL="31115">
              <a:lnSpc>
                <a:spcPts val="6825"/>
              </a:lnSpc>
            </a:pPr>
            <a:r>
              <a:rPr lang="en-US" sz="6100">
                <a:solidFill>
                  <a:srgbClr val="0A3659"/>
                </a:solidFill>
              </a:rPr>
              <a:t>the</a:t>
            </a:r>
            <a:r>
              <a:rPr lang="en-US" sz="6100" spc="-335">
                <a:solidFill>
                  <a:srgbClr val="0A3659"/>
                </a:solidFill>
              </a:rPr>
              <a:t> </a:t>
            </a:r>
            <a:r>
              <a:rPr lang="en-US" sz="6100" spc="-10">
                <a:solidFill>
                  <a:srgbClr val="032B4F"/>
                </a:solidFill>
              </a:rPr>
              <a:t>Student</a:t>
            </a:r>
            <a:r>
              <a:rPr lang="en-US" sz="6100" spc="-80">
                <a:solidFill>
                  <a:srgbClr val="032B4F"/>
                </a:solidFill>
              </a:rPr>
              <a:t> </a:t>
            </a:r>
            <a:r>
              <a:rPr lang="en-US" sz="6100" spc="-60">
                <a:solidFill>
                  <a:srgbClr val="032A4F"/>
                </a:solidFill>
              </a:rPr>
              <a:t>Falls</a:t>
            </a:r>
            <a:r>
              <a:rPr lang="en-US" sz="6100" spc="-275">
                <a:solidFill>
                  <a:srgbClr val="032A4F"/>
                </a:solidFill>
              </a:rPr>
              <a:t> </a:t>
            </a:r>
            <a:r>
              <a:rPr lang="en-US" sz="6100" spc="-10">
                <a:solidFill>
                  <a:srgbClr val="032D50"/>
                </a:solidFill>
              </a:rPr>
              <a:t>Behind</a:t>
            </a:r>
            <a:endParaRPr lang="en-US" sz="61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1B79E7-B69C-1C99-13F4-28B2C5918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23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1200" y="5994400"/>
            <a:ext cx="2006600" cy="2298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35000" y="6007100"/>
            <a:ext cx="2019300" cy="2286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82400" y="3390900"/>
            <a:ext cx="2616200" cy="205740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130"/>
              </a:spcBef>
            </a:pPr>
            <a:r>
              <a:rPr sz="4900" spc="-150" dirty="0">
                <a:solidFill>
                  <a:srgbClr val="000000"/>
                </a:solidFill>
              </a:rPr>
              <a:t>The</a:t>
            </a:r>
            <a:r>
              <a:rPr sz="4900" spc="-425" dirty="0">
                <a:solidFill>
                  <a:srgbClr val="000000"/>
                </a:solidFill>
              </a:rPr>
              <a:t> </a:t>
            </a:r>
            <a:r>
              <a:rPr sz="4900" spc="-170" dirty="0">
                <a:solidFill>
                  <a:srgbClr val="000000"/>
                </a:solidFill>
              </a:rPr>
              <a:t>Flaw</a:t>
            </a:r>
            <a:r>
              <a:rPr sz="4900" spc="-175" dirty="0">
                <a:solidFill>
                  <a:srgbClr val="000000"/>
                </a:solidFill>
              </a:rPr>
              <a:t> </a:t>
            </a:r>
            <a:r>
              <a:rPr sz="4900" dirty="0">
                <a:solidFill>
                  <a:srgbClr val="000000"/>
                </a:solidFill>
              </a:rPr>
              <a:t>of</a:t>
            </a:r>
            <a:r>
              <a:rPr sz="4900" spc="-340" dirty="0">
                <a:solidFill>
                  <a:srgbClr val="000000"/>
                </a:solidFill>
              </a:rPr>
              <a:t> </a:t>
            </a:r>
            <a:r>
              <a:rPr sz="4900" spc="-10" dirty="0">
                <a:solidFill>
                  <a:srgbClr val="000000"/>
                </a:solidFill>
              </a:rPr>
              <a:t>the</a:t>
            </a:r>
            <a:r>
              <a:rPr sz="4900" spc="-350" dirty="0">
                <a:solidFill>
                  <a:srgbClr val="000000"/>
                </a:solidFill>
              </a:rPr>
              <a:t> </a:t>
            </a:r>
            <a:r>
              <a:rPr sz="4900" dirty="0">
                <a:solidFill>
                  <a:srgbClr val="000000"/>
                </a:solidFill>
              </a:rPr>
              <a:t>Static</a:t>
            </a:r>
            <a:r>
              <a:rPr sz="4900" spc="-25" dirty="0">
                <a:solidFill>
                  <a:srgbClr val="000000"/>
                </a:solidFill>
              </a:rPr>
              <a:t> </a:t>
            </a:r>
            <a:r>
              <a:rPr sz="4900" spc="-95" dirty="0">
                <a:solidFill>
                  <a:srgbClr val="000000"/>
                </a:solidFill>
              </a:rPr>
              <a:t>Approach:</a:t>
            </a:r>
            <a:r>
              <a:rPr sz="4900" spc="-200" dirty="0">
                <a:solidFill>
                  <a:srgbClr val="000000"/>
                </a:solidFill>
              </a:rPr>
              <a:t> </a:t>
            </a:r>
            <a:r>
              <a:rPr sz="4900" spc="-110" dirty="0">
                <a:solidFill>
                  <a:srgbClr val="000000"/>
                </a:solidFill>
              </a:rPr>
              <a:t>Hard-</a:t>
            </a:r>
            <a:r>
              <a:rPr sz="4900" spc="-60" dirty="0">
                <a:solidFill>
                  <a:srgbClr val="000000"/>
                </a:solidFill>
              </a:rPr>
              <a:t>Coded </a:t>
            </a:r>
            <a:r>
              <a:rPr sz="4900" spc="-20" dirty="0">
                <a:solidFill>
                  <a:srgbClr val="000000"/>
                </a:solidFill>
              </a:rPr>
              <a:t>Thresholds</a:t>
            </a:r>
            <a:endParaRPr sz="4900"/>
          </a:p>
        </p:txBody>
      </p:sp>
      <p:sp>
        <p:nvSpPr>
          <p:cNvPr id="6" name="object 6"/>
          <p:cNvSpPr txBox="1"/>
          <p:nvPr/>
        </p:nvSpPr>
        <p:spPr>
          <a:xfrm>
            <a:off x="882468" y="1958269"/>
            <a:ext cx="7343140" cy="28448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380"/>
              </a:spcBef>
            </a:pPr>
            <a:r>
              <a:rPr sz="2850" spc="-70" dirty="0">
                <a:latin typeface="Cambria"/>
                <a:cs typeface="Cambria"/>
              </a:rPr>
              <a:t>The</a:t>
            </a:r>
            <a:r>
              <a:rPr sz="2850" spc="-10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Problem:</a:t>
            </a:r>
            <a:endParaRPr sz="2850">
              <a:latin typeface="Cambria"/>
              <a:cs typeface="Cambria"/>
            </a:endParaRPr>
          </a:p>
          <a:p>
            <a:pPr marL="12700" marR="5080" indent="6985">
              <a:lnSpc>
                <a:spcPct val="108200"/>
              </a:lnSpc>
            </a:pPr>
            <a:r>
              <a:rPr sz="2850" spc="-65" dirty="0">
                <a:latin typeface="Cambria"/>
                <a:cs typeface="Cambria"/>
              </a:rPr>
              <a:t>The</a:t>
            </a:r>
            <a:r>
              <a:rPr sz="2850" spc="-95" dirty="0">
                <a:latin typeface="Cambria"/>
                <a:cs typeface="Cambria"/>
              </a:rPr>
              <a:t> static</a:t>
            </a:r>
            <a:r>
              <a:rPr sz="2850" spc="-60" dirty="0">
                <a:latin typeface="Cambria"/>
                <a:cs typeface="Cambria"/>
              </a:rPr>
              <a:t> </a:t>
            </a:r>
            <a:r>
              <a:rPr sz="2850" spc="-50" dirty="0">
                <a:latin typeface="Cambria"/>
                <a:cs typeface="Cambria"/>
              </a:rPr>
              <a:t>design</a:t>
            </a:r>
            <a:r>
              <a:rPr sz="2850" spc="-105" dirty="0">
                <a:latin typeface="Cambria"/>
                <a:cs typeface="Cambria"/>
              </a:rPr>
              <a:t> </a:t>
            </a:r>
            <a:r>
              <a:rPr sz="2850" spc="-95" dirty="0">
                <a:latin typeface="Cambria"/>
                <a:cs typeface="Cambria"/>
              </a:rPr>
              <a:t>required</a:t>
            </a:r>
            <a:r>
              <a:rPr sz="2850" spc="-40" dirty="0">
                <a:latin typeface="Cambria"/>
                <a:cs typeface="Cambria"/>
              </a:rPr>
              <a:t> </a:t>
            </a:r>
            <a:r>
              <a:rPr sz="2850" spc="-80" dirty="0">
                <a:latin typeface="Cambria"/>
                <a:cs typeface="Cambria"/>
              </a:rPr>
              <a:t>multiple</a:t>
            </a:r>
            <a:r>
              <a:rPr sz="2850" spc="4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protective </a:t>
            </a:r>
            <a:r>
              <a:rPr sz="2850" spc="-70" dirty="0">
                <a:latin typeface="Cambria"/>
                <a:cs typeface="Cambria"/>
              </a:rPr>
              <a:t>mechanisms,</a:t>
            </a:r>
            <a:r>
              <a:rPr sz="2850" spc="60" dirty="0">
                <a:latin typeface="Cambria"/>
                <a:cs typeface="Cambria"/>
              </a:rPr>
              <a:t> </a:t>
            </a:r>
            <a:r>
              <a:rPr sz="2850" spc="-65" dirty="0">
                <a:latin typeface="Cambria"/>
                <a:cs typeface="Cambria"/>
              </a:rPr>
              <a:t>which</a:t>
            </a:r>
            <a:r>
              <a:rPr sz="2850" spc="-95" dirty="0">
                <a:latin typeface="Cambria"/>
                <a:cs typeface="Cambria"/>
              </a:rPr>
              <a:t> </a:t>
            </a:r>
            <a:r>
              <a:rPr sz="2850" spc="-80" dirty="0">
                <a:latin typeface="Cambria"/>
                <a:cs typeface="Cambria"/>
              </a:rPr>
              <a:t>introduced</a:t>
            </a:r>
            <a:r>
              <a:rPr sz="2850" spc="-65" dirty="0">
                <a:latin typeface="Cambria"/>
                <a:cs typeface="Cambria"/>
              </a:rPr>
              <a:t> </a:t>
            </a:r>
            <a:r>
              <a:rPr sz="2850" spc="-135" dirty="0">
                <a:latin typeface="Cambria"/>
                <a:cs typeface="Cambria"/>
              </a:rPr>
              <a:t>manually-</a:t>
            </a:r>
            <a:r>
              <a:rPr sz="2850" dirty="0">
                <a:latin typeface="Cambria"/>
                <a:cs typeface="Cambria"/>
              </a:rPr>
              <a:t>set</a:t>
            </a:r>
            <a:r>
              <a:rPr sz="2850" spc="114" dirty="0">
                <a:latin typeface="Cambria"/>
                <a:cs typeface="Cambria"/>
              </a:rPr>
              <a:t> </a:t>
            </a:r>
            <a:r>
              <a:rPr sz="2850" spc="-20" dirty="0">
                <a:latin typeface="Cambria"/>
                <a:cs typeface="Cambria"/>
              </a:rPr>
              <a:t>hard </a:t>
            </a:r>
            <a:r>
              <a:rPr sz="2850" spc="-10" dirty="0">
                <a:latin typeface="Cambria"/>
                <a:cs typeface="Cambria"/>
              </a:rPr>
              <a:t>thresholds.</a:t>
            </a:r>
            <a:endParaRPr sz="2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850">
              <a:latin typeface="Cambria"/>
              <a:cs typeface="Cambria"/>
            </a:endParaRPr>
          </a:p>
          <a:p>
            <a:pPr marL="19685">
              <a:lnSpc>
                <a:spcPct val="100000"/>
              </a:lnSpc>
            </a:pPr>
            <a:r>
              <a:rPr sz="2850" spc="-75" dirty="0">
                <a:latin typeface="Cambria"/>
                <a:cs typeface="Cambria"/>
              </a:rPr>
              <a:t>The</a:t>
            </a:r>
            <a:r>
              <a:rPr sz="2850" spc="-11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Thresholds: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325" y="4793707"/>
            <a:ext cx="8223250" cy="189547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637540" indent="-619760">
              <a:lnSpc>
                <a:spcPct val="100000"/>
              </a:lnSpc>
              <a:spcBef>
                <a:spcPts val="405"/>
              </a:spcBef>
              <a:buAutoNum type="arabicPeriod"/>
              <a:tabLst>
                <a:tab pos="637540" algn="l"/>
                <a:tab pos="2138680" algn="l"/>
                <a:tab pos="3244215" algn="l"/>
              </a:tabLst>
            </a:pPr>
            <a:r>
              <a:rPr sz="2700" spc="50" dirty="0">
                <a:latin typeface="Cambria"/>
                <a:cs typeface="Cambria"/>
              </a:rPr>
              <a:t>Mask:</a:t>
            </a:r>
            <a:r>
              <a:rPr sz="2700" spc="-75" dirty="0">
                <a:latin typeface="Cambria"/>
                <a:cs typeface="Cambria"/>
              </a:rPr>
              <a:t> </a:t>
            </a:r>
            <a:r>
              <a:rPr sz="2700" spc="45" dirty="0">
                <a:latin typeface="Cambria"/>
                <a:cs typeface="Cambria"/>
              </a:rPr>
              <a:t>‘If</a:t>
            </a:r>
            <a:r>
              <a:rPr sz="2700" dirty="0">
                <a:latin typeface="Cambria"/>
                <a:cs typeface="Cambria"/>
              </a:rPr>
              <a:t>	</a:t>
            </a:r>
            <a:r>
              <a:rPr sz="2700" spc="40" dirty="0">
                <a:latin typeface="Cambria"/>
                <a:cs typeface="Cambria"/>
              </a:rPr>
              <a:t>cos_st</a:t>
            </a:r>
            <a:r>
              <a:rPr sz="2700" dirty="0">
                <a:latin typeface="Cambria"/>
                <a:cs typeface="Cambria"/>
              </a:rPr>
              <a:t>	›</a:t>
            </a:r>
            <a:r>
              <a:rPr sz="2700" spc="90" dirty="0">
                <a:latin typeface="Cambria"/>
                <a:cs typeface="Cambria"/>
              </a:rPr>
              <a:t>  </a:t>
            </a:r>
            <a:r>
              <a:rPr sz="2700" dirty="0">
                <a:latin typeface="Cambria"/>
                <a:cs typeface="Cambria"/>
              </a:rPr>
              <a:t>i’</a:t>
            </a:r>
            <a:r>
              <a:rPr sz="2700" spc="95" dirty="0">
                <a:latin typeface="Cambria"/>
                <a:cs typeface="Cambria"/>
              </a:rPr>
              <a:t>  </a:t>
            </a:r>
            <a:r>
              <a:rPr sz="2700" dirty="0">
                <a:latin typeface="Cambria"/>
                <a:cs typeface="Cambria"/>
              </a:rPr>
              <a:t>(e.g.,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0.8),</a:t>
            </a:r>
            <a:r>
              <a:rPr sz="2700" spc="10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the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student</a:t>
            </a:r>
            <a:r>
              <a:rPr sz="2700" spc="110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is</a:t>
            </a:r>
            <a:r>
              <a:rPr sz="2700" spc="-15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‘close</a:t>
            </a:r>
            <a:endParaRPr sz="2700">
              <a:latin typeface="Cambria"/>
              <a:cs typeface="Cambria"/>
            </a:endParaRPr>
          </a:p>
          <a:p>
            <a:pPr marL="638810">
              <a:lnSpc>
                <a:spcPct val="100000"/>
              </a:lnSpc>
              <a:spcBef>
                <a:spcPts val="309"/>
              </a:spcBef>
            </a:pPr>
            <a:r>
              <a:rPr sz="2850" spc="-105" dirty="0">
                <a:latin typeface="Cambria"/>
                <a:cs typeface="Cambria"/>
              </a:rPr>
              <a:t>enough’.</a:t>
            </a:r>
            <a:r>
              <a:rPr sz="2850" spc="-15" dirty="0">
                <a:latin typeface="Cambria"/>
                <a:cs typeface="Cambria"/>
              </a:rPr>
              <a:t> </a:t>
            </a:r>
            <a:r>
              <a:rPr sz="2850" spc="-45" dirty="0">
                <a:latin typeface="Cambria"/>
                <a:cs typeface="Cambria"/>
              </a:rPr>
              <a:t>Do</a:t>
            </a:r>
            <a:r>
              <a:rPr sz="2850" spc="-145" dirty="0">
                <a:latin typeface="Cambria"/>
                <a:cs typeface="Cambria"/>
              </a:rPr>
              <a:t> </a:t>
            </a:r>
            <a:r>
              <a:rPr sz="2850" spc="-70" dirty="0">
                <a:latin typeface="Cambria"/>
                <a:cs typeface="Cambria"/>
              </a:rPr>
              <a:t>not</a:t>
            </a:r>
            <a:r>
              <a:rPr sz="2850" spc="-30" dirty="0">
                <a:latin typeface="Cambria"/>
                <a:cs typeface="Cambria"/>
              </a:rPr>
              <a:t> </a:t>
            </a:r>
            <a:r>
              <a:rPr sz="2850" spc="-110" dirty="0">
                <a:latin typeface="Cambria"/>
                <a:cs typeface="Cambria"/>
              </a:rPr>
              <a:t>apply</a:t>
            </a:r>
            <a:r>
              <a:rPr sz="2850" dirty="0">
                <a:latin typeface="Cambria"/>
                <a:cs typeface="Cambria"/>
              </a:rPr>
              <a:t> a</a:t>
            </a:r>
            <a:r>
              <a:rPr sz="2850" spc="-16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penalty.’</a:t>
            </a:r>
            <a:endParaRPr sz="2850">
              <a:latin typeface="Cambria"/>
              <a:cs typeface="Cambria"/>
            </a:endParaRPr>
          </a:p>
          <a:p>
            <a:pPr marL="636270" marR="243204" indent="-624205">
              <a:lnSpc>
                <a:spcPct val="108200"/>
              </a:lnSpc>
              <a:spcBef>
                <a:spcPts val="45"/>
              </a:spcBef>
              <a:buAutoNum type="arabicPeriod" startAt="2"/>
              <a:tabLst>
                <a:tab pos="648970" algn="l"/>
              </a:tabLst>
            </a:pPr>
            <a:r>
              <a:rPr sz="2850" spc="-20" dirty="0">
                <a:latin typeface="Cambria"/>
                <a:cs typeface="Cambria"/>
              </a:rPr>
              <a:t>Baseline:</a:t>
            </a:r>
            <a:r>
              <a:rPr sz="2850" spc="-140" dirty="0">
                <a:latin typeface="Cambria"/>
                <a:cs typeface="Cambria"/>
              </a:rPr>
              <a:t> </a:t>
            </a:r>
            <a:r>
              <a:rPr sz="2850" spc="-50" dirty="0">
                <a:latin typeface="Cambria"/>
                <a:cs typeface="Cambria"/>
              </a:rPr>
              <a:t>‘Ignore</a:t>
            </a:r>
            <a:r>
              <a:rPr sz="2850" spc="-105" dirty="0">
                <a:latin typeface="Cambria"/>
                <a:cs typeface="Cambria"/>
              </a:rPr>
              <a:t> </a:t>
            </a:r>
            <a:r>
              <a:rPr sz="2850" spc="-65" dirty="0">
                <a:latin typeface="Cambria"/>
                <a:cs typeface="Cambria"/>
              </a:rPr>
              <a:t>minor</a:t>
            </a:r>
            <a:r>
              <a:rPr sz="2850" spc="-40" dirty="0">
                <a:latin typeface="Cambria"/>
                <a:cs typeface="Cambria"/>
              </a:rPr>
              <a:t> </a:t>
            </a:r>
            <a:r>
              <a:rPr sz="2850" spc="-85" dirty="0">
                <a:latin typeface="Cambria"/>
                <a:cs typeface="Cambria"/>
              </a:rPr>
              <a:t>deviations</a:t>
            </a:r>
            <a:r>
              <a:rPr sz="2850" spc="40" dirty="0">
                <a:latin typeface="Cambria"/>
                <a:cs typeface="Cambria"/>
              </a:rPr>
              <a:t> </a:t>
            </a:r>
            <a:r>
              <a:rPr sz="2850" spc="-140" dirty="0">
                <a:latin typeface="Cambria"/>
                <a:cs typeface="Cambria"/>
              </a:rPr>
              <a:t>below</a:t>
            </a:r>
            <a:r>
              <a:rPr sz="2850" spc="-20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a</a:t>
            </a:r>
            <a:r>
              <a:rPr sz="2850" spc="-155" dirty="0">
                <a:latin typeface="Cambria"/>
                <a:cs typeface="Cambria"/>
              </a:rPr>
              <a:t> </a:t>
            </a:r>
            <a:r>
              <a:rPr sz="2850" spc="-55" dirty="0">
                <a:latin typeface="Cambria"/>
                <a:cs typeface="Cambria"/>
              </a:rPr>
              <a:t>certain 	</a:t>
            </a:r>
            <a:r>
              <a:rPr sz="2850" spc="-75" dirty="0">
                <a:latin typeface="Cambria"/>
                <a:cs typeface="Cambria"/>
              </a:rPr>
              <a:t>baseline,</a:t>
            </a:r>
            <a:r>
              <a:rPr sz="2850" spc="-25" dirty="0">
                <a:latin typeface="Cambria"/>
                <a:cs typeface="Cambria"/>
              </a:rPr>
              <a:t> </a:t>
            </a:r>
            <a:r>
              <a:rPr sz="2850" spc="-85" dirty="0">
                <a:latin typeface="Cambria"/>
                <a:cs typeface="Cambria"/>
              </a:rPr>
              <a:t>treating</a:t>
            </a:r>
            <a:r>
              <a:rPr sz="2850" dirty="0">
                <a:latin typeface="Cambria"/>
                <a:cs typeface="Cambria"/>
              </a:rPr>
              <a:t> </a:t>
            </a:r>
            <a:r>
              <a:rPr sz="2850" spc="-110" dirty="0">
                <a:latin typeface="Cambria"/>
                <a:cs typeface="Cambria"/>
              </a:rPr>
              <a:t>them</a:t>
            </a:r>
            <a:r>
              <a:rPr sz="2850" spc="-4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as</a:t>
            </a:r>
            <a:r>
              <a:rPr sz="2850" spc="-145" dirty="0">
                <a:latin typeface="Cambria"/>
                <a:cs typeface="Cambria"/>
              </a:rPr>
              <a:t> </a:t>
            </a:r>
            <a:r>
              <a:rPr sz="2850" spc="-90" dirty="0">
                <a:latin typeface="Cambria"/>
                <a:cs typeface="Cambria"/>
              </a:rPr>
              <a:t>acceptable</a:t>
            </a:r>
            <a:r>
              <a:rPr sz="2850" spc="-15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noise.’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2309" y="7147845"/>
            <a:ext cx="9531691" cy="189738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415"/>
              </a:spcBef>
            </a:pPr>
            <a:r>
              <a:rPr sz="2750" dirty="0">
                <a:latin typeface="Cambria"/>
                <a:cs typeface="Cambria"/>
              </a:rPr>
              <a:t>The</a:t>
            </a:r>
            <a:r>
              <a:rPr sz="2750" spc="-8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Consequence:</a:t>
            </a:r>
            <a:endParaRPr sz="2750" dirty="0">
              <a:latin typeface="Cambria"/>
              <a:cs typeface="Cambria"/>
            </a:endParaRPr>
          </a:p>
          <a:p>
            <a:pPr marL="12700" marR="5080" indent="7620">
              <a:lnSpc>
                <a:spcPct val="107200"/>
              </a:lnSpc>
              <a:spcBef>
                <a:spcPts val="55"/>
              </a:spcBef>
              <a:tabLst>
                <a:tab pos="6210300" algn="l"/>
              </a:tabLst>
            </a:pPr>
            <a:r>
              <a:rPr sz="2850" spc="-105" dirty="0">
                <a:latin typeface="Cambria"/>
                <a:cs typeface="Cambria"/>
              </a:rPr>
              <a:t>The</a:t>
            </a:r>
            <a:r>
              <a:rPr sz="2850" spc="-60" dirty="0">
                <a:latin typeface="Cambria"/>
                <a:cs typeface="Cambria"/>
              </a:rPr>
              <a:t> </a:t>
            </a:r>
            <a:r>
              <a:rPr sz="2850" spc="-120" dirty="0">
                <a:latin typeface="Cambria"/>
                <a:cs typeface="Cambria"/>
              </a:rPr>
              <a:t>model's</a:t>
            </a:r>
            <a:r>
              <a:rPr sz="2850" spc="-35" dirty="0">
                <a:latin typeface="Cambria"/>
                <a:cs typeface="Cambria"/>
              </a:rPr>
              <a:t> </a:t>
            </a:r>
            <a:r>
              <a:rPr sz="2850" spc="-95" dirty="0">
                <a:latin typeface="Cambria"/>
                <a:cs typeface="Cambria"/>
              </a:rPr>
              <a:t>performance</a:t>
            </a:r>
            <a:r>
              <a:rPr sz="2850" spc="160" dirty="0">
                <a:latin typeface="Cambria"/>
                <a:cs typeface="Cambria"/>
              </a:rPr>
              <a:t> </a:t>
            </a:r>
            <a:r>
              <a:rPr sz="2850" spc="-90" dirty="0">
                <a:latin typeface="Cambria"/>
                <a:cs typeface="Cambria"/>
              </a:rPr>
              <a:t>becomes</a:t>
            </a:r>
            <a:r>
              <a:rPr sz="2850" spc="135" dirty="0">
                <a:latin typeface="Cambria"/>
                <a:cs typeface="Cambria"/>
              </a:rPr>
              <a:t> </a:t>
            </a:r>
            <a:r>
              <a:rPr sz="2850" dirty="0">
                <a:solidFill>
                  <a:srgbClr val="9E8A57"/>
                </a:solidFill>
                <a:latin typeface="Cambria"/>
                <a:cs typeface="Cambria"/>
              </a:rPr>
              <a:t>‘</a:t>
            </a:r>
            <a:r>
              <a:rPr lang="en-US" sz="2850" dirty="0">
                <a:solidFill>
                  <a:srgbClr val="9E8A57"/>
                </a:solidFill>
                <a:latin typeface="Cambria"/>
                <a:cs typeface="Cambria"/>
              </a:rPr>
              <a:t>highly sensitive’</a:t>
            </a:r>
            <a:r>
              <a:rPr sz="2850" spc="75" dirty="0">
                <a:solidFill>
                  <a:srgbClr val="B18C33"/>
                </a:solidFill>
                <a:latin typeface="Cambria"/>
                <a:cs typeface="Cambria"/>
              </a:rPr>
              <a:t> </a:t>
            </a:r>
            <a:r>
              <a:rPr sz="2850" spc="-105" dirty="0">
                <a:latin typeface="Cambria"/>
                <a:cs typeface="Cambria"/>
              </a:rPr>
              <a:t>to </a:t>
            </a:r>
            <a:r>
              <a:rPr sz="2900" spc="-110" dirty="0">
                <a:latin typeface="Cambria"/>
                <a:cs typeface="Cambria"/>
              </a:rPr>
              <a:t>these</a:t>
            </a:r>
            <a:r>
              <a:rPr sz="2900" spc="-50" dirty="0">
                <a:latin typeface="Cambria"/>
                <a:cs typeface="Cambria"/>
              </a:rPr>
              <a:t> </a:t>
            </a:r>
            <a:r>
              <a:rPr sz="2900" spc="-155" dirty="0">
                <a:latin typeface="Cambria"/>
                <a:cs typeface="Cambria"/>
              </a:rPr>
              <a:t>hand-</a:t>
            </a:r>
            <a:r>
              <a:rPr sz="2900" spc="-95" dirty="0">
                <a:latin typeface="Cambria"/>
                <a:cs typeface="Cambria"/>
              </a:rPr>
              <a:t>picked</a:t>
            </a:r>
            <a:r>
              <a:rPr sz="2900" spc="-10" dirty="0">
                <a:latin typeface="Cambria"/>
                <a:cs typeface="Cambria"/>
              </a:rPr>
              <a:t> </a:t>
            </a:r>
            <a:r>
              <a:rPr sz="2900" spc="-100" dirty="0">
                <a:latin typeface="Cambria"/>
                <a:cs typeface="Cambria"/>
              </a:rPr>
              <a:t>values,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spc="-100" dirty="0">
                <a:latin typeface="Cambria"/>
                <a:cs typeface="Cambria"/>
              </a:rPr>
              <a:t>making</a:t>
            </a:r>
            <a:r>
              <a:rPr sz="2900" spc="-15" dirty="0">
                <a:latin typeface="Cambria"/>
                <a:cs typeface="Cambria"/>
              </a:rPr>
              <a:t> </a:t>
            </a:r>
            <a:r>
              <a:rPr sz="2900" spc="-114" dirty="0">
                <a:latin typeface="Cambria"/>
                <a:cs typeface="Cambria"/>
              </a:rPr>
              <a:t>it</a:t>
            </a:r>
            <a:r>
              <a:rPr sz="2900" spc="-45" dirty="0">
                <a:latin typeface="Cambria"/>
                <a:cs typeface="Cambria"/>
              </a:rPr>
              <a:t> </a:t>
            </a:r>
            <a:r>
              <a:rPr sz="2900" spc="-95" dirty="0">
                <a:latin typeface="Cambria"/>
                <a:cs typeface="Cambria"/>
              </a:rPr>
              <a:t>difficult</a:t>
            </a:r>
            <a:r>
              <a:rPr sz="2900" spc="75" dirty="0">
                <a:latin typeface="Cambria"/>
                <a:cs typeface="Cambria"/>
              </a:rPr>
              <a:t> </a:t>
            </a:r>
            <a:r>
              <a:rPr sz="2900" spc="-25" dirty="0">
                <a:latin typeface="Cambria"/>
                <a:cs typeface="Cambria"/>
              </a:rPr>
              <a:t>to </a:t>
            </a:r>
            <a:r>
              <a:rPr sz="2850" spc="-85" dirty="0">
                <a:latin typeface="Cambria"/>
                <a:cs typeface="Cambria"/>
              </a:rPr>
              <a:t>generalize</a:t>
            </a:r>
            <a:r>
              <a:rPr sz="2850" spc="-15" dirty="0">
                <a:latin typeface="Cambria"/>
                <a:cs typeface="Cambria"/>
              </a:rPr>
              <a:t> </a:t>
            </a:r>
            <a:r>
              <a:rPr sz="2850" spc="-100" dirty="0">
                <a:latin typeface="Cambria"/>
                <a:cs typeface="Cambria"/>
              </a:rPr>
              <a:t>across</a:t>
            </a:r>
            <a:r>
              <a:rPr sz="2850" dirty="0">
                <a:latin typeface="Cambria"/>
                <a:cs typeface="Cambria"/>
              </a:rPr>
              <a:t> </a:t>
            </a:r>
            <a:r>
              <a:rPr sz="2850" spc="-95" dirty="0">
                <a:latin typeface="Cambria"/>
                <a:cs typeface="Cambria"/>
              </a:rPr>
              <a:t>different</a:t>
            </a:r>
            <a:r>
              <a:rPr sz="2850" spc="-50" dirty="0">
                <a:latin typeface="Cambria"/>
                <a:cs typeface="Cambria"/>
              </a:rPr>
              <a:t> </a:t>
            </a:r>
            <a:r>
              <a:rPr sz="2850" spc="-110" dirty="0">
                <a:latin typeface="Cambria"/>
                <a:cs typeface="Cambria"/>
              </a:rPr>
              <a:t>datasets</a:t>
            </a:r>
            <a:r>
              <a:rPr sz="2850" spc="-45" dirty="0">
                <a:latin typeface="Cambria"/>
                <a:cs typeface="Cambria"/>
              </a:rPr>
              <a:t> </a:t>
            </a:r>
            <a:r>
              <a:rPr sz="2850" spc="-70" dirty="0">
                <a:latin typeface="Cambria"/>
                <a:cs typeface="Cambria"/>
              </a:rPr>
              <a:t>or</a:t>
            </a:r>
            <a:r>
              <a:rPr sz="2850" spc="-90" dirty="0">
                <a:latin typeface="Cambria"/>
                <a:cs typeface="Cambria"/>
              </a:rPr>
              <a:t> teacher</a:t>
            </a:r>
            <a:r>
              <a:rPr sz="2850" spc="35" dirty="0">
                <a:latin typeface="Cambria"/>
                <a:cs typeface="Cambria"/>
              </a:rPr>
              <a:t> </a:t>
            </a:r>
            <a:r>
              <a:rPr sz="2850" spc="-20" dirty="0">
                <a:latin typeface="Cambria"/>
                <a:cs typeface="Cambria"/>
              </a:rPr>
              <a:t>models.</a:t>
            </a:r>
            <a:endParaRPr sz="285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46866" y="5467350"/>
            <a:ext cx="195580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4710" algn="l"/>
              </a:tabLst>
            </a:pPr>
            <a:r>
              <a:rPr sz="2500" spc="-50" dirty="0">
                <a:latin typeface="Cambria"/>
                <a:cs typeface="Cambria"/>
              </a:rPr>
              <a:t>T</a:t>
            </a:r>
            <a:r>
              <a:rPr sz="2500" dirty="0">
                <a:latin typeface="Cambria"/>
                <a:cs typeface="Cambria"/>
              </a:rPr>
              <a:t>	</a:t>
            </a:r>
            <a:r>
              <a:rPr sz="2500" spc="-60" dirty="0">
                <a:latin typeface="Cambria"/>
                <a:cs typeface="Cambria"/>
              </a:rPr>
              <a:t>Baseline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13251" y="9422341"/>
            <a:ext cx="13335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47020" y="9422341"/>
            <a:ext cx="9791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95" dirty="0">
                <a:latin typeface="Cambria"/>
                <a:cs typeface="Cambria"/>
              </a:rPr>
              <a:t>NotebookLtVi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85400" y="2540000"/>
            <a:ext cx="6197600" cy="5778500"/>
            <a:chOff x="10185400" y="2540000"/>
            <a:chExt cx="6197600" cy="5778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85400" y="2540000"/>
              <a:ext cx="6197600" cy="57785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600" y="5283200"/>
              <a:ext cx="330200" cy="330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82700" y="5092700"/>
              <a:ext cx="1473200" cy="8953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17800" y="5105400"/>
              <a:ext cx="685800" cy="685800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41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z="4650" dirty="0">
                <a:solidFill>
                  <a:srgbClr val="000000"/>
                </a:solidFill>
              </a:rPr>
              <a:t>The</a:t>
            </a:r>
            <a:r>
              <a:rPr sz="4650" spc="-120" dirty="0">
                <a:solidFill>
                  <a:srgbClr val="000000"/>
                </a:solidFill>
              </a:rPr>
              <a:t> </a:t>
            </a:r>
            <a:r>
              <a:rPr sz="4650" spc="105" dirty="0">
                <a:solidFill>
                  <a:srgbClr val="000000"/>
                </a:solidFill>
              </a:rPr>
              <a:t>Breakthrough:</a:t>
            </a:r>
            <a:r>
              <a:rPr sz="4650" spc="250" dirty="0">
                <a:solidFill>
                  <a:srgbClr val="000000"/>
                </a:solidFill>
              </a:rPr>
              <a:t> </a:t>
            </a:r>
            <a:r>
              <a:rPr sz="4650" spc="165" dirty="0">
                <a:solidFill>
                  <a:srgbClr val="000000"/>
                </a:solidFill>
              </a:rPr>
              <a:t>An</a:t>
            </a:r>
            <a:r>
              <a:rPr sz="4650" spc="-105" dirty="0">
                <a:solidFill>
                  <a:srgbClr val="000000"/>
                </a:solidFill>
              </a:rPr>
              <a:t> </a:t>
            </a:r>
            <a:r>
              <a:rPr sz="4650" spc="120" dirty="0">
                <a:solidFill>
                  <a:srgbClr val="000000"/>
                </a:solidFill>
              </a:rPr>
              <a:t>Adaptive,</a:t>
            </a:r>
            <a:r>
              <a:rPr sz="4650" spc="-15" dirty="0">
                <a:solidFill>
                  <a:srgbClr val="000000"/>
                </a:solidFill>
              </a:rPr>
              <a:t> </a:t>
            </a:r>
            <a:r>
              <a:rPr sz="4650" spc="130" dirty="0">
                <a:solidFill>
                  <a:srgbClr val="000000"/>
                </a:solidFill>
              </a:rPr>
              <a:t>Teacher-</a:t>
            </a:r>
            <a:r>
              <a:rPr sz="4650" spc="145" dirty="0">
                <a:solidFill>
                  <a:srgbClr val="000000"/>
                </a:solidFill>
              </a:rPr>
              <a:t>Guided</a:t>
            </a:r>
            <a:r>
              <a:rPr sz="4650" spc="-445" dirty="0">
                <a:solidFill>
                  <a:srgbClr val="000000"/>
                </a:solidFill>
              </a:rPr>
              <a:t> </a:t>
            </a:r>
            <a:r>
              <a:rPr sz="4650" spc="100" dirty="0">
                <a:solidFill>
                  <a:srgbClr val="000000"/>
                </a:solidFill>
              </a:rPr>
              <a:t>Margin</a:t>
            </a:r>
            <a:endParaRPr sz="4650"/>
          </a:p>
        </p:txBody>
      </p:sp>
      <p:sp>
        <p:nvSpPr>
          <p:cNvPr id="8" name="object 8"/>
          <p:cNvSpPr txBox="1"/>
          <p:nvPr/>
        </p:nvSpPr>
        <p:spPr>
          <a:xfrm>
            <a:off x="886538" y="1958975"/>
            <a:ext cx="7245984" cy="23876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sz="3100" spc="-135" dirty="0">
                <a:latin typeface="Times New Roman"/>
                <a:cs typeface="Times New Roman"/>
              </a:rPr>
              <a:t>The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spc="-130" dirty="0">
                <a:latin typeface="Times New Roman"/>
                <a:cs typeface="Times New Roman"/>
              </a:rPr>
              <a:t>Core</a:t>
            </a:r>
            <a:r>
              <a:rPr sz="3100" spc="-11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Insight:</a:t>
            </a:r>
            <a:endParaRPr sz="3100">
              <a:latin typeface="Times New Roman"/>
              <a:cs typeface="Times New Roman"/>
            </a:endParaRPr>
          </a:p>
          <a:p>
            <a:pPr marL="12700" marR="5080" indent="5080">
              <a:lnSpc>
                <a:spcPts val="3750"/>
              </a:lnSpc>
              <a:spcBef>
                <a:spcPts val="80"/>
              </a:spcBef>
            </a:pPr>
            <a:r>
              <a:rPr sz="3050" dirty="0">
                <a:latin typeface="Times New Roman"/>
                <a:cs typeface="Times New Roman"/>
              </a:rPr>
              <a:t>Instead</a:t>
            </a:r>
            <a:r>
              <a:rPr sz="3050" spc="-10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of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-60" dirty="0">
                <a:latin typeface="Times New Roman"/>
                <a:cs typeface="Times New Roman"/>
              </a:rPr>
              <a:t>relying</a:t>
            </a:r>
            <a:r>
              <a:rPr sz="3050" spc="-1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on</a:t>
            </a:r>
            <a:r>
              <a:rPr sz="3050" spc="-95" dirty="0">
                <a:latin typeface="Times New Roman"/>
                <a:cs typeface="Times New Roman"/>
              </a:rPr>
              <a:t> </a:t>
            </a:r>
            <a:r>
              <a:rPr sz="3050" spc="-35" dirty="0">
                <a:latin typeface="Times New Roman"/>
                <a:cs typeface="Times New Roman"/>
              </a:rPr>
              <a:t>artificial</a:t>
            </a:r>
            <a:r>
              <a:rPr sz="3050" spc="3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hard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-10" dirty="0">
                <a:latin typeface="Times New Roman"/>
                <a:cs typeface="Times New Roman"/>
              </a:rPr>
              <a:t>thresholds, </a:t>
            </a:r>
            <a:r>
              <a:rPr sz="3050" spc="-125" dirty="0">
                <a:latin typeface="Times New Roman"/>
                <a:cs typeface="Times New Roman"/>
              </a:rPr>
              <a:t>we</a:t>
            </a:r>
            <a:r>
              <a:rPr sz="3050" spc="-7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can</a:t>
            </a:r>
            <a:r>
              <a:rPr sz="3050" spc="-13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let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the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dirty="0">
                <a:latin typeface="Times New Roman"/>
                <a:cs typeface="Times New Roman"/>
              </a:rPr>
              <a:t>teacher</a:t>
            </a:r>
            <a:r>
              <a:rPr sz="3050" spc="100" dirty="0">
                <a:latin typeface="Times New Roman"/>
                <a:cs typeface="Times New Roman"/>
              </a:rPr>
              <a:t> </a:t>
            </a:r>
            <a:r>
              <a:rPr sz="3050" spc="-30" dirty="0">
                <a:latin typeface="Times New Roman"/>
                <a:cs typeface="Times New Roman"/>
              </a:rPr>
              <a:t>model's</a:t>
            </a:r>
            <a:r>
              <a:rPr sz="3050" spc="-55" dirty="0">
                <a:latin typeface="Times New Roman"/>
                <a:cs typeface="Times New Roman"/>
              </a:rPr>
              <a:t> </a:t>
            </a:r>
            <a:r>
              <a:rPr sz="3050" spc="-95" dirty="0">
                <a:latin typeface="Times New Roman"/>
                <a:cs typeface="Times New Roman"/>
              </a:rPr>
              <a:t>own</a:t>
            </a:r>
            <a:r>
              <a:rPr sz="3050" spc="-135" dirty="0">
                <a:latin typeface="Times New Roman"/>
                <a:cs typeface="Times New Roman"/>
              </a:rPr>
              <a:t> </a:t>
            </a:r>
            <a:r>
              <a:rPr sz="3050" spc="-70" dirty="0">
                <a:latin typeface="Times New Roman"/>
                <a:cs typeface="Times New Roman"/>
              </a:rPr>
              <a:t>‘confidence’</a:t>
            </a:r>
            <a:endParaRPr sz="3050">
              <a:latin typeface="Times New Roman"/>
              <a:cs typeface="Times New Roman"/>
            </a:endParaRPr>
          </a:p>
          <a:p>
            <a:pPr marL="13335">
              <a:lnSpc>
                <a:spcPts val="3560"/>
              </a:lnSpc>
            </a:pPr>
            <a:r>
              <a:rPr sz="3100" spc="-50" dirty="0">
                <a:latin typeface="Times New Roman"/>
                <a:cs typeface="Times New Roman"/>
              </a:rPr>
              <a:t>automatically</a:t>
            </a:r>
            <a:r>
              <a:rPr sz="3100" spc="-1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determine</a:t>
            </a:r>
            <a:r>
              <a:rPr sz="3100" spc="-1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130" dirty="0">
                <a:latin typeface="Times New Roman"/>
                <a:cs typeface="Times New Roman"/>
              </a:rPr>
              <a:t> </a:t>
            </a:r>
            <a:r>
              <a:rPr sz="3100" spc="-50" dirty="0">
                <a:latin typeface="Times New Roman"/>
                <a:cs typeface="Times New Roman"/>
              </a:rPr>
              <a:t>penalty</a:t>
            </a:r>
            <a:r>
              <a:rPr sz="3100" spc="-14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conditions</a:t>
            </a:r>
            <a:endParaRPr sz="3100">
              <a:latin typeface="Times New Roman"/>
              <a:cs typeface="Times New Roman"/>
            </a:endParaRPr>
          </a:p>
          <a:p>
            <a:pPr marL="13335">
              <a:lnSpc>
                <a:spcPts val="3710"/>
              </a:lnSpc>
            </a:pPr>
            <a:r>
              <a:rPr sz="3100" dirty="0">
                <a:latin typeface="Times New Roman"/>
                <a:cs typeface="Times New Roman"/>
              </a:rPr>
              <a:t>and</a:t>
            </a:r>
            <a:r>
              <a:rPr sz="3100" spc="-130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strength.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7059" y="4811183"/>
            <a:ext cx="7411084" cy="18878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3465"/>
              </a:lnSpc>
              <a:spcBef>
                <a:spcPts val="114"/>
              </a:spcBef>
            </a:pPr>
            <a:r>
              <a:rPr sz="2900" spc="-60" dirty="0">
                <a:latin typeface="Cambria"/>
                <a:cs typeface="Cambria"/>
              </a:rPr>
              <a:t>The</a:t>
            </a:r>
            <a:r>
              <a:rPr sz="2900" spc="-11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Result:</a:t>
            </a:r>
            <a:endParaRPr sz="2900" dirty="0">
              <a:latin typeface="Cambria"/>
              <a:cs typeface="Cambria"/>
            </a:endParaRPr>
          </a:p>
          <a:p>
            <a:pPr marL="17145" marR="5080" indent="5715">
              <a:lnSpc>
                <a:spcPts val="3700"/>
              </a:lnSpc>
              <a:spcBef>
                <a:spcPts val="180"/>
              </a:spcBef>
            </a:pPr>
            <a:r>
              <a:rPr sz="3200" spc="-220" dirty="0">
                <a:latin typeface="Cambria"/>
                <a:cs typeface="Cambria"/>
              </a:rPr>
              <a:t>A</a:t>
            </a:r>
            <a:r>
              <a:rPr sz="3200" spc="-120" dirty="0">
                <a:latin typeface="Cambria"/>
                <a:cs typeface="Cambria"/>
              </a:rPr>
              <a:t> </a:t>
            </a:r>
            <a:r>
              <a:rPr sz="3200" spc="-295" dirty="0">
                <a:latin typeface="Cambria"/>
                <a:cs typeface="Cambria"/>
              </a:rPr>
              <a:t>new</a:t>
            </a:r>
            <a:r>
              <a:rPr sz="3200" dirty="0">
                <a:latin typeface="Cambria"/>
                <a:cs typeface="Cambria"/>
              </a:rPr>
              <a:t> </a:t>
            </a:r>
            <a:r>
              <a:rPr sz="3200" spc="-125" dirty="0">
                <a:solidFill>
                  <a:srgbClr val="6E703A"/>
                </a:solidFill>
                <a:latin typeface="Cambria"/>
                <a:cs typeface="Cambria"/>
              </a:rPr>
              <a:t>adaptive</a:t>
            </a:r>
            <a:r>
              <a:rPr sz="3200" spc="-5" dirty="0">
                <a:solidFill>
                  <a:srgbClr val="6E703A"/>
                </a:solidFill>
                <a:latin typeface="Cambria"/>
                <a:cs typeface="Cambria"/>
              </a:rPr>
              <a:t> </a:t>
            </a:r>
            <a:r>
              <a:rPr sz="3200" spc="-140" dirty="0">
                <a:solidFill>
                  <a:srgbClr val="5D6036"/>
                </a:solidFill>
                <a:latin typeface="Cambria"/>
                <a:cs typeface="Cambria"/>
              </a:rPr>
              <a:t>geometry-</a:t>
            </a:r>
            <a:r>
              <a:rPr sz="3200" spc="-145" dirty="0">
                <a:solidFill>
                  <a:srgbClr val="5D6036"/>
                </a:solidFill>
                <a:latin typeface="Cambria"/>
                <a:cs typeface="Cambria"/>
              </a:rPr>
              <a:t>aware</a:t>
            </a:r>
            <a:r>
              <a:rPr sz="3200" spc="-120" dirty="0">
                <a:solidFill>
                  <a:srgbClr val="5D6036"/>
                </a:solidFill>
                <a:latin typeface="Cambria"/>
                <a:cs typeface="Cambria"/>
              </a:rPr>
              <a:t> </a:t>
            </a:r>
            <a:r>
              <a:rPr sz="3200" spc="-100" dirty="0">
                <a:solidFill>
                  <a:srgbClr val="696934"/>
                </a:solidFill>
                <a:latin typeface="Cambria"/>
                <a:cs typeface="Cambria"/>
              </a:rPr>
              <a:t>margin</a:t>
            </a:r>
            <a:r>
              <a:rPr sz="3200" spc="40" dirty="0">
                <a:solidFill>
                  <a:srgbClr val="696934"/>
                </a:solidFill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that </a:t>
            </a:r>
            <a:r>
              <a:rPr sz="3050" spc="-100" dirty="0">
                <a:latin typeface="Cambria"/>
                <a:cs typeface="Cambria"/>
              </a:rPr>
              <a:t>eliminates</a:t>
            </a:r>
            <a:r>
              <a:rPr sz="3050" spc="-25" dirty="0">
                <a:latin typeface="Cambria"/>
                <a:cs typeface="Cambria"/>
              </a:rPr>
              <a:t> </a:t>
            </a:r>
            <a:r>
              <a:rPr sz="3050" spc="-165" dirty="0">
                <a:latin typeface="Cambria"/>
                <a:cs typeface="Cambria"/>
              </a:rPr>
              <a:t>the</a:t>
            </a:r>
            <a:r>
              <a:rPr sz="3050" spc="-30" dirty="0">
                <a:latin typeface="Cambria"/>
                <a:cs typeface="Cambria"/>
              </a:rPr>
              <a:t> </a:t>
            </a:r>
            <a:r>
              <a:rPr sz="3050" spc="-100" dirty="0">
                <a:latin typeface="Cambria"/>
                <a:cs typeface="Cambria"/>
              </a:rPr>
              <a:t>need</a:t>
            </a:r>
            <a:r>
              <a:rPr sz="3050" spc="-20" dirty="0">
                <a:latin typeface="Cambria"/>
                <a:cs typeface="Cambria"/>
              </a:rPr>
              <a:t> </a:t>
            </a:r>
            <a:r>
              <a:rPr sz="3050" spc="-135" dirty="0">
                <a:latin typeface="Cambria"/>
                <a:cs typeface="Cambria"/>
              </a:rPr>
              <a:t>for</a:t>
            </a:r>
            <a:r>
              <a:rPr sz="3050" spc="-45" dirty="0">
                <a:latin typeface="Cambria"/>
                <a:cs typeface="Cambria"/>
              </a:rPr>
              <a:t> </a:t>
            </a:r>
            <a:r>
              <a:rPr sz="3050" spc="-105" dirty="0">
                <a:latin typeface="Cambria"/>
                <a:cs typeface="Cambria"/>
              </a:rPr>
              <a:t>manual</a:t>
            </a:r>
            <a:r>
              <a:rPr sz="3050" spc="-45" dirty="0">
                <a:latin typeface="Cambria"/>
                <a:cs typeface="Cambria"/>
              </a:rPr>
              <a:t> </a:t>
            </a:r>
            <a:r>
              <a:rPr sz="3050" spc="-100" dirty="0">
                <a:latin typeface="Cambria"/>
                <a:cs typeface="Cambria"/>
              </a:rPr>
              <a:t>tuning</a:t>
            </a:r>
            <a:r>
              <a:rPr sz="3050" spc="-30" dirty="0">
                <a:latin typeface="Cambria"/>
                <a:cs typeface="Cambria"/>
              </a:rPr>
              <a:t> </a:t>
            </a:r>
            <a:r>
              <a:rPr sz="3050" spc="-120" dirty="0">
                <a:latin typeface="Cambria"/>
                <a:cs typeface="Cambria"/>
              </a:rPr>
              <a:t>and</a:t>
            </a:r>
            <a:r>
              <a:rPr sz="3050" spc="-50" dirty="0">
                <a:latin typeface="Cambria"/>
                <a:cs typeface="Cambria"/>
              </a:rPr>
              <a:t> </a:t>
            </a:r>
            <a:r>
              <a:rPr sz="3050" spc="-70" dirty="0">
                <a:latin typeface="Cambria"/>
                <a:cs typeface="Cambria"/>
              </a:rPr>
              <a:t>extra </a:t>
            </a:r>
            <a:r>
              <a:rPr sz="2950" spc="-20" dirty="0">
                <a:latin typeface="Cambria"/>
                <a:cs typeface="Cambria"/>
              </a:rPr>
              <a:t>hyperparameters.</a:t>
            </a:r>
            <a:endParaRPr sz="295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97684" y="5877630"/>
            <a:ext cx="1675764" cy="7874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175" algn="ctr">
              <a:lnSpc>
                <a:spcPts val="2955"/>
              </a:lnSpc>
              <a:spcBef>
                <a:spcPts val="120"/>
              </a:spcBef>
            </a:pPr>
            <a:r>
              <a:rPr sz="2550" spc="114" dirty="0">
                <a:solidFill>
                  <a:srgbClr val="0F0F0F"/>
                </a:solidFill>
                <a:latin typeface="Times New Roman"/>
                <a:cs typeface="Times New Roman"/>
              </a:rPr>
              <a:t>Teacher</a:t>
            </a:r>
            <a:endParaRPr sz="2550">
              <a:latin typeface="Times New Roman"/>
              <a:cs typeface="Times New Roman"/>
            </a:endParaRPr>
          </a:p>
          <a:p>
            <a:pPr algn="ctr">
              <a:lnSpc>
                <a:spcPts val="3015"/>
              </a:lnSpc>
            </a:pPr>
            <a:r>
              <a:rPr sz="2600" spc="80" dirty="0">
                <a:solidFill>
                  <a:srgbClr val="111111"/>
                </a:solidFill>
                <a:latin typeface="Times New Roman"/>
                <a:cs typeface="Times New Roman"/>
              </a:rPr>
              <a:t>Confidence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109162" y="9404702"/>
            <a:ext cx="1221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80" dirty="0">
                <a:latin typeface="Times New Roman"/>
                <a:cs typeface="Times New Roman"/>
              </a:rPr>
              <a:t>G</a:t>
            </a:r>
            <a:r>
              <a:rPr sz="1600" spc="340" dirty="0">
                <a:latin typeface="Times New Roman"/>
                <a:cs typeface="Times New Roman"/>
              </a:rPr>
              <a:t> </a:t>
            </a:r>
            <a:r>
              <a:rPr sz="1600" spc="-160" dirty="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3400" y="6121400"/>
            <a:ext cx="3009900" cy="2552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31600" y="6134100"/>
            <a:ext cx="3009900" cy="25400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41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z="4650" dirty="0">
                <a:solidFill>
                  <a:srgbClr val="000000"/>
                </a:solidFill>
              </a:rPr>
              <a:t>The Two</a:t>
            </a:r>
            <a:r>
              <a:rPr sz="4650" spc="-204" dirty="0">
                <a:solidFill>
                  <a:srgbClr val="000000"/>
                </a:solidFill>
              </a:rPr>
              <a:t> </a:t>
            </a:r>
            <a:r>
              <a:rPr sz="4650" dirty="0">
                <a:solidFill>
                  <a:srgbClr val="000000"/>
                </a:solidFill>
              </a:rPr>
              <a:t>Key</a:t>
            </a:r>
            <a:r>
              <a:rPr sz="4650" spc="-190" dirty="0">
                <a:solidFill>
                  <a:srgbClr val="000000"/>
                </a:solidFill>
              </a:rPr>
              <a:t> </a:t>
            </a:r>
            <a:r>
              <a:rPr sz="4650" dirty="0">
                <a:solidFill>
                  <a:srgbClr val="000000"/>
                </a:solidFill>
              </a:rPr>
              <a:t>Signals</a:t>
            </a:r>
            <a:r>
              <a:rPr sz="4650" spc="15" dirty="0">
                <a:solidFill>
                  <a:srgbClr val="000000"/>
                </a:solidFill>
              </a:rPr>
              <a:t> </a:t>
            </a:r>
            <a:r>
              <a:rPr sz="4650" spc="140" dirty="0">
                <a:solidFill>
                  <a:srgbClr val="000000"/>
                </a:solidFill>
              </a:rPr>
              <a:t>for</a:t>
            </a:r>
            <a:r>
              <a:rPr sz="4650" spc="-75" dirty="0">
                <a:solidFill>
                  <a:srgbClr val="000000"/>
                </a:solidFill>
              </a:rPr>
              <a:t> </a:t>
            </a:r>
            <a:r>
              <a:rPr sz="4650" spc="75" dirty="0">
                <a:solidFill>
                  <a:srgbClr val="000000"/>
                </a:solidFill>
              </a:rPr>
              <a:t>an</a:t>
            </a:r>
            <a:r>
              <a:rPr sz="4650" spc="-240" dirty="0">
                <a:solidFill>
                  <a:srgbClr val="000000"/>
                </a:solidFill>
              </a:rPr>
              <a:t> </a:t>
            </a:r>
            <a:r>
              <a:rPr sz="4650" spc="85" dirty="0">
                <a:solidFill>
                  <a:srgbClr val="000000"/>
                </a:solidFill>
              </a:rPr>
              <a:t>Adaptive</a:t>
            </a:r>
            <a:r>
              <a:rPr sz="4650" spc="-20" dirty="0">
                <a:solidFill>
                  <a:srgbClr val="000000"/>
                </a:solidFill>
              </a:rPr>
              <a:t> </a:t>
            </a:r>
            <a:r>
              <a:rPr sz="4650" spc="65" dirty="0">
                <a:solidFill>
                  <a:srgbClr val="000000"/>
                </a:solidFill>
              </a:rPr>
              <a:t>System</a:t>
            </a:r>
            <a:endParaRPr sz="4650"/>
          </a:p>
        </p:txBody>
      </p:sp>
      <p:sp>
        <p:nvSpPr>
          <p:cNvPr id="5" name="object 5"/>
          <p:cNvSpPr txBox="1"/>
          <p:nvPr/>
        </p:nvSpPr>
        <p:spPr>
          <a:xfrm>
            <a:off x="829016" y="1965325"/>
            <a:ext cx="7392034" cy="3314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</a:pPr>
            <a:r>
              <a:rPr sz="3100" spc="-105" dirty="0">
                <a:solidFill>
                  <a:srgbClr val="010E16"/>
                </a:solidFill>
                <a:latin typeface="Cambria"/>
                <a:cs typeface="Cambria"/>
              </a:rPr>
              <a:t>Signal</a:t>
            </a:r>
            <a:r>
              <a:rPr sz="3100" spc="-75" dirty="0">
                <a:solidFill>
                  <a:srgbClr val="010E16"/>
                </a:solidFill>
                <a:latin typeface="Cambria"/>
                <a:cs typeface="Cambria"/>
              </a:rPr>
              <a:t> </a:t>
            </a:r>
            <a:r>
              <a:rPr sz="3100" spc="-100" dirty="0">
                <a:solidFill>
                  <a:srgbClr val="0E0E0E"/>
                </a:solidFill>
                <a:latin typeface="Cambria"/>
                <a:cs typeface="Cambria"/>
              </a:rPr>
              <a:t>1:</a:t>
            </a:r>
            <a:r>
              <a:rPr sz="3100" spc="-245" dirty="0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sz="3100" spc="-180" dirty="0">
                <a:solidFill>
                  <a:srgbClr val="131313"/>
                </a:solidFill>
                <a:latin typeface="Cambria"/>
                <a:cs typeface="Cambria"/>
              </a:rPr>
              <a:t>Teacher</a:t>
            </a:r>
            <a:r>
              <a:rPr sz="3100" spc="-70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100" spc="-135" dirty="0">
                <a:solidFill>
                  <a:srgbClr val="010A13"/>
                </a:solidFill>
                <a:latin typeface="Cambria"/>
                <a:cs typeface="Cambria"/>
              </a:rPr>
              <a:t>Cnnfidence</a:t>
            </a:r>
            <a:r>
              <a:rPr sz="3100" spc="50" dirty="0">
                <a:solidFill>
                  <a:srgbClr val="010A13"/>
                </a:solidFill>
                <a:latin typeface="Cambria"/>
                <a:cs typeface="Cambria"/>
              </a:rPr>
              <a:t> </a:t>
            </a:r>
            <a:r>
              <a:rPr sz="4650" spc="-15" baseline="2688" dirty="0">
                <a:latin typeface="Cambria"/>
                <a:cs typeface="Cambria"/>
              </a:rPr>
              <a:t>(Co</a:t>
            </a:r>
            <a:r>
              <a:rPr sz="4650" spc="-15" baseline="4480" dirty="0">
                <a:latin typeface="Cambria"/>
                <a:cs typeface="Cambria"/>
              </a:rPr>
              <a:t>nf</a:t>
            </a:r>
            <a:r>
              <a:rPr sz="4650" spc="-15" baseline="-8064" dirty="0">
                <a:latin typeface="Cambria"/>
                <a:cs typeface="Cambria"/>
              </a:rPr>
              <a:t>t)</a:t>
            </a:r>
            <a:endParaRPr sz="4650" baseline="-8064" dirty="0">
              <a:latin typeface="Cambria"/>
              <a:cs typeface="Cambria"/>
            </a:endParaRPr>
          </a:p>
          <a:p>
            <a:pPr marL="53340" marR="1405890" indent="-3175">
              <a:lnSpc>
                <a:spcPts val="3700"/>
              </a:lnSpc>
              <a:spcBef>
                <a:spcPts val="70"/>
              </a:spcBef>
            </a:pPr>
            <a:r>
              <a:rPr sz="2900" spc="-140" dirty="0">
                <a:latin typeface="Cambria"/>
                <a:cs typeface="Cambria"/>
              </a:rPr>
              <a:t>How</a:t>
            </a:r>
            <a:r>
              <a:rPr sz="2900" spc="-20" dirty="0">
                <a:latin typeface="Cambria"/>
                <a:cs typeface="Cambria"/>
              </a:rPr>
              <a:t> </a:t>
            </a:r>
            <a:r>
              <a:rPr sz="2900" spc="-60" dirty="0">
                <a:latin typeface="Cambria"/>
                <a:cs typeface="Cambria"/>
              </a:rPr>
              <a:t>certain</a:t>
            </a:r>
            <a:r>
              <a:rPr sz="2900" spc="-100" dirty="0">
                <a:latin typeface="Cambria"/>
                <a:cs typeface="Cambria"/>
              </a:rPr>
              <a:t> </a:t>
            </a:r>
            <a:r>
              <a:rPr sz="2900" spc="-80" dirty="0">
                <a:latin typeface="Cambria"/>
                <a:cs typeface="Cambria"/>
              </a:rPr>
              <a:t>is</a:t>
            </a:r>
            <a:r>
              <a:rPr sz="2900" spc="-95" dirty="0">
                <a:latin typeface="Cambria"/>
                <a:cs typeface="Cambria"/>
              </a:rPr>
              <a:t> </a:t>
            </a:r>
            <a:r>
              <a:rPr sz="2900" spc="-55" dirty="0">
                <a:latin typeface="Cambria"/>
                <a:cs typeface="Cambria"/>
              </a:rPr>
              <a:t>the</a:t>
            </a:r>
            <a:r>
              <a:rPr sz="2900" spc="-105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teacher</a:t>
            </a:r>
            <a:r>
              <a:rPr sz="2900" spc="-25" dirty="0">
                <a:latin typeface="Cambria"/>
                <a:cs typeface="Cambria"/>
              </a:rPr>
              <a:t> </a:t>
            </a:r>
            <a:r>
              <a:rPr sz="2900" spc="-120" dirty="0">
                <a:latin typeface="Cambria"/>
                <a:cs typeface="Cambria"/>
              </a:rPr>
              <a:t>about</a:t>
            </a:r>
            <a:r>
              <a:rPr sz="2900" spc="1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its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spc="-55" dirty="0">
                <a:latin typeface="Cambria"/>
                <a:cs typeface="Cambria"/>
              </a:rPr>
              <a:t>own </a:t>
            </a:r>
            <a:r>
              <a:rPr sz="2900" spc="-30" dirty="0">
                <a:latin typeface="Cambria"/>
                <a:cs typeface="Cambria"/>
              </a:rPr>
              <a:t>embedding?</a:t>
            </a:r>
            <a:endParaRPr sz="2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900" dirty="0">
              <a:latin typeface="Cambria"/>
              <a:cs typeface="Cambria"/>
            </a:endParaRPr>
          </a:p>
          <a:p>
            <a:pPr marL="52705" marR="17780" indent="2540" algn="just">
              <a:lnSpc>
                <a:spcPct val="107800"/>
              </a:lnSpc>
            </a:pPr>
            <a:r>
              <a:rPr sz="2900" spc="-290" dirty="0">
                <a:latin typeface="Cambria"/>
                <a:cs typeface="Cambria"/>
              </a:rPr>
              <a:t>We</a:t>
            </a:r>
            <a:r>
              <a:rPr sz="2900" spc="130" dirty="0">
                <a:latin typeface="Cambria"/>
                <a:cs typeface="Cambria"/>
              </a:rPr>
              <a:t> </a:t>
            </a:r>
            <a:r>
              <a:rPr sz="2900" spc="-105" dirty="0">
                <a:latin typeface="Cambria"/>
                <a:cs typeface="Cambria"/>
              </a:rPr>
              <a:t>measure</a:t>
            </a:r>
            <a:r>
              <a:rPr sz="2900" spc="-55" dirty="0">
                <a:latin typeface="Cambria"/>
                <a:cs typeface="Cambria"/>
              </a:rPr>
              <a:t> </a:t>
            </a:r>
            <a:r>
              <a:rPr sz="2900" spc="-75" dirty="0">
                <a:latin typeface="Cambria"/>
                <a:cs typeface="Cambria"/>
              </a:rPr>
              <a:t>this</a:t>
            </a:r>
            <a:r>
              <a:rPr sz="2900" spc="-85" dirty="0">
                <a:latin typeface="Cambria"/>
                <a:cs typeface="Cambria"/>
              </a:rPr>
              <a:t> </a:t>
            </a:r>
            <a:r>
              <a:rPr sz="2900" spc="-105" dirty="0">
                <a:latin typeface="Cambria"/>
                <a:cs typeface="Cambria"/>
              </a:rPr>
              <a:t>as</a:t>
            </a:r>
            <a:r>
              <a:rPr sz="2900" spc="-55" dirty="0">
                <a:latin typeface="Cambria"/>
                <a:cs typeface="Cambria"/>
              </a:rPr>
              <a:t> </a:t>
            </a:r>
            <a:r>
              <a:rPr sz="2900" spc="-105" dirty="0">
                <a:latin typeface="Cambria"/>
                <a:cs typeface="Cambria"/>
              </a:rPr>
              <a:t>the</a:t>
            </a:r>
            <a:r>
              <a:rPr sz="2900" spc="-55" dirty="0">
                <a:latin typeface="Cambria"/>
                <a:cs typeface="Cambria"/>
              </a:rPr>
              <a:t> </a:t>
            </a:r>
            <a:r>
              <a:rPr sz="2900" spc="-45" dirty="0">
                <a:latin typeface="Cambria"/>
                <a:cs typeface="Cambria"/>
              </a:rPr>
              <a:t>cosine</a:t>
            </a:r>
            <a:r>
              <a:rPr sz="2900" spc="-114" dirty="0">
                <a:latin typeface="Cambria"/>
                <a:cs typeface="Cambria"/>
              </a:rPr>
              <a:t> </a:t>
            </a:r>
            <a:r>
              <a:rPr sz="2900" spc="-70" dirty="0">
                <a:latin typeface="Cambria"/>
                <a:cs typeface="Cambria"/>
              </a:rPr>
              <a:t>similarity</a:t>
            </a:r>
            <a:r>
              <a:rPr sz="2900" spc="-10" dirty="0">
                <a:latin typeface="Cambria"/>
                <a:cs typeface="Cambria"/>
              </a:rPr>
              <a:t> </a:t>
            </a:r>
            <a:r>
              <a:rPr sz="2900" spc="-30" dirty="0">
                <a:latin typeface="Cambria"/>
                <a:cs typeface="Cambria"/>
              </a:rPr>
              <a:t>between </a:t>
            </a:r>
            <a:r>
              <a:rPr sz="2900" spc="-110" dirty="0">
                <a:latin typeface="Cambria"/>
                <a:cs typeface="Cambria"/>
              </a:rPr>
              <a:t>the</a:t>
            </a:r>
            <a:r>
              <a:rPr sz="2900" spc="-50" dirty="0">
                <a:latin typeface="Cambria"/>
                <a:cs typeface="Cambria"/>
              </a:rPr>
              <a:t> </a:t>
            </a:r>
            <a:r>
              <a:rPr sz="2900" spc="-120" dirty="0">
                <a:latin typeface="Cambria"/>
                <a:cs typeface="Cambria"/>
              </a:rPr>
              <a:t>teacher's</a:t>
            </a:r>
            <a:r>
              <a:rPr sz="2900" spc="-4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embedding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spc="-85" dirty="0">
                <a:latin typeface="Cambria"/>
                <a:cs typeface="Cambria"/>
              </a:rPr>
              <a:t>and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spc="-90" dirty="0">
                <a:latin typeface="Cambria"/>
                <a:cs typeface="Cambria"/>
              </a:rPr>
              <a:t>its</a:t>
            </a:r>
            <a:r>
              <a:rPr sz="2900" spc="-70" dirty="0">
                <a:latin typeface="Cambria"/>
                <a:cs typeface="Cambria"/>
              </a:rPr>
              <a:t> </a:t>
            </a:r>
            <a:r>
              <a:rPr sz="2900" spc="-170" dirty="0">
                <a:latin typeface="Cambria"/>
                <a:cs typeface="Cambria"/>
              </a:rPr>
              <a:t>own</a:t>
            </a:r>
            <a:r>
              <a:rPr sz="2900" spc="10" dirty="0">
                <a:latin typeface="Cambria"/>
                <a:cs typeface="Cambria"/>
              </a:rPr>
              <a:t> </a:t>
            </a:r>
            <a:r>
              <a:rPr sz="2900" spc="-80" dirty="0">
                <a:latin typeface="Cambria"/>
                <a:cs typeface="Cambria"/>
              </a:rPr>
              <a:t>correct</a:t>
            </a:r>
            <a:r>
              <a:rPr sz="2900" spc="11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class </a:t>
            </a:r>
            <a:r>
              <a:rPr sz="2850" spc="-10" dirty="0">
                <a:latin typeface="Cambria"/>
                <a:cs typeface="Cambria"/>
              </a:rPr>
              <a:t>center.</a:t>
            </a:r>
            <a:endParaRPr sz="285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91380" y="5159022"/>
            <a:ext cx="984250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0" i="1" spc="-195" dirty="0">
                <a:latin typeface="Cambria"/>
                <a:cs typeface="Cambria"/>
              </a:rPr>
              <a:t>Conf;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1475" y="5254272"/>
            <a:ext cx="1824989" cy="639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000" spc="-270" baseline="9722" dirty="0">
                <a:latin typeface="Cambria"/>
                <a:cs typeface="Cambria"/>
              </a:rPr>
              <a:t>cos(</a:t>
            </a:r>
            <a:r>
              <a:rPr sz="4000" spc="-180" dirty="0">
                <a:latin typeface="Cambria"/>
                <a:cs typeface="Cambria"/>
              </a:rPr>
              <a:t>lb.•›)</a:t>
            </a:r>
            <a:endParaRPr sz="40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5571" y="6536266"/>
            <a:ext cx="230060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dirty="0">
                <a:latin typeface="Cambria"/>
                <a:cs typeface="Cambria"/>
              </a:rPr>
              <a:t>Teacher</a:t>
            </a:r>
            <a:r>
              <a:rPr sz="2050" spc="225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Embedding</a:t>
            </a:r>
            <a:endParaRPr sz="205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1225" y="7945966"/>
            <a:ext cx="149161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90" dirty="0">
                <a:latin typeface="Cambria"/>
                <a:cs typeface="Cambria"/>
              </a:rPr>
              <a:t>Class</a:t>
            </a:r>
            <a:r>
              <a:rPr sz="2050" spc="120" dirty="0">
                <a:latin typeface="Cambria"/>
                <a:cs typeface="Cambria"/>
              </a:rPr>
              <a:t> </a:t>
            </a:r>
            <a:r>
              <a:rPr sz="2050" spc="-10" dirty="0">
                <a:latin typeface="Cambria"/>
                <a:cs typeface="Cambria"/>
              </a:rPr>
              <a:t>Center</a:t>
            </a:r>
            <a:endParaRPr sz="20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9316" y="1998133"/>
            <a:ext cx="6943090" cy="28067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 marR="43180" indent="1270">
              <a:lnSpc>
                <a:spcPts val="3600"/>
              </a:lnSpc>
              <a:spcBef>
                <a:spcPts val="135"/>
              </a:spcBef>
            </a:pPr>
            <a:r>
              <a:rPr sz="2900" dirty="0">
                <a:solidFill>
                  <a:srgbClr val="417985"/>
                </a:solidFill>
                <a:latin typeface="Cambria"/>
                <a:cs typeface="Cambria"/>
              </a:rPr>
              <a:t>Signal</a:t>
            </a:r>
            <a:r>
              <a:rPr sz="2900" spc="-160" dirty="0">
                <a:solidFill>
                  <a:srgbClr val="417985"/>
                </a:solidFill>
                <a:latin typeface="Cambria"/>
                <a:cs typeface="Cambria"/>
              </a:rPr>
              <a:t> </a:t>
            </a:r>
            <a:r>
              <a:rPr sz="2900" spc="-10" dirty="0">
                <a:solidFill>
                  <a:srgbClr val="3B707B"/>
                </a:solidFill>
                <a:latin typeface="Cambria"/>
                <a:cs typeface="Cambria"/>
              </a:rPr>
              <a:t>2:</a:t>
            </a:r>
            <a:r>
              <a:rPr sz="2900" spc="-200" dirty="0">
                <a:solidFill>
                  <a:srgbClr val="3B707B"/>
                </a:solidFill>
                <a:latin typeface="Cambria"/>
                <a:cs typeface="Cambria"/>
              </a:rPr>
              <a:t> </a:t>
            </a:r>
            <a:r>
              <a:rPr sz="2900" spc="-50" dirty="0">
                <a:solidFill>
                  <a:srgbClr val="3D6E75"/>
                </a:solidFill>
                <a:latin typeface="Cambria"/>
                <a:cs typeface="Cambria"/>
              </a:rPr>
              <a:t>Student-</a:t>
            </a:r>
            <a:r>
              <a:rPr sz="2900" spc="-55" dirty="0">
                <a:solidFill>
                  <a:srgbClr val="3D6E75"/>
                </a:solidFill>
                <a:latin typeface="Cambria"/>
                <a:cs typeface="Cambria"/>
              </a:rPr>
              <a:t>Teacher</a:t>
            </a:r>
            <a:r>
              <a:rPr sz="2900" spc="-215" dirty="0">
                <a:solidFill>
                  <a:srgbClr val="3D6E75"/>
                </a:solidFill>
                <a:latin typeface="Cambria"/>
                <a:cs typeface="Cambria"/>
              </a:rPr>
              <a:t> </a:t>
            </a:r>
            <a:r>
              <a:rPr sz="2900" spc="-20" dirty="0">
                <a:solidFill>
                  <a:srgbClr val="3D7074"/>
                </a:solidFill>
                <a:latin typeface="Cambria"/>
                <a:cs typeface="Cambria"/>
              </a:rPr>
              <a:t>Alignment</a:t>
            </a:r>
            <a:r>
              <a:rPr sz="2900" spc="-100" dirty="0">
                <a:solidFill>
                  <a:srgbClr val="3D7074"/>
                </a:solidFill>
                <a:latin typeface="Cambria"/>
                <a:cs typeface="Cambria"/>
              </a:rPr>
              <a:t> </a:t>
            </a:r>
            <a:r>
              <a:rPr sz="4350" baseline="1915" dirty="0">
                <a:solidFill>
                  <a:srgbClr val="3D6D77"/>
                </a:solidFill>
                <a:latin typeface="Cambria"/>
                <a:cs typeface="Cambria"/>
              </a:rPr>
              <a:t>(cosy</a:t>
            </a:r>
            <a:r>
              <a:rPr sz="4350" baseline="-7662" dirty="0">
                <a:solidFill>
                  <a:srgbClr val="3D6D77"/>
                </a:solidFill>
                <a:latin typeface="Cambria"/>
                <a:cs typeface="Cambria"/>
              </a:rPr>
              <a:t>.</a:t>
            </a:r>
            <a:r>
              <a:rPr sz="4350" spc="472" baseline="-7662" dirty="0">
                <a:solidFill>
                  <a:srgbClr val="3D6D77"/>
                </a:solidFill>
                <a:latin typeface="Cambria"/>
                <a:cs typeface="Cambria"/>
              </a:rPr>
              <a:t> </a:t>
            </a:r>
            <a:r>
              <a:rPr sz="4350" spc="-75" baseline="-9578" dirty="0">
                <a:solidFill>
                  <a:srgbClr val="3D6D77"/>
                </a:solidFill>
                <a:latin typeface="Cambria"/>
                <a:cs typeface="Cambria"/>
              </a:rPr>
              <a:t>) </a:t>
            </a:r>
            <a:r>
              <a:rPr sz="2900" spc="-135" dirty="0">
                <a:latin typeface="Cambria"/>
                <a:cs typeface="Cambria"/>
              </a:rPr>
              <a:t>How</a:t>
            </a:r>
            <a:r>
              <a:rPr sz="2900" spc="-25" dirty="0">
                <a:latin typeface="Cambria"/>
                <a:cs typeface="Cambria"/>
              </a:rPr>
              <a:t> </a:t>
            </a:r>
            <a:r>
              <a:rPr sz="2900" spc="-110" dirty="0">
                <a:latin typeface="Cambria"/>
                <a:cs typeface="Cambria"/>
              </a:rPr>
              <a:t>well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dirty="0">
                <a:latin typeface="Cambria"/>
                <a:cs typeface="Cambria"/>
              </a:rPr>
              <a:t>is</a:t>
            </a:r>
            <a:r>
              <a:rPr sz="2900" spc="-160" dirty="0">
                <a:latin typeface="Cambria"/>
                <a:cs typeface="Cambria"/>
              </a:rPr>
              <a:t> </a:t>
            </a:r>
            <a:r>
              <a:rPr sz="2900" spc="-100" dirty="0">
                <a:latin typeface="Cambria"/>
                <a:cs typeface="Cambria"/>
              </a:rPr>
              <a:t>the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spc="-105" dirty="0">
                <a:latin typeface="Cambria"/>
                <a:cs typeface="Cambria"/>
              </a:rPr>
              <a:t>student</a:t>
            </a:r>
            <a:r>
              <a:rPr sz="2900" spc="-55" dirty="0">
                <a:latin typeface="Cambria"/>
                <a:cs typeface="Cambria"/>
              </a:rPr>
              <a:t> </a:t>
            </a:r>
            <a:r>
              <a:rPr sz="2900" spc="-85" dirty="0">
                <a:latin typeface="Cambria"/>
                <a:cs typeface="Cambria"/>
              </a:rPr>
              <a:t>following</a:t>
            </a:r>
            <a:r>
              <a:rPr sz="2900" spc="55" dirty="0">
                <a:latin typeface="Cambria"/>
                <a:cs typeface="Cambria"/>
              </a:rPr>
              <a:t> </a:t>
            </a:r>
            <a:r>
              <a:rPr sz="2900" spc="-110" dirty="0">
                <a:latin typeface="Cambria"/>
                <a:cs typeface="Cambria"/>
              </a:rPr>
              <a:t>the</a:t>
            </a:r>
            <a:r>
              <a:rPr sz="2900" spc="-50" dirty="0">
                <a:latin typeface="Cambria"/>
                <a:cs typeface="Cambria"/>
              </a:rPr>
              <a:t> </a:t>
            </a:r>
            <a:r>
              <a:rPr sz="2900" spc="-85" dirty="0">
                <a:latin typeface="Cambria"/>
                <a:cs typeface="Cambria"/>
              </a:rPr>
              <a:t>teacher's</a:t>
            </a:r>
            <a:endParaRPr sz="2900">
              <a:latin typeface="Cambria"/>
              <a:cs typeface="Cambria"/>
            </a:endParaRPr>
          </a:p>
          <a:p>
            <a:pPr marL="53340">
              <a:lnSpc>
                <a:spcPct val="100000"/>
              </a:lnSpc>
              <a:spcBef>
                <a:spcPts val="80"/>
              </a:spcBef>
            </a:pPr>
            <a:r>
              <a:rPr sz="2900" spc="-10" dirty="0">
                <a:latin typeface="Cambria"/>
                <a:cs typeface="Cambria"/>
              </a:rPr>
              <a:t>direction?</a:t>
            </a: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2900">
              <a:latin typeface="Cambria"/>
              <a:cs typeface="Cambria"/>
            </a:endParaRPr>
          </a:p>
          <a:p>
            <a:pPr marL="52705" marR="70485" indent="-5715">
              <a:lnSpc>
                <a:spcPct val="106300"/>
              </a:lnSpc>
            </a:pPr>
            <a:r>
              <a:rPr sz="2900" spc="-60" dirty="0">
                <a:latin typeface="Cambria"/>
                <a:cs typeface="Cambria"/>
              </a:rPr>
              <a:t>The</a:t>
            </a:r>
            <a:r>
              <a:rPr sz="2900" spc="-100" dirty="0">
                <a:latin typeface="Cambria"/>
                <a:cs typeface="Cambria"/>
              </a:rPr>
              <a:t> </a:t>
            </a:r>
            <a:r>
              <a:rPr sz="2900" spc="-70" dirty="0">
                <a:latin typeface="Cambria"/>
                <a:cs typeface="Cambria"/>
              </a:rPr>
              <a:t>cosine</a:t>
            </a:r>
            <a:r>
              <a:rPr sz="2900" spc="-90" dirty="0">
                <a:latin typeface="Cambria"/>
                <a:cs typeface="Cambria"/>
              </a:rPr>
              <a:t> </a:t>
            </a:r>
            <a:r>
              <a:rPr sz="2900" spc="-70" dirty="0">
                <a:latin typeface="Cambria"/>
                <a:cs typeface="Cambria"/>
              </a:rPr>
              <a:t>similarity</a:t>
            </a:r>
            <a:r>
              <a:rPr sz="2900" spc="-90" dirty="0">
                <a:latin typeface="Cambria"/>
                <a:cs typeface="Cambria"/>
              </a:rPr>
              <a:t> </a:t>
            </a:r>
            <a:r>
              <a:rPr sz="2900" spc="-125" dirty="0">
                <a:latin typeface="Cambria"/>
                <a:cs typeface="Cambria"/>
              </a:rPr>
              <a:t>between</a:t>
            </a:r>
            <a:r>
              <a:rPr sz="2900" spc="-30" dirty="0">
                <a:latin typeface="Cambria"/>
                <a:cs typeface="Cambria"/>
              </a:rPr>
              <a:t> </a:t>
            </a:r>
            <a:r>
              <a:rPr sz="2900" spc="-100" dirty="0">
                <a:latin typeface="Cambria"/>
                <a:cs typeface="Cambria"/>
              </a:rPr>
              <a:t>the</a:t>
            </a:r>
            <a:r>
              <a:rPr sz="2900" spc="-60" dirty="0">
                <a:latin typeface="Cambria"/>
                <a:cs typeface="Cambria"/>
              </a:rPr>
              <a:t> </a:t>
            </a:r>
            <a:r>
              <a:rPr sz="2900" spc="-105" dirty="0">
                <a:latin typeface="Cambria"/>
                <a:cs typeface="Cambria"/>
              </a:rPr>
              <a:t>student</a:t>
            </a:r>
            <a:r>
              <a:rPr sz="2900" spc="75" dirty="0">
                <a:latin typeface="Cambria"/>
                <a:cs typeface="Cambria"/>
              </a:rPr>
              <a:t> </a:t>
            </a:r>
            <a:r>
              <a:rPr sz="2900" spc="-25" dirty="0">
                <a:latin typeface="Cambria"/>
                <a:cs typeface="Cambria"/>
              </a:rPr>
              <a:t>and </a:t>
            </a:r>
            <a:r>
              <a:rPr sz="2900" spc="-95" dirty="0">
                <a:latin typeface="Cambria"/>
                <a:cs typeface="Cambria"/>
              </a:rPr>
              <a:t>teacher</a:t>
            </a:r>
            <a:r>
              <a:rPr sz="2900" spc="-50" dirty="0">
                <a:latin typeface="Cambria"/>
                <a:cs typeface="Cambria"/>
              </a:rPr>
              <a:t> </a:t>
            </a:r>
            <a:r>
              <a:rPr sz="2900" spc="-10" dirty="0">
                <a:latin typeface="Cambria"/>
                <a:cs typeface="Cambria"/>
              </a:rPr>
              <a:t>embeddings.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587453" y="5273675"/>
            <a:ext cx="871219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260" dirty="0">
                <a:latin typeface="Cambria"/>
                <a:cs typeface="Cambria"/>
              </a:rPr>
              <a:t>cos„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95554" y="5349875"/>
            <a:ext cx="1697989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650" baseline="10752" dirty="0">
                <a:latin typeface="Cambria"/>
                <a:cs typeface="Cambria"/>
              </a:rPr>
              <a:t>cos</a:t>
            </a:r>
            <a:r>
              <a:rPr sz="3100" dirty="0">
                <a:latin typeface="Cambria"/>
                <a:cs typeface="Cambria"/>
              </a:rPr>
              <a:t>ts›</a:t>
            </a:r>
            <a:r>
              <a:rPr sz="3100" spc="140" dirty="0">
                <a:latin typeface="Cambria"/>
                <a:cs typeface="Cambria"/>
              </a:rPr>
              <a:t>  </a:t>
            </a:r>
            <a:r>
              <a:rPr sz="3100" i="1" spc="-25" dirty="0">
                <a:latin typeface="Cambria"/>
                <a:cs typeface="Cambria"/>
              </a:rPr>
              <a:t>It)</a:t>
            </a:r>
            <a:endParaRPr sz="31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16101" y="6536266"/>
            <a:ext cx="232473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25" dirty="0">
                <a:latin typeface="Arial"/>
                <a:cs typeface="Arial"/>
              </a:rPr>
              <a:t>Teacher</a:t>
            </a:r>
            <a:r>
              <a:rPr sz="2050" spc="-75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</a:rPr>
              <a:t>Embedding</a:t>
            </a:r>
            <a:endParaRPr sz="2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207845" y="7899047"/>
            <a:ext cx="1306830" cy="6584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635">
              <a:lnSpc>
                <a:spcPts val="2400"/>
              </a:lnSpc>
              <a:spcBef>
                <a:spcPts val="330"/>
              </a:spcBef>
            </a:pPr>
            <a:r>
              <a:rPr sz="2150" spc="-10" dirty="0">
                <a:latin typeface="Cambria"/>
                <a:cs typeface="Cambria"/>
              </a:rPr>
              <a:t>Student </a:t>
            </a:r>
            <a:r>
              <a:rPr sz="2150" spc="-55" dirty="0">
                <a:latin typeface="Cambria"/>
                <a:cs typeface="Cambria"/>
              </a:rPr>
              <a:t>Embedding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42119" y="9439980"/>
            <a:ext cx="1238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  <p:pic>
        <p:nvPicPr>
          <p:cNvPr id="20" name="圖片 19" descr="一張含有 文字, 行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DEC8949F-B75C-C7FA-6EAD-FE3DFBFF7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983" y="4997942"/>
            <a:ext cx="5601971" cy="3912873"/>
          </a:xfrm>
          <a:prstGeom prst="rect">
            <a:avLst/>
          </a:prstGeom>
        </p:spPr>
      </p:pic>
      <p:pic>
        <p:nvPicPr>
          <p:cNvPr id="22" name="圖片 21" descr="一張含有 文字, 字型, 行 的圖片&#10;&#10;AI 產生的內容可能不正確。">
            <a:extLst>
              <a:ext uri="{FF2B5EF4-FFF2-40B4-BE49-F238E27FC236}">
                <a16:creationId xmlns:a16="http://schemas.microsoft.com/office/drawing/2014/main" id="{D7D299C5-AB46-0002-6342-DF7A20B0B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343" y="5159022"/>
            <a:ext cx="5713515" cy="37517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6100" y="2743200"/>
            <a:ext cx="1828800" cy="7620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080000" y="3147483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433" y="0"/>
                </a:lnTo>
              </a:path>
            </a:pathLst>
          </a:custGeom>
          <a:ln w="29633">
            <a:solidFill>
              <a:srgbClr val="0C0C0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080000" y="2982383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433" y="0"/>
                </a:lnTo>
              </a:path>
            </a:pathLst>
          </a:custGeom>
          <a:ln w="29633">
            <a:solidFill>
              <a:srgbClr val="0F0F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07600" y="3071283"/>
            <a:ext cx="461645" cy="0"/>
          </a:xfrm>
          <a:custGeom>
            <a:avLst/>
            <a:gdLst/>
            <a:ahLst/>
            <a:cxnLst/>
            <a:rect l="l" t="t" r="r" b="b"/>
            <a:pathLst>
              <a:path w="461645">
                <a:moveTo>
                  <a:pt x="0" y="0"/>
                </a:moveTo>
                <a:lnTo>
                  <a:pt x="461433" y="0"/>
                </a:lnTo>
              </a:path>
            </a:pathLst>
          </a:custGeom>
          <a:ln w="29633">
            <a:solidFill>
              <a:srgbClr val="0F0F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441" rIns="0" bIns="0" rtlCol="0">
            <a:spAutoFit/>
          </a:bodyPr>
          <a:lstStyle/>
          <a:p>
            <a:pPr marL="211454">
              <a:lnSpc>
                <a:spcPct val="100000"/>
              </a:lnSpc>
              <a:spcBef>
                <a:spcPts val="100"/>
              </a:spcBef>
            </a:pPr>
            <a:r>
              <a:rPr sz="4650" dirty="0">
                <a:solidFill>
                  <a:srgbClr val="000000"/>
                </a:solidFill>
              </a:rPr>
              <a:t>The</a:t>
            </a:r>
            <a:r>
              <a:rPr sz="4650" spc="15" dirty="0">
                <a:solidFill>
                  <a:srgbClr val="000000"/>
                </a:solidFill>
              </a:rPr>
              <a:t> </a:t>
            </a:r>
            <a:r>
              <a:rPr sz="4650" spc="105" dirty="0">
                <a:solidFill>
                  <a:srgbClr val="000000"/>
                </a:solidFill>
              </a:rPr>
              <a:t>Adaptive</a:t>
            </a:r>
            <a:r>
              <a:rPr sz="4650" spc="-55" dirty="0">
                <a:solidFill>
                  <a:srgbClr val="000000"/>
                </a:solidFill>
              </a:rPr>
              <a:t> </a:t>
            </a:r>
            <a:r>
              <a:rPr sz="4650" spc="65" dirty="0">
                <a:solidFill>
                  <a:srgbClr val="000000"/>
                </a:solidFill>
              </a:rPr>
              <a:t>Penalty</a:t>
            </a:r>
            <a:r>
              <a:rPr sz="4650" spc="-90" dirty="0">
                <a:solidFill>
                  <a:srgbClr val="000000"/>
                </a:solidFill>
              </a:rPr>
              <a:t> </a:t>
            </a:r>
            <a:r>
              <a:rPr sz="4650" spc="-10" dirty="0">
                <a:solidFill>
                  <a:srgbClr val="000000"/>
                </a:solidFill>
              </a:rPr>
              <a:t>Formula</a:t>
            </a:r>
            <a:endParaRPr sz="4650"/>
          </a:p>
        </p:txBody>
      </p:sp>
      <p:sp>
        <p:nvSpPr>
          <p:cNvPr id="7" name="object 7"/>
          <p:cNvSpPr txBox="1"/>
          <p:nvPr/>
        </p:nvSpPr>
        <p:spPr>
          <a:xfrm>
            <a:off x="2262422" y="2504722"/>
            <a:ext cx="2526665" cy="10204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0" spc="-165" dirty="0">
                <a:latin typeface="Cambria"/>
                <a:cs typeface="Cambria"/>
              </a:rPr>
              <a:t>Penalty</a:t>
            </a:r>
            <a:endParaRPr sz="65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2222" y="2460272"/>
            <a:ext cx="4046854" cy="10204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6500" spc="-10" dirty="0">
                <a:latin typeface="Cambria"/>
                <a:cs typeface="Cambria"/>
              </a:rPr>
              <a:t>ReLU(Co</a:t>
            </a:r>
            <a:r>
              <a:rPr sz="9750" spc="-15" baseline="-10256" dirty="0">
                <a:latin typeface="Cambria"/>
                <a:cs typeface="Cambria"/>
              </a:rPr>
              <a:t>•fi</a:t>
            </a:r>
            <a:endParaRPr sz="9750" baseline="-10256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5748" y="5236878"/>
            <a:ext cx="5530850" cy="2889885"/>
          </a:xfrm>
          <a:prstGeom prst="rect">
            <a:avLst/>
          </a:prstGeom>
        </p:spPr>
        <p:txBody>
          <a:bodyPr vert="horz" wrap="square" lIns="0" tIns="2241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65"/>
              </a:spcBef>
            </a:pPr>
            <a:r>
              <a:rPr sz="3450" spc="215" dirty="0">
                <a:latin typeface="Cambria"/>
                <a:cs typeface="Cambria"/>
              </a:rPr>
              <a:t>Partl:</a:t>
            </a:r>
            <a:r>
              <a:rPr sz="3450" spc="-305" dirty="0">
                <a:latin typeface="Cambria"/>
                <a:cs typeface="Cambria"/>
              </a:rPr>
              <a:t> </a:t>
            </a:r>
            <a:r>
              <a:rPr sz="3450" spc="-95" dirty="0">
                <a:latin typeface="Cambria"/>
                <a:cs typeface="Cambria"/>
              </a:rPr>
              <a:t>*ReLU(Conj",</a:t>
            </a:r>
            <a:r>
              <a:rPr sz="3450" spc="90" dirty="0">
                <a:latin typeface="Cambria"/>
                <a:cs typeface="Cambria"/>
              </a:rPr>
              <a:t> </a:t>
            </a:r>
            <a:r>
              <a:rPr sz="3450" spc="-1245" dirty="0">
                <a:latin typeface="Cambria"/>
                <a:cs typeface="Cambria"/>
              </a:rPr>
              <a:t>—</a:t>
            </a:r>
            <a:r>
              <a:rPr sz="3450" spc="90" dirty="0">
                <a:latin typeface="Cambria"/>
                <a:cs typeface="Cambria"/>
              </a:rPr>
              <a:t> </a:t>
            </a:r>
            <a:r>
              <a:rPr sz="5175" spc="-15" baseline="1610" dirty="0">
                <a:latin typeface="Cambria"/>
                <a:cs typeface="Cambria"/>
              </a:rPr>
              <a:t>cos</a:t>
            </a:r>
            <a:r>
              <a:rPr sz="5175" spc="-15" baseline="-9661" dirty="0">
                <a:latin typeface="Cambria"/>
                <a:cs typeface="Cambria"/>
              </a:rPr>
              <a:t>st)”</a:t>
            </a:r>
            <a:endParaRPr sz="5175" baseline="-9661">
              <a:latin typeface="Cambria"/>
              <a:cs typeface="Cambria"/>
            </a:endParaRPr>
          </a:p>
          <a:p>
            <a:pPr marL="43180" marR="30480" indent="-5080">
              <a:lnSpc>
                <a:spcPts val="3800"/>
              </a:lnSpc>
              <a:spcBef>
                <a:spcPts val="1645"/>
              </a:spcBef>
            </a:pPr>
            <a:r>
              <a:rPr sz="3200" spc="-204" dirty="0">
                <a:latin typeface="Cambria"/>
                <a:cs typeface="Cambria"/>
              </a:rPr>
              <a:t>This</a:t>
            </a:r>
            <a:r>
              <a:rPr sz="3200" spc="-60" dirty="0">
                <a:latin typeface="Cambria"/>
                <a:cs typeface="Cambria"/>
              </a:rPr>
              <a:t> </a:t>
            </a:r>
            <a:r>
              <a:rPr sz="3200" spc="-254" dirty="0">
                <a:latin typeface="Cambria"/>
                <a:cs typeface="Cambria"/>
              </a:rPr>
              <a:t>term</a:t>
            </a:r>
            <a:r>
              <a:rPr sz="3200" spc="-105" dirty="0">
                <a:latin typeface="Cambria"/>
                <a:cs typeface="Cambria"/>
              </a:rPr>
              <a:t> </a:t>
            </a:r>
            <a:r>
              <a:rPr sz="3200" spc="-229" dirty="0">
                <a:latin typeface="Cambria"/>
                <a:cs typeface="Cambria"/>
              </a:rPr>
              <a:t>determines</a:t>
            </a:r>
            <a:r>
              <a:rPr sz="3200" spc="140" dirty="0">
                <a:latin typeface="Cambria"/>
                <a:cs typeface="Cambria"/>
              </a:rPr>
              <a:t> </a:t>
            </a:r>
            <a:r>
              <a:rPr sz="3200" spc="-260" dirty="0">
                <a:solidFill>
                  <a:srgbClr val="0F2A34"/>
                </a:solidFill>
                <a:latin typeface="Cambria"/>
                <a:cs typeface="Cambria"/>
              </a:rPr>
              <a:t>WHEN</a:t>
            </a:r>
            <a:r>
              <a:rPr sz="3200" spc="-160" dirty="0">
                <a:solidFill>
                  <a:srgbClr val="0F2A34"/>
                </a:solidFill>
                <a:latin typeface="Cambria"/>
                <a:cs typeface="Cambria"/>
              </a:rPr>
              <a:t> </a:t>
            </a:r>
            <a:r>
              <a:rPr sz="3200" spc="-25" dirty="0">
                <a:latin typeface="Cambria"/>
                <a:cs typeface="Cambria"/>
              </a:rPr>
              <a:t>to </a:t>
            </a:r>
            <a:r>
              <a:rPr sz="3250" spc="-270" dirty="0">
                <a:latin typeface="Cambria"/>
                <a:cs typeface="Cambria"/>
              </a:rPr>
              <a:t>apply</a:t>
            </a:r>
            <a:r>
              <a:rPr sz="3250" spc="60" dirty="0">
                <a:latin typeface="Cambria"/>
                <a:cs typeface="Cambria"/>
              </a:rPr>
              <a:t> </a:t>
            </a:r>
            <a:r>
              <a:rPr sz="3250" spc="-245" dirty="0">
                <a:latin typeface="Cambria"/>
                <a:cs typeface="Cambria"/>
              </a:rPr>
              <a:t>a</a:t>
            </a:r>
            <a:r>
              <a:rPr sz="3250" spc="-155" dirty="0">
                <a:latin typeface="Cambria"/>
                <a:cs typeface="Cambria"/>
              </a:rPr>
              <a:t> </a:t>
            </a:r>
            <a:r>
              <a:rPr sz="3250" spc="-204" dirty="0">
                <a:latin typeface="Cambria"/>
                <a:cs typeface="Cambria"/>
              </a:rPr>
              <a:t>penalty.</a:t>
            </a:r>
            <a:r>
              <a:rPr sz="3250" spc="114" dirty="0">
                <a:latin typeface="Cambria"/>
                <a:cs typeface="Cambria"/>
              </a:rPr>
              <a:t> </a:t>
            </a:r>
            <a:r>
              <a:rPr sz="3250" spc="-130" dirty="0">
                <a:latin typeface="Cambria"/>
                <a:cs typeface="Cambria"/>
              </a:rPr>
              <a:t>it</a:t>
            </a:r>
            <a:r>
              <a:rPr sz="3250" spc="-175" dirty="0">
                <a:latin typeface="Cambria"/>
                <a:cs typeface="Cambria"/>
              </a:rPr>
              <a:t> </a:t>
            </a:r>
            <a:r>
              <a:rPr sz="3250" spc="-204" dirty="0">
                <a:latin typeface="Cambria"/>
                <a:cs typeface="Cambria"/>
              </a:rPr>
              <a:t>acts</a:t>
            </a:r>
            <a:r>
              <a:rPr sz="3250" spc="-70" dirty="0">
                <a:latin typeface="Cambria"/>
                <a:cs typeface="Cambria"/>
              </a:rPr>
              <a:t> </a:t>
            </a:r>
            <a:r>
              <a:rPr sz="3250" spc="-204" dirty="0">
                <a:latin typeface="Cambria"/>
                <a:cs typeface="Cambria"/>
              </a:rPr>
              <a:t>as</a:t>
            </a:r>
            <a:r>
              <a:rPr sz="3250" spc="-220" dirty="0">
                <a:latin typeface="Cambria"/>
                <a:cs typeface="Cambria"/>
              </a:rPr>
              <a:t> </a:t>
            </a:r>
            <a:r>
              <a:rPr sz="3250" spc="-135" dirty="0">
                <a:latin typeface="Cambria"/>
                <a:cs typeface="Cambria"/>
              </a:rPr>
              <a:t>a</a:t>
            </a:r>
            <a:r>
              <a:rPr sz="3250" spc="-225" dirty="0">
                <a:latin typeface="Cambria"/>
                <a:cs typeface="Cambria"/>
              </a:rPr>
              <a:t> </a:t>
            </a:r>
            <a:r>
              <a:rPr sz="3250" spc="-215" dirty="0">
                <a:latin typeface="Cambria"/>
                <a:cs typeface="Cambria"/>
              </a:rPr>
              <a:t>dynamic, </a:t>
            </a:r>
            <a:r>
              <a:rPr sz="3200" spc="-195" dirty="0">
                <a:latin typeface="Cambria"/>
                <a:cs typeface="Cambria"/>
              </a:rPr>
              <a:t>teacher-</a:t>
            </a:r>
            <a:r>
              <a:rPr sz="3200" spc="-200" dirty="0">
                <a:latin typeface="Cambria"/>
                <a:cs typeface="Cambria"/>
              </a:rPr>
              <a:t>defined</a:t>
            </a:r>
            <a:r>
              <a:rPr sz="3200" spc="-90" dirty="0">
                <a:latin typeface="Cambria"/>
                <a:cs typeface="Cambria"/>
              </a:rPr>
              <a:t> </a:t>
            </a:r>
            <a:r>
              <a:rPr sz="3200" spc="-80" dirty="0">
                <a:latin typeface="Cambria"/>
                <a:cs typeface="Cambria"/>
              </a:rPr>
              <a:t>activation </a:t>
            </a:r>
            <a:r>
              <a:rPr sz="3200" spc="-100" dirty="0">
                <a:latin typeface="Cambria"/>
                <a:cs typeface="Cambria"/>
              </a:rPr>
              <a:t>condition.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33663" y="2717447"/>
            <a:ext cx="1978025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650" spc="175" dirty="0">
                <a:latin typeface="Cambria"/>
                <a:cs typeface="Cambria"/>
              </a:rPr>
              <a:t>COS</a:t>
            </a:r>
            <a:r>
              <a:rPr sz="6975" spc="262" baseline="-14336" dirty="0">
                <a:latin typeface="Cambria"/>
                <a:cs typeface="Cambria"/>
              </a:rPr>
              <a:t>s</a:t>
            </a:r>
            <a:r>
              <a:rPr sz="6975" spc="240" baseline="-14336" dirty="0">
                <a:latin typeface="Cambria"/>
                <a:cs typeface="Cambria"/>
              </a:rPr>
              <a:t>  </a:t>
            </a:r>
            <a:r>
              <a:rPr sz="6975" spc="104" baseline="-14336" dirty="0">
                <a:latin typeface="Cambria"/>
                <a:cs typeface="Cambria"/>
              </a:rPr>
              <a:t>)</a:t>
            </a:r>
            <a:endParaRPr sz="6975" baseline="-14336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37705" y="5187827"/>
            <a:ext cx="5295900" cy="293878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600" dirty="0">
                <a:latin typeface="Cambria"/>
                <a:cs typeface="Cambria"/>
              </a:rPr>
              <a:t>Part2:</a:t>
            </a:r>
            <a:r>
              <a:rPr sz="3600" spc="-110" dirty="0">
                <a:latin typeface="Cambria"/>
                <a:cs typeface="Cambria"/>
              </a:rPr>
              <a:t> </a:t>
            </a:r>
            <a:r>
              <a:rPr sz="3600" spc="-630" dirty="0">
                <a:latin typeface="Cambria"/>
                <a:cs typeface="Cambria"/>
              </a:rPr>
              <a:t>*•</a:t>
            </a:r>
            <a:r>
              <a:rPr sz="3600" spc="25" dirty="0">
                <a:latin typeface="Cambria"/>
                <a:cs typeface="Cambria"/>
              </a:rPr>
              <a:t> </a:t>
            </a:r>
            <a:r>
              <a:rPr sz="3600" i="1" spc="-10" dirty="0">
                <a:latin typeface="Cambria"/>
                <a:cs typeface="Cambria"/>
              </a:rPr>
              <a:t>Conf;‘</a:t>
            </a:r>
            <a:endParaRPr sz="3600">
              <a:latin typeface="Cambria"/>
              <a:cs typeface="Cambria"/>
            </a:endParaRPr>
          </a:p>
          <a:p>
            <a:pPr marL="18415" marR="5080" indent="-5080">
              <a:lnSpc>
                <a:spcPts val="3800"/>
              </a:lnSpc>
              <a:spcBef>
                <a:spcPts val="1720"/>
              </a:spcBef>
            </a:pPr>
            <a:r>
              <a:rPr sz="3200" spc="-204" dirty="0">
                <a:latin typeface="Cambria"/>
                <a:cs typeface="Cambria"/>
              </a:rPr>
              <a:t>This</a:t>
            </a:r>
            <a:r>
              <a:rPr sz="3200" spc="-45" dirty="0">
                <a:latin typeface="Cambria"/>
                <a:cs typeface="Cambria"/>
              </a:rPr>
              <a:t> </a:t>
            </a:r>
            <a:r>
              <a:rPr sz="3200" spc="-254" dirty="0">
                <a:latin typeface="Cambria"/>
                <a:cs typeface="Cambria"/>
              </a:rPr>
              <a:t>term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240" dirty="0">
                <a:latin typeface="Cambria"/>
                <a:cs typeface="Cambria"/>
              </a:rPr>
              <a:t>determines</a:t>
            </a:r>
            <a:r>
              <a:rPr sz="3200" spc="130" dirty="0">
                <a:latin typeface="Cambria"/>
                <a:cs typeface="Cambria"/>
              </a:rPr>
              <a:t> </a:t>
            </a:r>
            <a:r>
              <a:rPr sz="3200" spc="-270" dirty="0">
                <a:solidFill>
                  <a:srgbClr val="131313"/>
                </a:solidFill>
                <a:latin typeface="Cambria"/>
                <a:cs typeface="Cambria"/>
              </a:rPr>
              <a:t>HOW</a:t>
            </a:r>
            <a:r>
              <a:rPr sz="3200" spc="15" dirty="0">
                <a:solidFill>
                  <a:srgbClr val="131313"/>
                </a:solidFill>
                <a:latin typeface="Cambria"/>
                <a:cs typeface="Cambria"/>
              </a:rPr>
              <a:t> </a:t>
            </a:r>
            <a:r>
              <a:rPr sz="3200" spc="-95" dirty="0">
                <a:solidFill>
                  <a:srgbClr val="052331"/>
                </a:solidFill>
                <a:latin typeface="Cambria"/>
                <a:cs typeface="Cambria"/>
              </a:rPr>
              <a:t>MUCH </a:t>
            </a:r>
            <a:r>
              <a:rPr sz="3200" spc="-190" dirty="0">
                <a:latin typeface="Cambria"/>
                <a:cs typeface="Cambria"/>
              </a:rPr>
              <a:t>to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215" dirty="0">
                <a:latin typeface="Cambria"/>
                <a:cs typeface="Cambria"/>
              </a:rPr>
              <a:t>penalize.</a:t>
            </a:r>
            <a:r>
              <a:rPr sz="3200" spc="50" dirty="0">
                <a:latin typeface="Cambria"/>
                <a:cs typeface="Cambria"/>
              </a:rPr>
              <a:t> </a:t>
            </a:r>
            <a:r>
              <a:rPr sz="3200" spc="-125" dirty="0">
                <a:latin typeface="Cambria"/>
                <a:cs typeface="Cambria"/>
              </a:rPr>
              <a:t>It</a:t>
            </a:r>
            <a:r>
              <a:rPr sz="3200" spc="-145" dirty="0">
                <a:latin typeface="Cambria"/>
                <a:cs typeface="Cambria"/>
              </a:rPr>
              <a:t> </a:t>
            </a:r>
            <a:r>
              <a:rPr sz="3200" spc="-200" dirty="0">
                <a:latin typeface="Cambria"/>
                <a:cs typeface="Cambria"/>
              </a:rPr>
              <a:t>scales</a:t>
            </a:r>
            <a:r>
              <a:rPr sz="3200" spc="40" dirty="0">
                <a:latin typeface="Cambria"/>
                <a:cs typeface="Cambria"/>
              </a:rPr>
              <a:t> </a:t>
            </a:r>
            <a:r>
              <a:rPr sz="3200" spc="-229" dirty="0">
                <a:latin typeface="Cambria"/>
                <a:cs typeface="Cambria"/>
              </a:rPr>
              <a:t>the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spc="-80" dirty="0">
                <a:latin typeface="Cambria"/>
                <a:cs typeface="Cambria"/>
              </a:rPr>
              <a:t>penalty's </a:t>
            </a:r>
            <a:r>
              <a:rPr sz="3200" spc="-240" dirty="0">
                <a:latin typeface="Cambria"/>
                <a:cs typeface="Cambria"/>
              </a:rPr>
              <a:t>magnitude</a:t>
            </a:r>
            <a:r>
              <a:rPr sz="3200" spc="135" dirty="0">
                <a:latin typeface="Cambria"/>
                <a:cs typeface="Cambria"/>
              </a:rPr>
              <a:t> </a:t>
            </a:r>
            <a:r>
              <a:rPr sz="3200" spc="-250" dirty="0">
                <a:latin typeface="Cambria"/>
                <a:cs typeface="Cambria"/>
              </a:rPr>
              <a:t>based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220" dirty="0">
                <a:latin typeface="Cambria"/>
                <a:cs typeface="Cambria"/>
              </a:rPr>
              <a:t>on</a:t>
            </a:r>
            <a:r>
              <a:rPr sz="3200" spc="-95" dirty="0">
                <a:latin typeface="Cambria"/>
                <a:cs typeface="Cambria"/>
              </a:rPr>
              <a:t> </a:t>
            </a:r>
            <a:r>
              <a:rPr sz="3200" spc="-225" dirty="0">
                <a:latin typeface="Cambria"/>
                <a:cs typeface="Cambria"/>
              </a:rPr>
              <a:t>the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90" dirty="0">
                <a:latin typeface="Cambria"/>
                <a:cs typeface="Cambria"/>
              </a:rPr>
              <a:t>teacher's </a:t>
            </a:r>
            <a:r>
              <a:rPr sz="3200" spc="-114" dirty="0">
                <a:latin typeface="Cambria"/>
                <a:cs typeface="Cambria"/>
              </a:rPr>
              <a:t>confidence.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98824" y="9413522"/>
            <a:ext cx="128905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5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19" name="圖片 18" descr="一張含有 文字, 螢幕擷取畫面, 字型, 文件 的圖片&#10;&#10;AI 產生的內容可能不正確。">
            <a:extLst>
              <a:ext uri="{FF2B5EF4-FFF2-40B4-BE49-F238E27FC236}">
                <a16:creationId xmlns:a16="http://schemas.microsoft.com/office/drawing/2014/main" id="{5130FD65-3AF3-6831-5FE8-D92F368B3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33"/>
            <a:ext cx="17475200" cy="96841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00" y="5092700"/>
            <a:ext cx="330200" cy="1257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17100" y="4508500"/>
            <a:ext cx="4572000" cy="2489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5200" y="6959600"/>
            <a:ext cx="1219200" cy="279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2300" y="6794500"/>
            <a:ext cx="254000" cy="1066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43300" y="8039100"/>
            <a:ext cx="12700" cy="2286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50200" y="7962900"/>
            <a:ext cx="165100" cy="9652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43300" y="8293100"/>
            <a:ext cx="571500" cy="4064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03500" y="6946900"/>
            <a:ext cx="1219200" cy="292100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187021" y="900288"/>
            <a:ext cx="15033625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50" spc="165" dirty="0">
                <a:solidFill>
                  <a:srgbClr val="1D1D1D"/>
                </a:solidFill>
              </a:rPr>
              <a:t>Intuition</a:t>
            </a:r>
            <a:r>
              <a:rPr sz="4850" spc="-335" dirty="0">
                <a:solidFill>
                  <a:srgbClr val="1D1D1D"/>
                </a:solidFill>
              </a:rPr>
              <a:t> </a:t>
            </a:r>
            <a:r>
              <a:rPr sz="4850" spc="-35" dirty="0">
                <a:solidFill>
                  <a:srgbClr val="212121"/>
                </a:solidFill>
              </a:rPr>
              <a:t>1:</a:t>
            </a:r>
            <a:r>
              <a:rPr sz="4850" spc="-100" dirty="0">
                <a:solidFill>
                  <a:srgbClr val="212121"/>
                </a:solidFill>
              </a:rPr>
              <a:t> </a:t>
            </a:r>
            <a:r>
              <a:rPr sz="4850" spc="-135" dirty="0">
                <a:solidFill>
                  <a:srgbClr val="212121"/>
                </a:solidFill>
              </a:rPr>
              <a:t>A</a:t>
            </a:r>
            <a:r>
              <a:rPr sz="4850" spc="-190" dirty="0">
                <a:solidFill>
                  <a:srgbClr val="212121"/>
                </a:solidFill>
              </a:rPr>
              <a:t> </a:t>
            </a:r>
            <a:r>
              <a:rPr sz="4850" dirty="0">
                <a:solidFill>
                  <a:srgbClr val="1D1D1D"/>
                </a:solidFill>
              </a:rPr>
              <a:t>Penalty</a:t>
            </a:r>
            <a:r>
              <a:rPr sz="4850" spc="30" dirty="0">
                <a:solidFill>
                  <a:srgbClr val="1D1D1D"/>
                </a:solidFill>
              </a:rPr>
              <a:t> </a:t>
            </a:r>
            <a:r>
              <a:rPr sz="4850" dirty="0">
                <a:solidFill>
                  <a:srgbClr val="212121"/>
                </a:solidFill>
              </a:rPr>
              <a:t>is</a:t>
            </a:r>
            <a:r>
              <a:rPr sz="4850" spc="170" dirty="0">
                <a:solidFill>
                  <a:srgbClr val="212121"/>
                </a:solidFill>
              </a:rPr>
              <a:t> </a:t>
            </a:r>
            <a:r>
              <a:rPr sz="4850" spc="65" dirty="0">
                <a:solidFill>
                  <a:srgbClr val="212121"/>
                </a:solidFill>
              </a:rPr>
              <a:t>Applied</a:t>
            </a:r>
            <a:r>
              <a:rPr sz="4850" spc="-30" dirty="0">
                <a:solidFill>
                  <a:srgbClr val="212121"/>
                </a:solidFill>
              </a:rPr>
              <a:t> </a:t>
            </a:r>
            <a:r>
              <a:rPr sz="4850" dirty="0">
                <a:solidFill>
                  <a:srgbClr val="212121"/>
                </a:solidFill>
              </a:rPr>
              <a:t>Only</a:t>
            </a:r>
            <a:r>
              <a:rPr sz="4850" spc="-5" dirty="0">
                <a:solidFill>
                  <a:srgbClr val="212121"/>
                </a:solidFill>
              </a:rPr>
              <a:t> </a:t>
            </a:r>
            <a:r>
              <a:rPr sz="4850" dirty="0">
                <a:solidFill>
                  <a:srgbClr val="1F1F1F"/>
                </a:solidFill>
              </a:rPr>
              <a:t>When</a:t>
            </a:r>
            <a:r>
              <a:rPr sz="4850" spc="-130" dirty="0">
                <a:solidFill>
                  <a:srgbClr val="1F1F1F"/>
                </a:solidFill>
              </a:rPr>
              <a:t> </a:t>
            </a:r>
            <a:r>
              <a:rPr sz="4850" spc="-10" dirty="0">
                <a:solidFill>
                  <a:srgbClr val="1D1D1D"/>
                </a:solidFill>
              </a:rPr>
              <a:t>Necessary</a:t>
            </a:r>
            <a:endParaRPr sz="4850"/>
          </a:p>
        </p:txBody>
      </p:sp>
      <p:sp>
        <p:nvSpPr>
          <p:cNvPr id="11" name="object 11"/>
          <p:cNvSpPr txBox="1"/>
          <p:nvPr/>
        </p:nvSpPr>
        <p:spPr>
          <a:xfrm>
            <a:off x="1276007" y="6483350"/>
            <a:ext cx="59499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5" dirty="0">
                <a:solidFill>
                  <a:srgbClr val="696969"/>
                </a:solidFill>
                <a:latin typeface="OCR A Extended"/>
                <a:cs typeface="OCR A Extended"/>
              </a:rPr>
              <a:t>Low</a:t>
            </a:r>
            <a:endParaRPr sz="2500">
              <a:latin typeface="OCR A Extended"/>
              <a:cs typeface="OCR A Extende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1832" y="1886226"/>
            <a:ext cx="13492480" cy="3736340"/>
          </a:xfrm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111760" algn="ctr">
              <a:lnSpc>
                <a:spcPct val="100000"/>
              </a:lnSpc>
              <a:spcBef>
                <a:spcPts val="1945"/>
              </a:spcBef>
            </a:pPr>
            <a:r>
              <a:rPr sz="3300" spc="-505" dirty="0">
                <a:latin typeface="Times New Roman"/>
                <a:cs typeface="Times New Roman"/>
              </a:rPr>
              <a:t>A</a:t>
            </a:r>
            <a:r>
              <a:rPr sz="3300" spc="10" dirty="0">
                <a:latin typeface="Times New Roman"/>
                <a:cs typeface="Times New Roman"/>
              </a:rPr>
              <a:t> </a:t>
            </a:r>
            <a:r>
              <a:rPr sz="3300" spc="-65" dirty="0">
                <a:latin typeface="Times New Roman"/>
                <a:cs typeface="Times New Roman"/>
              </a:rPr>
              <a:t>penalty</a:t>
            </a:r>
            <a:r>
              <a:rPr sz="3300" spc="-145" dirty="0">
                <a:latin typeface="Times New Roman"/>
                <a:cs typeface="Times New Roman"/>
              </a:rPr>
              <a:t> </a:t>
            </a:r>
            <a:r>
              <a:rPr sz="3300" spc="-85" dirty="0">
                <a:latin typeface="Times New Roman"/>
                <a:cs typeface="Times New Roman"/>
              </a:rPr>
              <a:t>is</a:t>
            </a:r>
            <a:r>
              <a:rPr sz="3300" spc="-215" dirty="0">
                <a:latin typeface="Times New Roman"/>
                <a:cs typeface="Times New Roman"/>
              </a:rPr>
              <a:t> </a:t>
            </a:r>
            <a:r>
              <a:rPr sz="3300" spc="-40" dirty="0">
                <a:latin typeface="Times New Roman"/>
                <a:cs typeface="Times New Roman"/>
              </a:rPr>
              <a:t>applied</a:t>
            </a:r>
            <a:r>
              <a:rPr sz="3300" spc="-20" dirty="0">
                <a:latin typeface="Times New Roman"/>
                <a:cs typeface="Times New Roman"/>
              </a:rPr>
              <a:t> </a:t>
            </a:r>
            <a:r>
              <a:rPr sz="3300" spc="-25" dirty="0">
                <a:latin typeface="Times New Roman"/>
                <a:cs typeface="Times New Roman"/>
              </a:rPr>
              <a:t>only</a:t>
            </a:r>
            <a:r>
              <a:rPr sz="3300" spc="-145" dirty="0">
                <a:latin typeface="Times New Roman"/>
                <a:cs typeface="Times New Roman"/>
              </a:rPr>
              <a:t> </a:t>
            </a:r>
            <a:r>
              <a:rPr sz="3300" spc="80" dirty="0">
                <a:latin typeface="Times New Roman"/>
                <a:cs typeface="Times New Roman"/>
              </a:rPr>
              <a:t>ifcos„st</a:t>
            </a:r>
            <a:r>
              <a:rPr sz="3300" spc="-25" dirty="0">
                <a:latin typeface="Times New Roman"/>
                <a:cs typeface="Times New Roman"/>
              </a:rPr>
              <a:t> </a:t>
            </a:r>
            <a:r>
              <a:rPr sz="3300" spc="-300" dirty="0">
                <a:latin typeface="Times New Roman"/>
                <a:cs typeface="Times New Roman"/>
              </a:rPr>
              <a:t>&lt;</a:t>
            </a:r>
            <a:r>
              <a:rPr sz="3300" spc="-165" dirty="0">
                <a:latin typeface="Times New Roman"/>
                <a:cs typeface="Times New Roman"/>
              </a:rPr>
              <a:t> </a:t>
            </a:r>
            <a:r>
              <a:rPr sz="3300" spc="-10" dirty="0">
                <a:latin typeface="Times New Roman"/>
                <a:cs typeface="Times New Roman"/>
              </a:rPr>
              <a:t>Conf_t.</a:t>
            </a:r>
            <a:endParaRPr sz="33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3550"/>
              </a:lnSpc>
              <a:spcBef>
                <a:spcPts val="2100"/>
              </a:spcBef>
            </a:pPr>
            <a:r>
              <a:rPr sz="3200" dirty="0">
                <a:latin typeface="Cambria"/>
                <a:cs typeface="Cambria"/>
              </a:rPr>
              <a:t>In</a:t>
            </a:r>
            <a:r>
              <a:rPr sz="3200" spc="-175" dirty="0">
                <a:latin typeface="Cambria"/>
                <a:cs typeface="Cambria"/>
              </a:rPr>
              <a:t> </a:t>
            </a:r>
            <a:r>
              <a:rPr sz="3200" spc="-110" dirty="0">
                <a:latin typeface="Cambria"/>
                <a:cs typeface="Cambria"/>
              </a:rPr>
              <a:t>Plain</a:t>
            </a:r>
            <a:r>
              <a:rPr sz="3200" spc="-65" dirty="0">
                <a:latin typeface="Cambria"/>
                <a:cs typeface="Cambria"/>
              </a:rPr>
              <a:t> </a:t>
            </a:r>
            <a:r>
              <a:rPr sz="3200" spc="-105" dirty="0">
                <a:latin typeface="Cambria"/>
                <a:cs typeface="Cambria"/>
              </a:rPr>
              <a:t>English:</a:t>
            </a:r>
            <a:r>
              <a:rPr sz="3200" spc="-80" dirty="0">
                <a:latin typeface="Cambria"/>
                <a:cs typeface="Cambria"/>
              </a:rPr>
              <a:t> </a:t>
            </a:r>
            <a:r>
              <a:rPr sz="3200" spc="-130" dirty="0">
                <a:latin typeface="Cambria"/>
                <a:cs typeface="Cambria"/>
              </a:rPr>
              <a:t>The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165" dirty="0">
                <a:latin typeface="Cambria"/>
                <a:cs typeface="Cambria"/>
              </a:rPr>
              <a:t>student</a:t>
            </a:r>
            <a:r>
              <a:rPr sz="3200" spc="-10" dirty="0">
                <a:latin typeface="Cambria"/>
                <a:cs typeface="Cambria"/>
              </a:rPr>
              <a:t> </a:t>
            </a:r>
            <a:r>
              <a:rPr sz="3200" spc="-85" dirty="0">
                <a:latin typeface="Cambria"/>
                <a:cs typeface="Cambria"/>
              </a:rPr>
              <a:t>is</a:t>
            </a:r>
            <a:r>
              <a:rPr sz="3200" spc="-114" dirty="0">
                <a:latin typeface="Cambria"/>
                <a:cs typeface="Cambria"/>
              </a:rPr>
              <a:t> </a:t>
            </a:r>
            <a:r>
              <a:rPr sz="3200" spc="-125" dirty="0">
                <a:latin typeface="Cambria"/>
                <a:cs typeface="Cambria"/>
              </a:rPr>
              <a:t>penalized</a:t>
            </a:r>
            <a:r>
              <a:rPr sz="3200" spc="20" dirty="0">
                <a:latin typeface="Cambria"/>
                <a:cs typeface="Cambria"/>
              </a:rPr>
              <a:t> </a:t>
            </a:r>
            <a:r>
              <a:rPr sz="3200" spc="-150" dirty="0">
                <a:latin typeface="Cambria"/>
                <a:cs typeface="Cambria"/>
              </a:rPr>
              <a:t>only</a:t>
            </a:r>
            <a:r>
              <a:rPr sz="3200" spc="-25" dirty="0">
                <a:latin typeface="Cambria"/>
                <a:cs typeface="Cambria"/>
              </a:rPr>
              <a:t> </a:t>
            </a:r>
            <a:r>
              <a:rPr sz="3200" dirty="0">
                <a:latin typeface="Cambria"/>
                <a:cs typeface="Cambria"/>
              </a:rPr>
              <a:t>if</a:t>
            </a:r>
            <a:r>
              <a:rPr sz="3200" spc="-140" dirty="0">
                <a:latin typeface="Cambria"/>
                <a:cs typeface="Cambria"/>
              </a:rPr>
              <a:t> </a:t>
            </a:r>
            <a:r>
              <a:rPr sz="3200" spc="-125" dirty="0">
                <a:latin typeface="Cambria"/>
                <a:cs typeface="Cambria"/>
              </a:rPr>
              <a:t>its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130" dirty="0">
                <a:latin typeface="Cambria"/>
                <a:cs typeface="Cambria"/>
              </a:rPr>
              <a:t>embedding</a:t>
            </a:r>
            <a:r>
              <a:rPr sz="3200" spc="170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is</a:t>
            </a:r>
            <a:r>
              <a:rPr sz="3200" spc="-150" dirty="0">
                <a:latin typeface="Cambria"/>
                <a:cs typeface="Cambria"/>
              </a:rPr>
              <a:t> </a:t>
            </a:r>
            <a:r>
              <a:rPr sz="3200" spc="-160" dirty="0">
                <a:latin typeface="Cambria"/>
                <a:cs typeface="Cambria"/>
              </a:rPr>
              <a:t>“more</a:t>
            </a:r>
            <a:r>
              <a:rPr sz="3200" spc="5" dirty="0">
                <a:latin typeface="Cambria"/>
                <a:cs typeface="Cambria"/>
              </a:rPr>
              <a:t> </a:t>
            </a:r>
            <a:r>
              <a:rPr sz="3200" spc="-30" dirty="0">
                <a:latin typeface="Cambria"/>
                <a:cs typeface="Cambria"/>
              </a:rPr>
              <a:t>misaligned” </a:t>
            </a:r>
            <a:r>
              <a:rPr sz="3200" spc="-165" dirty="0">
                <a:latin typeface="Cambria"/>
                <a:cs typeface="Cambria"/>
              </a:rPr>
              <a:t>with</a:t>
            </a:r>
            <a:r>
              <a:rPr sz="3200" spc="-60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the</a:t>
            </a:r>
            <a:r>
              <a:rPr sz="3200" spc="-30" dirty="0">
                <a:latin typeface="Cambria"/>
                <a:cs typeface="Cambria"/>
              </a:rPr>
              <a:t> </a:t>
            </a:r>
            <a:r>
              <a:rPr sz="3200" spc="-125" dirty="0">
                <a:latin typeface="Cambria"/>
                <a:cs typeface="Cambria"/>
              </a:rPr>
              <a:t>teacher</a:t>
            </a:r>
            <a:r>
              <a:rPr sz="3200" spc="-50" dirty="0">
                <a:latin typeface="Cambria"/>
                <a:cs typeface="Cambria"/>
              </a:rPr>
              <a:t> </a:t>
            </a:r>
            <a:r>
              <a:rPr sz="3200" spc="-140" dirty="0">
                <a:latin typeface="Cambria"/>
                <a:cs typeface="Cambria"/>
              </a:rPr>
              <a:t>than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spc="-145" dirty="0">
                <a:latin typeface="Cambria"/>
                <a:cs typeface="Cambria"/>
              </a:rPr>
              <a:t>the</a:t>
            </a:r>
            <a:r>
              <a:rPr sz="3200" spc="-30" dirty="0">
                <a:latin typeface="Cambria"/>
                <a:cs typeface="Cambria"/>
              </a:rPr>
              <a:t> </a:t>
            </a:r>
            <a:r>
              <a:rPr sz="3200" spc="-155" dirty="0">
                <a:latin typeface="Cambria"/>
                <a:cs typeface="Cambria"/>
              </a:rPr>
              <a:t>teacher's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229" dirty="0">
                <a:latin typeface="Cambria"/>
                <a:cs typeface="Cambria"/>
              </a:rPr>
              <a:t>own</a:t>
            </a:r>
            <a:r>
              <a:rPr sz="3200" spc="-60" dirty="0">
                <a:latin typeface="Cambria"/>
                <a:cs typeface="Cambria"/>
              </a:rPr>
              <a:t> </a:t>
            </a:r>
            <a:r>
              <a:rPr sz="3200" spc="-130" dirty="0">
                <a:latin typeface="Cambria"/>
                <a:cs typeface="Cambria"/>
              </a:rPr>
              <a:t>embedding</a:t>
            </a:r>
            <a:r>
              <a:rPr sz="3200" spc="165" dirty="0">
                <a:latin typeface="Cambria"/>
                <a:cs typeface="Cambria"/>
              </a:rPr>
              <a:t> </a:t>
            </a:r>
            <a:r>
              <a:rPr sz="3200" spc="-140" dirty="0">
                <a:latin typeface="Cambria"/>
                <a:cs typeface="Cambria"/>
              </a:rPr>
              <a:t>is</a:t>
            </a:r>
            <a:r>
              <a:rPr sz="3200" spc="-35" dirty="0">
                <a:latin typeface="Cambria"/>
                <a:cs typeface="Cambria"/>
              </a:rPr>
              <a:t> </a:t>
            </a:r>
            <a:r>
              <a:rPr sz="3200" spc="-180" dirty="0">
                <a:latin typeface="Cambria"/>
                <a:cs typeface="Cambria"/>
              </a:rPr>
              <a:t>with</a:t>
            </a:r>
            <a:r>
              <a:rPr sz="3200" spc="10" dirty="0">
                <a:latin typeface="Cambria"/>
                <a:cs typeface="Cambria"/>
              </a:rPr>
              <a:t> </a:t>
            </a:r>
            <a:r>
              <a:rPr sz="3200" spc="-155" dirty="0">
                <a:latin typeface="Cambria"/>
                <a:cs typeface="Cambria"/>
              </a:rPr>
              <a:t>the</a:t>
            </a:r>
            <a:r>
              <a:rPr sz="3200" spc="-20" dirty="0">
                <a:latin typeface="Cambria"/>
                <a:cs typeface="Cambria"/>
              </a:rPr>
              <a:t> </a:t>
            </a:r>
            <a:r>
              <a:rPr sz="3200" spc="-100" dirty="0">
                <a:latin typeface="Cambria"/>
                <a:cs typeface="Cambria"/>
              </a:rPr>
              <a:t>class</a:t>
            </a:r>
            <a:r>
              <a:rPr sz="3200" spc="-10" dirty="0">
                <a:latin typeface="Cambria"/>
                <a:cs typeface="Cambria"/>
              </a:rPr>
              <a:t> center.</a:t>
            </a:r>
            <a:endParaRPr sz="32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90"/>
              </a:spcBef>
            </a:pPr>
            <a:endParaRPr sz="3200" dirty="0">
              <a:latin typeface="Cambria"/>
              <a:cs typeface="Cambria"/>
            </a:endParaRPr>
          </a:p>
          <a:p>
            <a:pPr marL="8891905">
              <a:lnSpc>
                <a:spcPts val="2660"/>
              </a:lnSpc>
            </a:pPr>
            <a:r>
              <a:rPr sz="2350" spc="-250" dirty="0">
                <a:latin typeface="Times New Roman"/>
                <a:cs typeface="Times New Roman"/>
              </a:rPr>
              <a:t>No</a:t>
            </a:r>
            <a:r>
              <a:rPr sz="2350" spc="-155" dirty="0">
                <a:latin typeface="Times New Roman"/>
                <a:cs typeface="Times New Roman"/>
              </a:rPr>
              <a:t> </a:t>
            </a:r>
            <a:r>
              <a:rPr sz="2350" spc="-45" dirty="0">
                <a:latin typeface="Times New Roman"/>
                <a:cs typeface="Times New Roman"/>
              </a:rPr>
              <a:t>Penalty.</a:t>
            </a:r>
            <a:r>
              <a:rPr sz="2350" spc="-105" dirty="0">
                <a:latin typeface="Times New Roman"/>
                <a:cs typeface="Times New Roman"/>
              </a:rPr>
              <a:t> </a:t>
            </a:r>
            <a:r>
              <a:rPr sz="2350" spc="-40" dirty="0">
                <a:latin typeface="Times New Roman"/>
                <a:cs typeface="Times New Roman"/>
              </a:rPr>
              <a:t>Penalty</a:t>
            </a:r>
            <a:r>
              <a:rPr sz="2350" spc="-75" dirty="0">
                <a:latin typeface="Times New Roman"/>
                <a:cs typeface="Times New Roman"/>
              </a:rPr>
              <a:t> </a:t>
            </a:r>
            <a:r>
              <a:rPr sz="2350" spc="-295" dirty="0">
                <a:latin typeface="Times New Roman"/>
                <a:cs typeface="Times New Roman"/>
              </a:rPr>
              <a:t>=</a:t>
            </a:r>
            <a:r>
              <a:rPr sz="2350" spc="-7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0.</a:t>
            </a:r>
            <a:endParaRPr sz="2350" dirty="0">
              <a:latin typeface="Times New Roman"/>
              <a:cs typeface="Times New Roman"/>
            </a:endParaRPr>
          </a:p>
          <a:p>
            <a:pPr marL="8877300" marR="1134745" indent="1270">
              <a:lnSpc>
                <a:spcPts val="2450"/>
              </a:lnSpc>
              <a:spcBef>
                <a:spcPts val="229"/>
              </a:spcBef>
            </a:pPr>
            <a:r>
              <a:rPr sz="2350" spc="-145" dirty="0">
                <a:latin typeface="Times New Roman"/>
                <a:cs typeface="Times New Roman"/>
              </a:rPr>
              <a:t>The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student</a:t>
            </a:r>
            <a:r>
              <a:rPr sz="2350" spc="-80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is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65" dirty="0">
                <a:latin typeface="Times New Roman"/>
                <a:cs typeface="Times New Roman"/>
              </a:rPr>
              <a:t>performing</a:t>
            </a:r>
            <a:r>
              <a:rPr sz="2350" spc="-40" dirty="0">
                <a:latin typeface="Times New Roman"/>
                <a:cs typeface="Times New Roman"/>
              </a:rPr>
              <a:t> </a:t>
            </a:r>
            <a:r>
              <a:rPr sz="2350" spc="-50" dirty="0">
                <a:latin typeface="Times New Roman"/>
                <a:cs typeface="Times New Roman"/>
              </a:rPr>
              <a:t>at</a:t>
            </a:r>
            <a:r>
              <a:rPr sz="2350" spc="-100" dirty="0">
                <a:latin typeface="Times New Roman"/>
                <a:cs typeface="Times New Roman"/>
              </a:rPr>
              <a:t> </a:t>
            </a:r>
            <a:r>
              <a:rPr sz="2350" spc="-25" dirty="0">
                <a:latin typeface="Times New Roman"/>
                <a:cs typeface="Times New Roman"/>
              </a:rPr>
              <a:t>or </a:t>
            </a:r>
            <a:r>
              <a:rPr sz="2350" spc="-110" dirty="0">
                <a:latin typeface="Times New Roman"/>
                <a:cs typeface="Times New Roman"/>
              </a:rPr>
              <a:t>above</a:t>
            </a:r>
            <a:r>
              <a:rPr sz="2350" spc="-50" dirty="0">
                <a:latin typeface="Times New Roman"/>
                <a:cs typeface="Times New Roman"/>
              </a:rPr>
              <a:t> </a:t>
            </a:r>
            <a:r>
              <a:rPr sz="2350" spc="-20" dirty="0">
                <a:latin typeface="Times New Roman"/>
                <a:cs typeface="Times New Roman"/>
              </a:rPr>
              <a:t>the</a:t>
            </a:r>
            <a:r>
              <a:rPr sz="2350" spc="-95" dirty="0">
                <a:latin typeface="Times New Roman"/>
                <a:cs typeface="Times New Roman"/>
              </a:rPr>
              <a:t> </a:t>
            </a:r>
            <a:r>
              <a:rPr sz="2350" spc="-55" dirty="0">
                <a:latin typeface="Times New Roman"/>
                <a:cs typeface="Times New Roman"/>
              </a:rPr>
              <a:t>teacher's</a:t>
            </a:r>
            <a:r>
              <a:rPr sz="2350" spc="-80" dirty="0">
                <a:latin typeface="Times New Roman"/>
                <a:cs typeface="Times New Roman"/>
              </a:rPr>
              <a:t> </a:t>
            </a:r>
            <a:r>
              <a:rPr sz="2350" spc="-10" dirty="0">
                <a:latin typeface="Times New Roman"/>
                <a:cs typeface="Times New Roman"/>
              </a:rPr>
              <a:t>standard.</a:t>
            </a:r>
            <a:endParaRPr sz="235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24438" y="6294966"/>
            <a:ext cx="99568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130" dirty="0">
                <a:latin typeface="Times New Roman"/>
                <a:cs typeface="Times New Roman"/>
              </a:rPr>
              <a:t>COS_St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63471" y="8080727"/>
            <a:ext cx="3335654" cy="988694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4445" algn="just">
              <a:lnSpc>
                <a:spcPct val="94200"/>
              </a:lnSpc>
              <a:spcBef>
                <a:spcPts val="275"/>
              </a:spcBef>
            </a:pPr>
            <a:r>
              <a:rPr sz="2200" spc="-35" dirty="0">
                <a:latin typeface="Cambria"/>
                <a:cs typeface="Cambria"/>
              </a:rPr>
              <a:t>Penalty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spc="-30" dirty="0">
                <a:latin typeface="Cambria"/>
                <a:cs typeface="Cambria"/>
              </a:rPr>
              <a:t>Applied.</a:t>
            </a:r>
            <a:r>
              <a:rPr sz="2200" spc="-40" dirty="0">
                <a:latin typeface="Cambria"/>
                <a:cs typeface="Cambria"/>
              </a:rPr>
              <a:t> </a:t>
            </a:r>
            <a:r>
              <a:rPr sz="2200" dirty="0">
                <a:latin typeface="Cambria"/>
                <a:cs typeface="Cambria"/>
              </a:rPr>
              <a:t>Penalty</a:t>
            </a:r>
            <a:r>
              <a:rPr sz="2200" spc="350" dirty="0">
                <a:latin typeface="Cambria"/>
                <a:cs typeface="Cambria"/>
              </a:rPr>
              <a:t>  </a:t>
            </a:r>
            <a:r>
              <a:rPr sz="2200" spc="-25" dirty="0">
                <a:latin typeface="Cambria"/>
                <a:cs typeface="Cambria"/>
              </a:rPr>
              <a:t>0. </a:t>
            </a:r>
            <a:r>
              <a:rPr sz="2050" dirty="0">
                <a:latin typeface="Cambria"/>
                <a:cs typeface="Cambria"/>
              </a:rPr>
              <a:t>The</a:t>
            </a:r>
            <a:r>
              <a:rPr sz="2050" spc="-105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student</a:t>
            </a:r>
            <a:r>
              <a:rPr sz="2050" spc="60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is</a:t>
            </a:r>
            <a:r>
              <a:rPr sz="2050" spc="-114" dirty="0">
                <a:latin typeface="Cambria"/>
                <a:cs typeface="Cambria"/>
              </a:rPr>
              <a:t> </a:t>
            </a:r>
            <a:r>
              <a:rPr sz="2050" dirty="0">
                <a:latin typeface="Cambria"/>
                <a:cs typeface="Cambria"/>
              </a:rPr>
              <a:t>deviating</a:t>
            </a:r>
            <a:r>
              <a:rPr sz="2050" spc="-5" dirty="0">
                <a:latin typeface="Cambria"/>
                <a:cs typeface="Cambria"/>
              </a:rPr>
              <a:t> </a:t>
            </a:r>
            <a:r>
              <a:rPr sz="2050" spc="-20" dirty="0">
                <a:latin typeface="Cambria"/>
                <a:cs typeface="Cambria"/>
              </a:rPr>
              <a:t>more </a:t>
            </a:r>
            <a:r>
              <a:rPr sz="2300" spc="-135" dirty="0">
                <a:latin typeface="Cambria"/>
                <a:cs typeface="Cambria"/>
              </a:rPr>
              <a:t>than</a:t>
            </a:r>
            <a:r>
              <a:rPr sz="2300" spc="45" dirty="0">
                <a:latin typeface="Cambria"/>
                <a:cs typeface="Cambria"/>
              </a:rPr>
              <a:t> </a:t>
            </a:r>
            <a:r>
              <a:rPr sz="2300" spc="-150" dirty="0">
                <a:latin typeface="Cambria"/>
                <a:cs typeface="Cambria"/>
              </a:rPr>
              <a:t>the</a:t>
            </a:r>
            <a:r>
              <a:rPr sz="2300" spc="25" dirty="0">
                <a:latin typeface="Cambria"/>
                <a:cs typeface="Cambria"/>
              </a:rPr>
              <a:t> </a:t>
            </a:r>
            <a:r>
              <a:rPr sz="2300" spc="-20" dirty="0">
                <a:latin typeface="Cambria"/>
                <a:cs typeface="Cambria"/>
              </a:rPr>
              <a:t>teacher.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63500" y="7330016"/>
            <a:ext cx="1118235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spc="-60" dirty="0">
                <a:solidFill>
                  <a:srgbClr val="161616"/>
                </a:solidFill>
                <a:latin typeface="Times New Roman"/>
                <a:cs typeface="Times New Roman"/>
              </a:rPr>
              <a:t>Conf„t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84582" y="7119408"/>
            <a:ext cx="100711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0" dirty="0">
                <a:latin typeface="Times New Roman"/>
                <a:cs typeface="Times New Roman"/>
              </a:rPr>
              <a:t>COS_St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578582" y="6507339"/>
            <a:ext cx="63436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spc="-220" dirty="0">
                <a:solidFill>
                  <a:srgbClr val="707070"/>
                </a:solidFill>
                <a:latin typeface="OCR A Extended"/>
                <a:cs typeface="OCR A Extended"/>
              </a:rPr>
              <a:t>Hlgh</a:t>
            </a:r>
            <a:endParaRPr sz="2350">
              <a:latin typeface="OCR A Extended"/>
              <a:cs typeface="OCR A Extended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109162" y="9404702"/>
            <a:ext cx="1221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3525" algn="l"/>
              </a:tabLst>
            </a:pPr>
            <a:r>
              <a:rPr sz="1600" spc="-50" dirty="0">
                <a:latin typeface="Times New Roman"/>
                <a:cs typeface="Times New Roman"/>
              </a:rPr>
              <a:t>G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60" dirty="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0" name="圖片 19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0CE56A9D-285A-A609-B98F-1D8FB6EBDB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8268"/>
            <a:ext cx="17475200" cy="96915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7823200"/>
            <a:ext cx="2146300" cy="596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01300" y="5537200"/>
            <a:ext cx="2159000" cy="28956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58376" y="895349"/>
            <a:ext cx="153028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170" dirty="0">
                <a:solidFill>
                  <a:srgbClr val="000000"/>
                </a:solidFill>
              </a:rPr>
              <a:t>Intuition</a:t>
            </a:r>
            <a:r>
              <a:rPr sz="5000" spc="-20" dirty="0">
                <a:solidFill>
                  <a:srgbClr val="000000"/>
                </a:solidFill>
              </a:rPr>
              <a:t> </a:t>
            </a:r>
            <a:r>
              <a:rPr sz="5000" spc="80" dirty="0">
                <a:solidFill>
                  <a:srgbClr val="000000"/>
                </a:solidFill>
              </a:rPr>
              <a:t>2:</a:t>
            </a:r>
            <a:r>
              <a:rPr sz="5000" spc="-400" dirty="0">
                <a:solidFill>
                  <a:srgbClr val="000000"/>
                </a:solidFill>
              </a:rPr>
              <a:t> </a:t>
            </a:r>
            <a:r>
              <a:rPr sz="5000" spc="110" dirty="0">
                <a:solidFill>
                  <a:srgbClr val="000000"/>
                </a:solidFill>
              </a:rPr>
              <a:t>Confident</a:t>
            </a:r>
            <a:r>
              <a:rPr sz="5000" spc="140" dirty="0">
                <a:solidFill>
                  <a:srgbClr val="000000"/>
                </a:solidFill>
              </a:rPr>
              <a:t> </a:t>
            </a:r>
            <a:r>
              <a:rPr sz="5000" dirty="0">
                <a:solidFill>
                  <a:srgbClr val="000000"/>
                </a:solidFill>
              </a:rPr>
              <a:t>Teachers</a:t>
            </a:r>
            <a:r>
              <a:rPr sz="5000" spc="135" dirty="0">
                <a:solidFill>
                  <a:srgbClr val="000000"/>
                </a:solidFill>
              </a:rPr>
              <a:t> </a:t>
            </a:r>
            <a:r>
              <a:rPr sz="5000" dirty="0">
                <a:solidFill>
                  <a:srgbClr val="000000"/>
                </a:solidFill>
              </a:rPr>
              <a:t>Are</a:t>
            </a:r>
            <a:r>
              <a:rPr sz="5000" spc="-229" dirty="0">
                <a:solidFill>
                  <a:srgbClr val="000000"/>
                </a:solidFill>
              </a:rPr>
              <a:t> </a:t>
            </a:r>
            <a:r>
              <a:rPr sz="5000" spc="135" dirty="0">
                <a:solidFill>
                  <a:srgbClr val="000000"/>
                </a:solidFill>
              </a:rPr>
              <a:t>Stricter</a:t>
            </a:r>
            <a:r>
              <a:rPr sz="5000" spc="114" dirty="0">
                <a:solidFill>
                  <a:srgbClr val="000000"/>
                </a:solidFill>
              </a:rPr>
              <a:t> </a:t>
            </a:r>
            <a:r>
              <a:rPr sz="5000" spc="-10" dirty="0">
                <a:solidFill>
                  <a:srgbClr val="000000"/>
                </a:solidFill>
              </a:rPr>
              <a:t>Teachers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2806313" y="2114197"/>
            <a:ext cx="11841480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" dirty="0">
                <a:latin typeface="Times New Roman"/>
                <a:cs typeface="Times New Roman"/>
              </a:rPr>
              <a:t>The</a:t>
            </a:r>
            <a:r>
              <a:rPr sz="3400" spc="-204" dirty="0">
                <a:latin typeface="Times New Roman"/>
                <a:cs typeface="Times New Roman"/>
              </a:rPr>
              <a:t> </a:t>
            </a:r>
            <a:r>
              <a:rPr sz="3400" spc="-65" dirty="0">
                <a:latin typeface="Times New Roman"/>
                <a:cs typeface="Times New Roman"/>
              </a:rPr>
              <a:t>penalty's</a:t>
            </a:r>
            <a:r>
              <a:rPr sz="3400" spc="-145" dirty="0">
                <a:latin typeface="Times New Roman"/>
                <a:cs typeface="Times New Roman"/>
              </a:rPr>
              <a:t> </a:t>
            </a:r>
            <a:r>
              <a:rPr sz="3400" spc="-70" dirty="0">
                <a:latin typeface="Times New Roman"/>
                <a:cs typeface="Times New Roman"/>
              </a:rPr>
              <a:t>magnitude</a:t>
            </a:r>
            <a:r>
              <a:rPr sz="3400" spc="-140" dirty="0">
                <a:latin typeface="Times New Roman"/>
                <a:cs typeface="Times New Roman"/>
              </a:rPr>
              <a:t> </a:t>
            </a:r>
            <a:r>
              <a:rPr sz="3400" spc="-60" dirty="0">
                <a:latin typeface="Times New Roman"/>
                <a:cs typeface="Times New Roman"/>
              </a:rPr>
              <a:t>is</a:t>
            </a:r>
            <a:r>
              <a:rPr sz="3400" spc="-195" dirty="0">
                <a:latin typeface="Times New Roman"/>
                <a:cs typeface="Times New Roman"/>
              </a:rPr>
              <a:t> </a:t>
            </a:r>
            <a:r>
              <a:rPr sz="3400" spc="-60" dirty="0">
                <a:latin typeface="Times New Roman"/>
                <a:cs typeface="Times New Roman"/>
              </a:rPr>
              <a:t>scaled</a:t>
            </a:r>
            <a:r>
              <a:rPr sz="3400" spc="-135" dirty="0">
                <a:latin typeface="Times New Roman"/>
                <a:cs typeface="Times New Roman"/>
              </a:rPr>
              <a:t> </a:t>
            </a:r>
            <a:r>
              <a:rPr sz="3400" spc="-145" dirty="0">
                <a:latin typeface="Times New Roman"/>
                <a:cs typeface="Times New Roman"/>
              </a:rPr>
              <a:t>by</a:t>
            </a:r>
            <a:r>
              <a:rPr sz="3400" spc="-12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the</a:t>
            </a:r>
            <a:r>
              <a:rPr sz="3400" spc="-150" dirty="0">
                <a:latin typeface="Times New Roman"/>
                <a:cs typeface="Times New Roman"/>
              </a:rPr>
              <a:t> </a:t>
            </a:r>
            <a:r>
              <a:rPr sz="3400" spc="-45" dirty="0">
                <a:latin typeface="Times New Roman"/>
                <a:cs typeface="Times New Roman"/>
              </a:rPr>
              <a:t>teacher's</a:t>
            </a:r>
            <a:r>
              <a:rPr sz="3400" spc="-170" dirty="0">
                <a:latin typeface="Times New Roman"/>
                <a:cs typeface="Times New Roman"/>
              </a:rPr>
              <a:t> </a:t>
            </a:r>
            <a:r>
              <a:rPr sz="3400" spc="-60" dirty="0">
                <a:latin typeface="Times New Roman"/>
                <a:cs typeface="Times New Roman"/>
              </a:rPr>
              <a:t>confidence</a:t>
            </a:r>
            <a:r>
              <a:rPr sz="3400" spc="4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(Conf_t).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29080" y="2908426"/>
            <a:ext cx="6169660" cy="1929764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100"/>
              </a:spcBef>
            </a:pPr>
            <a:r>
              <a:rPr sz="3050" spc="105" dirty="0">
                <a:latin typeface="Cambria"/>
                <a:cs typeface="Cambria"/>
              </a:rPr>
              <a:t>Scenario</a:t>
            </a:r>
            <a:r>
              <a:rPr sz="3050" spc="135" dirty="0">
                <a:latin typeface="Cambria"/>
                <a:cs typeface="Cambria"/>
              </a:rPr>
              <a:t> </a:t>
            </a:r>
            <a:r>
              <a:rPr sz="3050" spc="105" dirty="0">
                <a:latin typeface="Cambria"/>
                <a:cs typeface="Cambria"/>
              </a:rPr>
              <a:t>A:</a:t>
            </a:r>
            <a:r>
              <a:rPr sz="3050" spc="-70" dirty="0">
                <a:latin typeface="Cambria"/>
                <a:cs typeface="Cambria"/>
              </a:rPr>
              <a:t> </a:t>
            </a:r>
            <a:r>
              <a:rPr sz="3050" spc="70" dirty="0">
                <a:latin typeface="Cambria"/>
                <a:cs typeface="Cambria"/>
              </a:rPr>
              <a:t>Teacher</a:t>
            </a:r>
            <a:r>
              <a:rPr sz="3050" spc="135" dirty="0">
                <a:latin typeface="Cambria"/>
                <a:cs typeface="Cambria"/>
              </a:rPr>
              <a:t> </a:t>
            </a:r>
            <a:r>
              <a:rPr sz="3050" dirty="0">
                <a:latin typeface="Cambria"/>
                <a:cs typeface="Cambria"/>
              </a:rPr>
              <a:t>is</a:t>
            </a:r>
            <a:r>
              <a:rPr sz="3050" spc="185" dirty="0">
                <a:latin typeface="Cambria"/>
                <a:cs typeface="Cambria"/>
              </a:rPr>
              <a:t> </a:t>
            </a:r>
            <a:r>
              <a:rPr sz="3050" spc="-10" dirty="0">
                <a:latin typeface="Cambria"/>
                <a:cs typeface="Cambria"/>
              </a:rPr>
              <a:t>Uncertain</a:t>
            </a:r>
            <a:endParaRPr sz="3050">
              <a:latin typeface="Cambria"/>
              <a:cs typeface="Cambria"/>
            </a:endParaRPr>
          </a:p>
          <a:p>
            <a:pPr marL="12065" marR="5080" algn="ctr">
              <a:lnSpc>
                <a:spcPts val="3100"/>
              </a:lnSpc>
              <a:spcBef>
                <a:spcPts val="1110"/>
              </a:spcBef>
            </a:pPr>
            <a:r>
              <a:rPr sz="2700" spc="-90" dirty="0">
                <a:latin typeface="Cambria"/>
                <a:cs typeface="Cambria"/>
              </a:rPr>
              <a:t>Even</a:t>
            </a:r>
            <a:r>
              <a:rPr sz="2700" spc="-60" dirty="0">
                <a:latin typeface="Cambria"/>
                <a:cs typeface="Cambria"/>
              </a:rPr>
              <a:t> </a:t>
            </a:r>
            <a:r>
              <a:rPr sz="2700" spc="65" dirty="0">
                <a:latin typeface="Cambria"/>
                <a:cs typeface="Cambria"/>
              </a:rPr>
              <a:t>if</a:t>
            </a:r>
            <a:r>
              <a:rPr sz="2700" spc="-125" dirty="0">
                <a:latin typeface="Cambria"/>
                <a:cs typeface="Cambria"/>
              </a:rPr>
              <a:t> </a:t>
            </a:r>
            <a:r>
              <a:rPr sz="2700" spc="-85" dirty="0">
                <a:latin typeface="Cambria"/>
                <a:cs typeface="Cambria"/>
              </a:rPr>
              <a:t>the</a:t>
            </a:r>
            <a:r>
              <a:rPr sz="2700" spc="35" dirty="0">
                <a:latin typeface="Cambria"/>
                <a:cs typeface="Cambria"/>
              </a:rPr>
              <a:t> </a:t>
            </a:r>
            <a:r>
              <a:rPr sz="2700" spc="-105" dirty="0">
                <a:latin typeface="Cambria"/>
                <a:cs typeface="Cambria"/>
              </a:rPr>
              <a:t>student</a:t>
            </a:r>
            <a:r>
              <a:rPr sz="2700" spc="20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deviates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60" dirty="0">
                <a:latin typeface="Cambria"/>
                <a:cs typeface="Cambria"/>
              </a:rPr>
              <a:t>significantly,</a:t>
            </a:r>
            <a:r>
              <a:rPr sz="2700" spc="-9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the </a:t>
            </a:r>
            <a:r>
              <a:rPr sz="2700" spc="-85" dirty="0">
                <a:latin typeface="Cambria"/>
                <a:cs typeface="Cambria"/>
              </a:rPr>
              <a:t>penalty</a:t>
            </a:r>
            <a:r>
              <a:rPr sz="2700" spc="-65" dirty="0">
                <a:latin typeface="Cambria"/>
                <a:cs typeface="Cambria"/>
              </a:rPr>
              <a:t> </a:t>
            </a:r>
            <a:r>
              <a:rPr sz="2700" dirty="0">
                <a:latin typeface="Cambria"/>
                <a:cs typeface="Cambria"/>
              </a:rPr>
              <a:t>is</a:t>
            </a:r>
            <a:r>
              <a:rPr sz="2700" spc="-150" dirty="0">
                <a:latin typeface="Cambria"/>
                <a:cs typeface="Cambria"/>
              </a:rPr>
              <a:t> </a:t>
            </a:r>
            <a:r>
              <a:rPr sz="2700" spc="-25" dirty="0">
                <a:latin typeface="Cambria"/>
                <a:cs typeface="Cambria"/>
              </a:rPr>
              <a:t>small.</a:t>
            </a:r>
            <a:r>
              <a:rPr sz="2700" spc="-125" dirty="0">
                <a:latin typeface="Cambria"/>
                <a:cs typeface="Cambria"/>
              </a:rPr>
              <a:t> </a:t>
            </a:r>
            <a:r>
              <a:rPr sz="2700" spc="-20" dirty="0">
                <a:latin typeface="Cambria"/>
                <a:cs typeface="Cambria"/>
              </a:rPr>
              <a:t>The</a:t>
            </a:r>
            <a:r>
              <a:rPr sz="2700" spc="-130" dirty="0">
                <a:latin typeface="Cambria"/>
                <a:cs typeface="Cambria"/>
              </a:rPr>
              <a:t> </a:t>
            </a:r>
            <a:r>
              <a:rPr sz="2700" spc="-75" dirty="0">
                <a:latin typeface="Cambria"/>
                <a:cs typeface="Cambria"/>
              </a:rPr>
              <a:t>teacher</a:t>
            </a:r>
            <a:r>
              <a:rPr sz="2700" spc="-30" dirty="0">
                <a:latin typeface="Cambria"/>
                <a:cs typeface="Cambria"/>
              </a:rPr>
              <a:t> </a:t>
            </a:r>
            <a:r>
              <a:rPr sz="2700" spc="-105" dirty="0">
                <a:latin typeface="Cambria"/>
                <a:cs typeface="Cambria"/>
              </a:rPr>
              <a:t>doesn't</a:t>
            </a:r>
            <a:r>
              <a:rPr sz="2700" spc="3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punish </a:t>
            </a:r>
            <a:r>
              <a:rPr sz="2700" spc="-65" dirty="0">
                <a:latin typeface="Cambria"/>
                <a:cs typeface="Cambria"/>
              </a:rPr>
              <a:t>harshly</a:t>
            </a:r>
            <a:r>
              <a:rPr sz="2700" spc="-85" dirty="0">
                <a:latin typeface="Cambria"/>
                <a:cs typeface="Cambria"/>
              </a:rPr>
              <a:t> </a:t>
            </a:r>
            <a:r>
              <a:rPr sz="2700" spc="-65" dirty="0">
                <a:latin typeface="Cambria"/>
                <a:cs typeface="Cambria"/>
              </a:rPr>
              <a:t>for</a:t>
            </a:r>
            <a:r>
              <a:rPr sz="2700" spc="-85" dirty="0">
                <a:latin typeface="Cambria"/>
                <a:cs typeface="Cambria"/>
              </a:rPr>
              <a:t> </a:t>
            </a:r>
            <a:r>
              <a:rPr sz="2700" spc="-105" dirty="0">
                <a:latin typeface="Cambria"/>
                <a:cs typeface="Cambria"/>
              </a:rPr>
              <a:t>knowledge</a:t>
            </a:r>
            <a:r>
              <a:rPr sz="2700" spc="15" dirty="0">
                <a:latin typeface="Cambria"/>
                <a:cs typeface="Cambria"/>
              </a:rPr>
              <a:t> </a:t>
            </a:r>
            <a:r>
              <a:rPr sz="2700" spc="-30" dirty="0">
                <a:latin typeface="Cambria"/>
                <a:cs typeface="Cambria"/>
              </a:rPr>
              <a:t>it</a:t>
            </a:r>
            <a:r>
              <a:rPr sz="2700" spc="-120" dirty="0">
                <a:latin typeface="Cambria"/>
                <a:cs typeface="Cambria"/>
              </a:rPr>
              <a:t> </a:t>
            </a:r>
            <a:r>
              <a:rPr sz="2700" spc="-95" dirty="0">
                <a:latin typeface="Cambria"/>
                <a:cs typeface="Cambria"/>
              </a:rPr>
              <a:t>isn't</a:t>
            </a:r>
            <a:r>
              <a:rPr sz="2700" spc="5" dirty="0">
                <a:latin typeface="Cambria"/>
                <a:cs typeface="Cambria"/>
              </a:rPr>
              <a:t> </a:t>
            </a:r>
            <a:r>
              <a:rPr sz="2700" spc="-80" dirty="0">
                <a:latin typeface="Cambria"/>
                <a:cs typeface="Cambria"/>
              </a:rPr>
              <a:t>sure</a:t>
            </a:r>
            <a:r>
              <a:rPr sz="2700" spc="-70" dirty="0">
                <a:latin typeface="Cambria"/>
                <a:cs typeface="Cambria"/>
              </a:rPr>
              <a:t> </a:t>
            </a:r>
            <a:r>
              <a:rPr sz="2700" spc="-10" dirty="0">
                <a:latin typeface="Cambria"/>
                <a:cs typeface="Cambria"/>
              </a:rPr>
              <a:t>about.</a:t>
            </a:r>
            <a:endParaRPr sz="27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3962" y="8498769"/>
            <a:ext cx="169100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mbria"/>
                <a:cs typeface="Cambria"/>
              </a:rPr>
              <a:t>Conf_t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(Low)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60163" y="8498769"/>
            <a:ext cx="226949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10" dirty="0">
                <a:latin typeface="Cambria"/>
                <a:cs typeface="Cambria"/>
              </a:rPr>
              <a:t>Resulting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Penalty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30305" y="2942777"/>
            <a:ext cx="6230620" cy="190500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R="25400" algn="ctr">
              <a:lnSpc>
                <a:spcPct val="100000"/>
              </a:lnSpc>
              <a:spcBef>
                <a:spcPts val="925"/>
              </a:spcBef>
            </a:pPr>
            <a:r>
              <a:rPr sz="2950" spc="145" dirty="0">
                <a:latin typeface="Cambria"/>
                <a:cs typeface="Cambria"/>
              </a:rPr>
              <a:t>Scenario</a:t>
            </a:r>
            <a:r>
              <a:rPr sz="2950" spc="125" dirty="0">
                <a:latin typeface="Cambria"/>
                <a:cs typeface="Cambria"/>
              </a:rPr>
              <a:t> </a:t>
            </a:r>
            <a:r>
              <a:rPr sz="2950" spc="110" dirty="0">
                <a:latin typeface="Cambria"/>
                <a:cs typeface="Cambria"/>
              </a:rPr>
              <a:t>B:</a:t>
            </a:r>
            <a:r>
              <a:rPr sz="2950" spc="-85" dirty="0">
                <a:latin typeface="Cambria"/>
                <a:cs typeface="Cambria"/>
              </a:rPr>
              <a:t> </a:t>
            </a:r>
            <a:r>
              <a:rPr sz="2950" spc="110" dirty="0">
                <a:latin typeface="Cambria"/>
                <a:cs typeface="Cambria"/>
              </a:rPr>
              <a:t>Teacher</a:t>
            </a:r>
            <a:r>
              <a:rPr sz="2950" spc="185" dirty="0">
                <a:latin typeface="Cambria"/>
                <a:cs typeface="Cambria"/>
              </a:rPr>
              <a:t> </a:t>
            </a:r>
            <a:r>
              <a:rPr sz="2950" spc="80" dirty="0">
                <a:latin typeface="Cambria"/>
                <a:cs typeface="Cambria"/>
              </a:rPr>
              <a:t>is</a:t>
            </a:r>
            <a:r>
              <a:rPr sz="2950" spc="-65" dirty="0">
                <a:latin typeface="Cambria"/>
                <a:cs typeface="Cambria"/>
              </a:rPr>
              <a:t> </a:t>
            </a:r>
            <a:r>
              <a:rPr sz="2950" spc="120" dirty="0">
                <a:latin typeface="Cambria"/>
                <a:cs typeface="Cambria"/>
              </a:rPr>
              <a:t>Confident</a:t>
            </a:r>
            <a:endParaRPr sz="2950">
              <a:latin typeface="Cambria"/>
              <a:cs typeface="Cambria"/>
            </a:endParaRPr>
          </a:p>
          <a:p>
            <a:pPr marL="12700" marR="5080" indent="-26034" algn="ctr">
              <a:lnSpc>
                <a:spcPct val="91400"/>
              </a:lnSpc>
              <a:spcBef>
                <a:spcPts val="1055"/>
              </a:spcBef>
            </a:pPr>
            <a:r>
              <a:rPr sz="2850" spc="-150" dirty="0">
                <a:latin typeface="Times New Roman"/>
                <a:cs typeface="Times New Roman"/>
              </a:rPr>
              <a:t>Even</a:t>
            </a:r>
            <a:r>
              <a:rPr sz="2850" spc="-30" dirty="0">
                <a:latin typeface="Times New Roman"/>
                <a:cs typeface="Times New Roman"/>
              </a:rPr>
              <a:t> </a:t>
            </a:r>
            <a:r>
              <a:rPr sz="2850" spc="-95" dirty="0">
                <a:latin typeface="Times New Roman"/>
                <a:cs typeface="Times New Roman"/>
              </a:rPr>
              <a:t>a</a:t>
            </a:r>
            <a:r>
              <a:rPr sz="2850" spc="-229" dirty="0">
                <a:latin typeface="Times New Roman"/>
                <a:cs typeface="Times New Roman"/>
              </a:rPr>
              <a:t> </a:t>
            </a:r>
            <a:r>
              <a:rPr sz="2850" spc="-60" dirty="0">
                <a:latin typeface="Times New Roman"/>
                <a:cs typeface="Times New Roman"/>
              </a:rPr>
              <a:t>small</a:t>
            </a:r>
            <a:r>
              <a:rPr sz="2850" spc="-120" dirty="0">
                <a:latin typeface="Times New Roman"/>
                <a:cs typeface="Times New Roman"/>
              </a:rPr>
              <a:t> </a:t>
            </a:r>
            <a:r>
              <a:rPr sz="2850" spc="-10" dirty="0">
                <a:latin typeface="Times New Roman"/>
                <a:cs typeface="Times New Roman"/>
              </a:rPr>
              <a:t>student</a:t>
            </a:r>
            <a:r>
              <a:rPr sz="2850" spc="-165" dirty="0">
                <a:latin typeface="Times New Roman"/>
                <a:cs typeface="Times New Roman"/>
              </a:rPr>
              <a:t> </a:t>
            </a:r>
            <a:r>
              <a:rPr sz="2850" spc="-55" dirty="0">
                <a:latin typeface="Times New Roman"/>
                <a:cs typeface="Times New Roman"/>
              </a:rPr>
              <a:t>deviation</a:t>
            </a:r>
            <a:r>
              <a:rPr sz="2850" spc="10" dirty="0">
                <a:latin typeface="Times New Roman"/>
                <a:cs typeface="Times New Roman"/>
              </a:rPr>
              <a:t> </a:t>
            </a:r>
            <a:r>
              <a:rPr sz="2850" spc="-45" dirty="0">
                <a:latin typeface="Times New Roman"/>
                <a:cs typeface="Times New Roman"/>
              </a:rPr>
              <a:t>is</a:t>
            </a:r>
            <a:r>
              <a:rPr sz="2850" spc="-180" dirty="0">
                <a:latin typeface="Times New Roman"/>
                <a:cs typeface="Times New Roman"/>
              </a:rPr>
              <a:t> </a:t>
            </a:r>
            <a:r>
              <a:rPr sz="2850" spc="-10" dirty="0">
                <a:latin typeface="Times New Roman"/>
                <a:cs typeface="Times New Roman"/>
              </a:rPr>
              <a:t>amplified </a:t>
            </a:r>
            <a:r>
              <a:rPr sz="2850" spc="-65" dirty="0">
                <a:latin typeface="Times New Roman"/>
                <a:cs typeface="Times New Roman"/>
              </a:rPr>
              <a:t>into</a:t>
            </a:r>
            <a:r>
              <a:rPr sz="2850" spc="-140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a</a:t>
            </a:r>
            <a:r>
              <a:rPr sz="2850" spc="-240" dirty="0">
                <a:latin typeface="Times New Roman"/>
                <a:cs typeface="Times New Roman"/>
              </a:rPr>
              <a:t> </a:t>
            </a:r>
            <a:r>
              <a:rPr sz="2850" spc="-45" dirty="0">
                <a:latin typeface="Times New Roman"/>
                <a:cs typeface="Times New Roman"/>
              </a:rPr>
              <a:t>significant</a:t>
            </a:r>
            <a:r>
              <a:rPr sz="2850" spc="10" dirty="0">
                <a:latin typeface="Times New Roman"/>
                <a:cs typeface="Times New Roman"/>
              </a:rPr>
              <a:t> </a:t>
            </a:r>
            <a:r>
              <a:rPr sz="2850" spc="-95" dirty="0">
                <a:latin typeface="Times New Roman"/>
                <a:cs typeface="Times New Roman"/>
              </a:rPr>
              <a:t>penalty.</a:t>
            </a:r>
            <a:r>
              <a:rPr sz="2850" spc="-85" dirty="0">
                <a:latin typeface="Times New Roman"/>
                <a:cs typeface="Times New Roman"/>
              </a:rPr>
              <a:t> </a:t>
            </a:r>
            <a:r>
              <a:rPr sz="2850" spc="-100" dirty="0">
                <a:latin typeface="Times New Roman"/>
                <a:cs typeface="Times New Roman"/>
              </a:rPr>
              <a:t>The</a:t>
            </a:r>
            <a:r>
              <a:rPr sz="2850" spc="-114" dirty="0">
                <a:latin typeface="Times New Roman"/>
                <a:cs typeface="Times New Roman"/>
              </a:rPr>
              <a:t> </a:t>
            </a:r>
            <a:r>
              <a:rPr sz="2850" dirty="0">
                <a:latin typeface="Times New Roman"/>
                <a:cs typeface="Times New Roman"/>
              </a:rPr>
              <a:t>teacher</a:t>
            </a:r>
            <a:r>
              <a:rPr sz="2850" spc="-40" dirty="0">
                <a:latin typeface="Times New Roman"/>
                <a:cs typeface="Times New Roman"/>
              </a:rPr>
              <a:t> </a:t>
            </a:r>
            <a:r>
              <a:rPr sz="2850" spc="-50" dirty="0">
                <a:latin typeface="Times New Roman"/>
                <a:cs typeface="Times New Roman"/>
              </a:rPr>
              <a:t>strictly </a:t>
            </a:r>
            <a:r>
              <a:rPr sz="2850" spc="-45" dirty="0">
                <a:latin typeface="Times New Roman"/>
                <a:cs typeface="Times New Roman"/>
              </a:rPr>
              <a:t>enforces</a:t>
            </a:r>
            <a:r>
              <a:rPr sz="2850" spc="-70" dirty="0">
                <a:latin typeface="Times New Roman"/>
                <a:cs typeface="Times New Roman"/>
              </a:rPr>
              <a:t> </a:t>
            </a:r>
            <a:r>
              <a:rPr sz="2850" spc="-40" dirty="0">
                <a:latin typeface="Times New Roman"/>
                <a:cs typeface="Times New Roman"/>
              </a:rPr>
              <a:t>its</a:t>
            </a:r>
            <a:r>
              <a:rPr sz="2850" spc="-85" dirty="0">
                <a:latin typeface="Times New Roman"/>
                <a:cs typeface="Times New Roman"/>
              </a:rPr>
              <a:t> </a:t>
            </a:r>
            <a:r>
              <a:rPr sz="2850" spc="-75" dirty="0">
                <a:latin typeface="Times New Roman"/>
                <a:cs typeface="Times New Roman"/>
              </a:rPr>
              <a:t>high-</a:t>
            </a:r>
            <a:r>
              <a:rPr sz="2850" spc="-70" dirty="0">
                <a:latin typeface="Times New Roman"/>
                <a:cs typeface="Times New Roman"/>
              </a:rPr>
              <a:t>confidence</a:t>
            </a:r>
            <a:r>
              <a:rPr sz="2850" spc="-145" dirty="0">
                <a:latin typeface="Times New Roman"/>
                <a:cs typeface="Times New Roman"/>
              </a:rPr>
              <a:t> </a:t>
            </a:r>
            <a:r>
              <a:rPr sz="2850" spc="-10" dirty="0">
                <a:latin typeface="Times New Roman"/>
                <a:cs typeface="Times New Roman"/>
              </a:rPr>
              <a:t>knowledge.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37362" y="8498769"/>
            <a:ext cx="1777364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mbria"/>
                <a:cs typeface="Cambria"/>
              </a:rPr>
              <a:t>Conf_t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(High)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51662" y="8498769"/>
            <a:ext cx="227203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dirty="0">
                <a:latin typeface="Cambria"/>
                <a:cs typeface="Cambria"/>
              </a:rPr>
              <a:t>Resulting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Penalty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09162" y="9404702"/>
            <a:ext cx="12217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imes New Roman"/>
                <a:cs typeface="Times New Roman"/>
              </a:rPr>
              <a:t>G</a:t>
            </a:r>
            <a:r>
              <a:rPr sz="1600" spc="420" dirty="0">
                <a:latin typeface="Times New Roman"/>
                <a:cs typeface="Times New Roman"/>
              </a:rPr>
              <a:t> </a:t>
            </a:r>
            <a:r>
              <a:rPr sz="1600" spc="-160" dirty="0">
                <a:latin typeface="Times New Roman"/>
                <a:cs typeface="Times New Roman"/>
              </a:rPr>
              <a:t>NotebookLtVi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4" name="圖片 13" descr="一張含有 文字, 螢幕擷取畫面, Rectangle, 行 的圖片&#10;&#10;AI 產生的內容可能不正確。">
            <a:extLst>
              <a:ext uri="{FF2B5EF4-FFF2-40B4-BE49-F238E27FC236}">
                <a16:creationId xmlns:a16="http://schemas.microsoft.com/office/drawing/2014/main" id="{66487406-40B0-A253-7808-AE9320AA8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957" y="5080390"/>
            <a:ext cx="14575284" cy="40296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5800" y="5549900"/>
            <a:ext cx="5956300" cy="622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2300" y="2603500"/>
            <a:ext cx="6070600" cy="12700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86680" y="359127"/>
            <a:ext cx="1381061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spc="-130" dirty="0">
                <a:solidFill>
                  <a:srgbClr val="000000"/>
                </a:solidFill>
              </a:rPr>
              <a:t>A</a:t>
            </a:r>
            <a:r>
              <a:rPr sz="4700" spc="-165" dirty="0">
                <a:solidFill>
                  <a:srgbClr val="000000"/>
                </a:solidFill>
              </a:rPr>
              <a:t> </a:t>
            </a:r>
            <a:r>
              <a:rPr sz="4700" spc="140" dirty="0">
                <a:solidFill>
                  <a:srgbClr val="000000"/>
                </a:solidFill>
              </a:rPr>
              <a:t>Unified</a:t>
            </a:r>
            <a:r>
              <a:rPr sz="4700" spc="-125" dirty="0">
                <a:solidFill>
                  <a:srgbClr val="000000"/>
                </a:solidFill>
              </a:rPr>
              <a:t> </a:t>
            </a:r>
            <a:r>
              <a:rPr sz="4700" spc="114" dirty="0">
                <a:solidFill>
                  <a:srgbClr val="000000"/>
                </a:solidFill>
              </a:rPr>
              <a:t>System:</a:t>
            </a:r>
            <a:r>
              <a:rPr sz="4700" spc="-145" dirty="0">
                <a:solidFill>
                  <a:srgbClr val="000000"/>
                </a:solidFill>
              </a:rPr>
              <a:t> </a:t>
            </a:r>
            <a:r>
              <a:rPr sz="4700" spc="55" dirty="0">
                <a:solidFill>
                  <a:srgbClr val="000000"/>
                </a:solidFill>
              </a:rPr>
              <a:t>Two</a:t>
            </a:r>
            <a:r>
              <a:rPr sz="4700" spc="-90" dirty="0">
                <a:solidFill>
                  <a:srgbClr val="000000"/>
                </a:solidFill>
              </a:rPr>
              <a:t> </a:t>
            </a:r>
            <a:r>
              <a:rPr sz="4700" dirty="0">
                <a:solidFill>
                  <a:srgbClr val="000000"/>
                </a:solidFill>
              </a:rPr>
              <a:t>Layers</a:t>
            </a:r>
            <a:r>
              <a:rPr sz="4700" spc="80" dirty="0">
                <a:solidFill>
                  <a:srgbClr val="000000"/>
                </a:solidFill>
              </a:rPr>
              <a:t> </a:t>
            </a:r>
            <a:r>
              <a:rPr sz="4700" spc="130" dirty="0">
                <a:solidFill>
                  <a:srgbClr val="000000"/>
                </a:solidFill>
              </a:rPr>
              <a:t>of</a:t>
            </a:r>
            <a:r>
              <a:rPr sz="4700" spc="105" dirty="0">
                <a:solidFill>
                  <a:srgbClr val="000000"/>
                </a:solidFill>
              </a:rPr>
              <a:t> Adaptive</a:t>
            </a:r>
            <a:r>
              <a:rPr sz="4700" spc="120" dirty="0">
                <a:solidFill>
                  <a:srgbClr val="000000"/>
                </a:solidFill>
              </a:rPr>
              <a:t> </a:t>
            </a:r>
            <a:r>
              <a:rPr sz="4700" spc="135" dirty="0">
                <a:solidFill>
                  <a:srgbClr val="000000"/>
                </a:solidFill>
              </a:rPr>
              <a:t>Control</a:t>
            </a:r>
            <a:endParaRPr sz="4700"/>
          </a:p>
        </p:txBody>
      </p:sp>
      <p:sp>
        <p:nvSpPr>
          <p:cNvPr id="5" name="object 5"/>
          <p:cNvSpPr txBox="1"/>
          <p:nvPr/>
        </p:nvSpPr>
        <p:spPr>
          <a:xfrm>
            <a:off x="3418416" y="3884083"/>
            <a:ext cx="4686300" cy="1663700"/>
          </a:xfrm>
          <a:prstGeom prst="rect">
            <a:avLst/>
          </a:prstGeom>
          <a:ln w="21166">
            <a:solidFill>
              <a:srgbClr val="3F5B6B"/>
            </a:solidFill>
          </a:ln>
        </p:spPr>
        <p:txBody>
          <a:bodyPr vert="horz" wrap="square" lIns="0" tIns="236854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1864"/>
              </a:spcBef>
            </a:pPr>
            <a:r>
              <a:rPr sz="2600" spc="-140" dirty="0">
                <a:latin typeface="Arial"/>
                <a:cs typeface="Arial"/>
              </a:rPr>
              <a:t>1.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AdaFace</a:t>
            </a:r>
            <a:r>
              <a:rPr sz="2600" spc="-12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Margin</a:t>
            </a:r>
            <a:endParaRPr sz="2600" dirty="0">
              <a:latin typeface="Arial"/>
              <a:cs typeface="Arial"/>
            </a:endParaRPr>
          </a:p>
          <a:p>
            <a:pPr marL="56515" algn="ctr">
              <a:lnSpc>
                <a:spcPts val="2295"/>
              </a:lnSpc>
              <a:spcBef>
                <a:spcPts val="730"/>
              </a:spcBef>
            </a:pPr>
            <a:r>
              <a:rPr sz="1950" dirty="0">
                <a:latin typeface="Times New Roman"/>
                <a:cs typeface="Times New Roman"/>
              </a:rPr>
              <a:t>Manages</a:t>
            </a:r>
            <a:r>
              <a:rPr sz="1950" spc="25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Data</a:t>
            </a:r>
            <a:r>
              <a:rPr sz="1950" spc="-5" dirty="0">
                <a:latin typeface="Times New Roman"/>
                <a:cs typeface="Times New Roman"/>
              </a:rPr>
              <a:t> </a:t>
            </a:r>
            <a:r>
              <a:rPr sz="1950" spc="-10" dirty="0">
                <a:latin typeface="Times New Roman"/>
                <a:cs typeface="Times New Roman"/>
              </a:rPr>
              <a:t>Quality</a:t>
            </a:r>
            <a:endParaRPr sz="1950" dirty="0">
              <a:latin typeface="Times New Roman"/>
              <a:cs typeface="Times New Roman"/>
            </a:endParaRPr>
          </a:p>
          <a:p>
            <a:pPr marL="40005" algn="ctr">
              <a:lnSpc>
                <a:spcPts val="2355"/>
              </a:lnSpc>
            </a:pPr>
            <a:r>
              <a:rPr sz="2000" dirty="0">
                <a:latin typeface="Cambria"/>
                <a:cs typeface="Cambria"/>
              </a:rPr>
              <a:t>(Is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the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input</a:t>
            </a:r>
            <a:r>
              <a:rPr sz="2000" spc="-6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image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clear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or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noisy?)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6316" y="1420283"/>
            <a:ext cx="3543300" cy="660400"/>
          </a:xfrm>
          <a:prstGeom prst="rect">
            <a:avLst/>
          </a:prstGeom>
          <a:ln w="21166">
            <a:solidFill>
              <a:srgbClr val="3F5B6B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984250">
              <a:lnSpc>
                <a:spcPct val="100000"/>
              </a:lnSpc>
              <a:spcBef>
                <a:spcPts val="665"/>
              </a:spcBef>
            </a:pPr>
            <a:r>
              <a:rPr sz="2500" spc="-20" dirty="0">
                <a:latin typeface="Arial"/>
                <a:cs typeface="Arial"/>
              </a:rPr>
              <a:t>Input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Image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36316" y="2588683"/>
            <a:ext cx="3543300" cy="685800"/>
          </a:xfrm>
          <a:prstGeom prst="rect">
            <a:avLst/>
          </a:prstGeom>
          <a:ln w="21166">
            <a:solidFill>
              <a:srgbClr val="3F5B6B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665"/>
              </a:spcBef>
            </a:pPr>
            <a:r>
              <a:rPr sz="2500" spc="-20" dirty="0">
                <a:latin typeface="Arial"/>
                <a:cs typeface="Arial"/>
              </a:rPr>
              <a:t>Student</a:t>
            </a:r>
            <a:r>
              <a:rPr sz="2500" spc="-60" dirty="0">
                <a:latin typeface="Arial"/>
                <a:cs typeface="Arial"/>
              </a:rPr>
              <a:t> </a:t>
            </a:r>
            <a:r>
              <a:rPr sz="2500" spc="-55" dirty="0">
                <a:latin typeface="Arial"/>
                <a:cs typeface="Arial"/>
              </a:rPr>
              <a:t>Embedding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i="1" spc="-50" dirty="0">
                <a:latin typeface="Arial"/>
                <a:cs typeface="Arial"/>
              </a:rPr>
              <a:t>f</a:t>
            </a:r>
            <a:endParaRPr sz="2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11216" y="3884083"/>
            <a:ext cx="4686300" cy="1663700"/>
          </a:xfrm>
          <a:prstGeom prst="rect">
            <a:avLst/>
          </a:prstGeom>
          <a:ln w="21166">
            <a:solidFill>
              <a:srgbClr val="3F5B6B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686435">
              <a:lnSpc>
                <a:spcPct val="100000"/>
              </a:lnSpc>
              <a:spcBef>
                <a:spcPts val="965"/>
              </a:spcBef>
            </a:pPr>
            <a:r>
              <a:rPr sz="2600" spc="-20" dirty="0">
                <a:latin typeface="Arial"/>
                <a:cs typeface="Arial"/>
              </a:rPr>
              <a:t>2.</a:t>
            </a:r>
            <a:r>
              <a:rPr sz="2600" spc="-200" dirty="0">
                <a:latin typeface="Arial"/>
                <a:cs typeface="Arial"/>
              </a:rPr>
              <a:t> </a:t>
            </a:r>
            <a:r>
              <a:rPr sz="2600" spc="-40" dirty="0">
                <a:latin typeface="Arial"/>
                <a:cs typeface="Arial"/>
              </a:rPr>
              <a:t>Adaptive</a:t>
            </a:r>
            <a:r>
              <a:rPr sz="2600" spc="-100" dirty="0">
                <a:latin typeface="Arial"/>
                <a:cs typeface="Arial"/>
              </a:rPr>
              <a:t> </a:t>
            </a:r>
            <a:r>
              <a:rPr sz="2600" spc="-70" dirty="0">
                <a:latin typeface="Arial"/>
                <a:cs typeface="Arial"/>
              </a:rPr>
              <a:t>Geo-</a:t>
            </a:r>
            <a:r>
              <a:rPr sz="2600" spc="-10" dirty="0">
                <a:latin typeface="Arial"/>
                <a:cs typeface="Arial"/>
              </a:rPr>
              <a:t>Margin</a:t>
            </a:r>
            <a:endParaRPr sz="2600">
              <a:latin typeface="Arial"/>
              <a:cs typeface="Arial"/>
            </a:endParaRPr>
          </a:p>
          <a:p>
            <a:pPr marL="546735" marR="510540" indent="299720">
              <a:lnSpc>
                <a:spcPts val="2200"/>
              </a:lnSpc>
              <a:spcBef>
                <a:spcPts val="720"/>
              </a:spcBef>
            </a:pPr>
            <a:r>
              <a:rPr sz="2000" spc="-25" dirty="0">
                <a:latin typeface="Cambria"/>
                <a:cs typeface="Cambria"/>
              </a:rPr>
              <a:t>Manages</a:t>
            </a:r>
            <a:r>
              <a:rPr sz="2000" spc="-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linowledge</a:t>
            </a:r>
            <a:r>
              <a:rPr sz="2000" spc="-10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Quality</a:t>
            </a:r>
            <a:r>
              <a:rPr sz="2000" spc="500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(Is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the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student</a:t>
            </a:r>
            <a:r>
              <a:rPr sz="2000" spc="-5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learning</a:t>
            </a:r>
            <a:r>
              <a:rPr sz="2000" spc="30" dirty="0">
                <a:latin typeface="Cambria"/>
                <a:cs typeface="Cambria"/>
              </a:rPr>
              <a:t> </a:t>
            </a:r>
            <a:r>
              <a:rPr sz="2000" spc="-45" dirty="0">
                <a:latin typeface="Cambria"/>
                <a:cs typeface="Cambria"/>
              </a:rPr>
              <a:t>the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correct</a:t>
            </a:r>
            <a:endParaRPr sz="2000">
              <a:latin typeface="Cambria"/>
              <a:cs typeface="Cambria"/>
            </a:endParaRPr>
          </a:p>
          <a:p>
            <a:pPr marL="332740">
              <a:lnSpc>
                <a:spcPts val="2160"/>
              </a:lnSpc>
            </a:pPr>
            <a:r>
              <a:rPr sz="2000" spc="-35" dirty="0">
                <a:latin typeface="Cambria"/>
                <a:cs typeface="Cambria"/>
              </a:rPr>
              <a:t>geometric</a:t>
            </a:r>
            <a:r>
              <a:rPr sz="2000" spc="20" dirty="0">
                <a:latin typeface="Cambria"/>
                <a:cs typeface="Cambria"/>
              </a:rPr>
              <a:t> </a:t>
            </a:r>
            <a:r>
              <a:rPr sz="2000" spc="-40" dirty="0">
                <a:latin typeface="Cambria"/>
                <a:cs typeface="Cambria"/>
              </a:rPr>
              <a:t>direction</a:t>
            </a:r>
            <a:r>
              <a:rPr sz="2000" spc="-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from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the</a:t>
            </a:r>
            <a:r>
              <a:rPr sz="2000" spc="-9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teacher?)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7611" y="6292850"/>
            <a:ext cx="62903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i="1" spc="-90" dirty="0">
                <a:latin typeface="Arial"/>
                <a:cs typeface="Arial"/>
              </a:rPr>
              <a:t>margin_scaleY</a:t>
            </a:r>
            <a:r>
              <a:rPr sz="2500" i="1" spc="160" dirty="0">
                <a:latin typeface="Arial"/>
                <a:cs typeface="Arial"/>
              </a:rPr>
              <a:t> </a:t>
            </a:r>
            <a:r>
              <a:rPr sz="2500" spc="-185" dirty="0">
                <a:latin typeface="Arial"/>
                <a:cs typeface="Arial"/>
              </a:rPr>
              <a:t>+-</a:t>
            </a:r>
            <a:r>
              <a:rPr sz="2500" spc="10" dirty="0">
                <a:latin typeface="Arial"/>
                <a:cs typeface="Arial"/>
              </a:rPr>
              <a:t> </a:t>
            </a:r>
            <a:r>
              <a:rPr sz="2500" i="1" spc="-90" dirty="0">
                <a:latin typeface="Arial"/>
                <a:cs typeface="Arial"/>
              </a:rPr>
              <a:t>margin_scaleY</a:t>
            </a:r>
            <a:r>
              <a:rPr sz="2500" i="1" spc="340" dirty="0">
                <a:latin typeface="Arial"/>
                <a:cs typeface="Arial"/>
              </a:rPr>
              <a:t> </a:t>
            </a:r>
            <a:r>
              <a:rPr sz="2500" spc="-290" dirty="0">
                <a:latin typeface="Arial"/>
                <a:cs typeface="Arial"/>
              </a:rPr>
              <a:t>-</a:t>
            </a:r>
            <a:r>
              <a:rPr sz="2500" spc="-520" dirty="0">
                <a:latin typeface="Arial"/>
                <a:cs typeface="Arial"/>
              </a:rPr>
              <a:t>F</a:t>
            </a:r>
            <a:r>
              <a:rPr sz="2500" spc="-90" dirty="0">
                <a:latin typeface="Arial"/>
                <a:cs typeface="Arial"/>
              </a:rPr>
              <a:t> </a:t>
            </a:r>
            <a:r>
              <a:rPr sz="2500" i="1" dirty="0">
                <a:latin typeface="Arial"/>
                <a:cs typeface="Arial"/>
              </a:rPr>
              <a:t>w</a:t>
            </a:r>
            <a:r>
              <a:rPr sz="2500" i="1" spc="-55" dirty="0">
                <a:latin typeface="Arial"/>
                <a:cs typeface="Arial"/>
              </a:rPr>
              <a:t> </a:t>
            </a:r>
            <a:r>
              <a:rPr sz="2500" i="1" spc="-395" dirty="0">
                <a:latin typeface="Arial"/>
                <a:cs typeface="Arial"/>
              </a:rPr>
              <a:t>-</a:t>
            </a:r>
            <a:r>
              <a:rPr sz="2500" i="1" spc="-12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Penalty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6316" y="7452783"/>
            <a:ext cx="3543300" cy="660400"/>
          </a:xfrm>
          <a:prstGeom prst="rect">
            <a:avLst/>
          </a:prstGeom>
          <a:ln w="29633">
            <a:solidFill>
              <a:srgbClr val="2F3434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31750" algn="ctr">
              <a:lnSpc>
                <a:spcPct val="100000"/>
              </a:lnSpc>
              <a:spcBef>
                <a:spcPts val="615"/>
              </a:spcBef>
            </a:pPr>
            <a:r>
              <a:rPr sz="2550" spc="-85" dirty="0">
                <a:latin typeface="Arial"/>
                <a:cs typeface="Arial"/>
              </a:rPr>
              <a:t>Final</a:t>
            </a:r>
            <a:r>
              <a:rPr sz="2550" spc="-95" dirty="0">
                <a:latin typeface="Arial"/>
                <a:cs typeface="Arial"/>
              </a:rPr>
              <a:t> </a:t>
            </a:r>
            <a:r>
              <a:rPr sz="2550" spc="-55" dirty="0">
                <a:latin typeface="Arial"/>
                <a:cs typeface="Arial"/>
              </a:rPr>
              <a:t>Student</a:t>
            </a:r>
            <a:r>
              <a:rPr sz="2550" spc="-50" dirty="0">
                <a:latin typeface="Arial"/>
                <a:cs typeface="Arial"/>
              </a:rPr>
              <a:t> </a:t>
            </a:r>
            <a:r>
              <a:rPr sz="2550" spc="-10" dirty="0">
                <a:latin typeface="Arial"/>
                <a:cs typeface="Arial"/>
              </a:rPr>
              <a:t>Logit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4819" y="8516760"/>
            <a:ext cx="10935970" cy="78994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 indent="48260">
              <a:lnSpc>
                <a:spcPts val="2850"/>
              </a:lnSpc>
              <a:spcBef>
                <a:spcPts val="455"/>
              </a:spcBef>
            </a:pPr>
            <a:r>
              <a:rPr sz="2600" spc="-20" dirty="0">
                <a:latin typeface="Cambria"/>
                <a:cs typeface="Cambria"/>
              </a:rPr>
              <a:t>Critical</a:t>
            </a:r>
            <a:r>
              <a:rPr sz="2600" spc="-80" dirty="0">
                <a:latin typeface="Cambria"/>
                <a:cs typeface="Cambria"/>
              </a:rPr>
              <a:t> </a:t>
            </a:r>
            <a:r>
              <a:rPr sz="2600" spc="-30" dirty="0">
                <a:latin typeface="Cambria"/>
                <a:cs typeface="Cambria"/>
              </a:rPr>
              <a:t>Clarification:</a:t>
            </a:r>
            <a:r>
              <a:rPr sz="2600" spc="-114" dirty="0">
                <a:latin typeface="Cambria"/>
                <a:cs typeface="Cambria"/>
              </a:rPr>
              <a:t> </a:t>
            </a:r>
            <a:r>
              <a:rPr sz="2600" spc="-40" dirty="0">
                <a:latin typeface="Cambria"/>
                <a:cs typeface="Cambria"/>
              </a:rPr>
              <a:t>Both</a:t>
            </a:r>
            <a:r>
              <a:rPr sz="2600" spc="-15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mechanisms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only</a:t>
            </a:r>
            <a:r>
              <a:rPr sz="2600" spc="-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act</a:t>
            </a:r>
            <a:r>
              <a:rPr sz="2600" spc="-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</a:t>
            </a:r>
            <a:r>
              <a:rPr sz="2600" spc="-105" dirty="0">
                <a:latin typeface="Cambria"/>
                <a:cs typeface="Cambria"/>
              </a:rPr>
              <a:t> </a:t>
            </a:r>
            <a:r>
              <a:rPr sz="2600" spc="-45" dirty="0">
                <a:latin typeface="Cambria"/>
                <a:cs typeface="Cambria"/>
              </a:rPr>
              <a:t>the</a:t>
            </a:r>
            <a:r>
              <a:rPr sz="2600" spc="-135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student's</a:t>
            </a:r>
            <a:r>
              <a:rPr sz="2600" spc="-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logit.</a:t>
            </a:r>
            <a:r>
              <a:rPr sz="2600" spc="-55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The</a:t>
            </a:r>
            <a:r>
              <a:rPr sz="2600" spc="-6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class </a:t>
            </a:r>
            <a:r>
              <a:rPr sz="2600" spc="-30" dirty="0">
                <a:latin typeface="Cambria"/>
                <a:cs typeface="Cambria"/>
              </a:rPr>
              <a:t>center</a:t>
            </a:r>
            <a:r>
              <a:rPr sz="2600" spc="-105" dirty="0">
                <a:latin typeface="Cambria"/>
                <a:cs typeface="Cambria"/>
              </a:rPr>
              <a:t> </a:t>
            </a:r>
            <a:r>
              <a:rPr sz="2600" spc="-75" dirty="0">
                <a:latin typeface="Cambria"/>
                <a:cs typeface="Cambria"/>
              </a:rPr>
              <a:t>update</a:t>
            </a:r>
            <a:r>
              <a:rPr sz="2600" spc="-65" dirty="0">
                <a:latin typeface="Cambria"/>
                <a:cs typeface="Cambria"/>
              </a:rPr>
              <a:t> </a:t>
            </a:r>
            <a:r>
              <a:rPr sz="2600" spc="-35" dirty="0">
                <a:latin typeface="Cambria"/>
                <a:cs typeface="Cambria"/>
              </a:rPr>
              <a:t>remains</a:t>
            </a:r>
            <a:r>
              <a:rPr sz="2600" spc="-85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exclusively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spc="-55" dirty="0">
                <a:latin typeface="Cambria"/>
                <a:cs typeface="Cambria"/>
              </a:rPr>
              <a:t>controlled</a:t>
            </a:r>
            <a:r>
              <a:rPr sz="2600" spc="35" dirty="0">
                <a:latin typeface="Cambria"/>
                <a:cs typeface="Cambria"/>
              </a:rPr>
              <a:t> </a:t>
            </a:r>
            <a:r>
              <a:rPr sz="2600" spc="-30" dirty="0">
                <a:latin typeface="Cambria"/>
                <a:cs typeface="Cambria"/>
              </a:rPr>
              <a:t>by</a:t>
            </a:r>
            <a:r>
              <a:rPr sz="2600" spc="-70" dirty="0">
                <a:latin typeface="Cambria"/>
                <a:cs typeface="Cambria"/>
              </a:rPr>
              <a:t> </a:t>
            </a:r>
            <a:r>
              <a:rPr sz="2600" spc="-85" dirty="0">
                <a:latin typeface="Cambria"/>
                <a:cs typeface="Cambria"/>
              </a:rPr>
              <a:t>AdaFace's</a:t>
            </a:r>
            <a:r>
              <a:rPr sz="2600" spc="-45" dirty="0">
                <a:latin typeface="Cambria"/>
                <a:cs typeface="Cambria"/>
              </a:rPr>
              <a:t> original</a:t>
            </a:r>
            <a:r>
              <a:rPr sz="2600" spc="-55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quality</a:t>
            </a:r>
            <a:r>
              <a:rPr sz="2600" spc="-8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proxy.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14039" y="9422341"/>
            <a:ext cx="122364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dirty="0">
                <a:latin typeface="Arial"/>
                <a:cs typeface="Arial"/>
              </a:rPr>
              <a:t>W</a:t>
            </a:r>
            <a:r>
              <a:rPr sz="1450" spc="135" dirty="0">
                <a:latin typeface="Arial"/>
                <a:cs typeface="Arial"/>
              </a:rPr>
              <a:t> </a:t>
            </a:r>
            <a:r>
              <a:rPr sz="1450" spc="-75" dirty="0">
                <a:latin typeface="Arial"/>
                <a:cs typeface="Arial"/>
              </a:rPr>
              <a:t>NotebookLM</a:t>
            </a:r>
            <a:endParaRPr sz="1450">
              <a:latin typeface="Arial"/>
              <a:cs typeface="Arial"/>
            </a:endParaRPr>
          </a:p>
        </p:txBody>
      </p:sp>
      <p:pic>
        <p:nvPicPr>
          <p:cNvPr id="14" name="圖片 13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9D0392DC-D5ED-E05A-D107-0430483C2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853" y="1328242"/>
            <a:ext cx="13927494" cy="70971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9100" y="2413000"/>
            <a:ext cx="1828800" cy="5461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60800" y="946150"/>
            <a:ext cx="63500" cy="0"/>
          </a:xfrm>
          <a:custGeom>
            <a:avLst/>
            <a:gdLst/>
            <a:ahLst/>
            <a:cxnLst/>
            <a:rect l="l" t="t" r="r" b="b"/>
            <a:pathLst>
              <a:path w="63500">
                <a:moveTo>
                  <a:pt x="0" y="0"/>
                </a:moveTo>
                <a:lnTo>
                  <a:pt x="63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45" dirty="0">
                <a:latin typeface="Calibri"/>
                <a:cs typeface="Calibri"/>
              </a:rPr>
              <a:t>From</a:t>
            </a:r>
            <a:r>
              <a:rPr spc="50" dirty="0">
                <a:latin typeface="Calibri"/>
                <a:cs typeface="Calibri"/>
              </a:rPr>
              <a:t> </a:t>
            </a:r>
            <a:r>
              <a:rPr spc="245" dirty="0">
                <a:latin typeface="Calibri"/>
                <a:cs typeface="Calibri"/>
              </a:rPr>
              <a:t>Static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225" dirty="0">
                <a:latin typeface="Calibri"/>
                <a:cs typeface="Calibri"/>
              </a:rPr>
              <a:t>and</a:t>
            </a:r>
            <a:r>
              <a:rPr spc="-280" dirty="0">
                <a:latin typeface="Calibri"/>
                <a:cs typeface="Calibri"/>
              </a:rPr>
              <a:t> </a:t>
            </a:r>
            <a:r>
              <a:rPr spc="95" dirty="0">
                <a:latin typeface="Calibri"/>
                <a:cs typeface="Calibri"/>
              </a:rPr>
              <a:t>Brittle</a:t>
            </a:r>
            <a:r>
              <a:rPr spc="145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spc="-1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pc="175" dirty="0">
                <a:latin typeface="Calibri"/>
                <a:cs typeface="Calibri"/>
              </a:rPr>
              <a:t>Adaptive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225" dirty="0">
                <a:latin typeface="Calibri"/>
                <a:cs typeface="Calibri"/>
              </a:rPr>
              <a:t>and</a:t>
            </a:r>
            <a:r>
              <a:rPr spc="-280" dirty="0">
                <a:latin typeface="Calibri"/>
                <a:cs typeface="Calibri"/>
              </a:rPr>
              <a:t> </a:t>
            </a:r>
            <a:r>
              <a:rPr spc="195" dirty="0">
                <a:latin typeface="Calibri"/>
                <a:cs typeface="Calibri"/>
              </a:rPr>
              <a:t>Robust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5770" y="2358319"/>
            <a:ext cx="1536700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110" dirty="0">
                <a:latin typeface="Times New Roman"/>
                <a:cs typeface="Times New Roman"/>
              </a:rPr>
              <a:t>Feature</a:t>
            </a:r>
            <a:endParaRPr sz="3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8735" y="2295525"/>
            <a:ext cx="9938385" cy="692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029325" algn="l"/>
              </a:tabLst>
            </a:pPr>
            <a:r>
              <a:rPr sz="4350" spc="-215" dirty="0">
                <a:latin typeface="Calibri"/>
                <a:cs typeface="Calibri"/>
              </a:rPr>
              <a:t>Static</a:t>
            </a:r>
            <a:r>
              <a:rPr sz="4350" spc="-40" dirty="0">
                <a:latin typeface="Calibri"/>
                <a:cs typeface="Calibri"/>
              </a:rPr>
              <a:t> </a:t>
            </a:r>
            <a:r>
              <a:rPr sz="4350" spc="-480" dirty="0">
                <a:latin typeface="Calibri"/>
                <a:cs typeface="Calibri"/>
              </a:rPr>
              <a:t>Geo-</a:t>
            </a:r>
            <a:r>
              <a:rPr sz="4350" spc="-470" dirty="0">
                <a:latin typeface="Calibri"/>
                <a:cs typeface="Calibri"/>
              </a:rPr>
              <a:t>Margin</a:t>
            </a:r>
            <a:r>
              <a:rPr sz="4350" spc="220" dirty="0">
                <a:latin typeface="Calibri"/>
                <a:cs typeface="Calibri"/>
              </a:rPr>
              <a:t> </a:t>
            </a:r>
            <a:r>
              <a:rPr sz="6525" baseline="-1915" dirty="0">
                <a:latin typeface="Calibri"/>
                <a:cs typeface="Calibri"/>
              </a:rPr>
              <a:t>(Y</a:t>
            </a:r>
            <a:r>
              <a:rPr sz="6525" baseline="1915" dirty="0">
                <a:latin typeface="Calibri"/>
                <a:cs typeface="Calibri"/>
              </a:rPr>
              <a:t>])</a:t>
            </a:r>
            <a:r>
              <a:rPr sz="6525" spc="1387" baseline="1915" dirty="0">
                <a:latin typeface="Calibri"/>
                <a:cs typeface="Calibri"/>
              </a:rPr>
              <a:t> </a:t>
            </a:r>
            <a:r>
              <a:rPr sz="4350" spc="75" dirty="0">
                <a:solidFill>
                  <a:srgbClr val="230E00"/>
                </a:solidFill>
                <a:latin typeface="Calibri"/>
                <a:cs typeface="Calibri"/>
              </a:rPr>
              <a:t>!</a:t>
            </a:r>
            <a:r>
              <a:rPr sz="4350" dirty="0">
                <a:solidFill>
                  <a:srgbClr val="230E00"/>
                </a:solidFill>
                <a:latin typeface="Calibri"/>
                <a:cs typeface="Calibri"/>
              </a:rPr>
              <a:t>	</a:t>
            </a:r>
            <a:r>
              <a:rPr sz="4350" spc="-400" dirty="0">
                <a:latin typeface="Calibri"/>
                <a:cs typeface="Calibri"/>
              </a:rPr>
              <a:t>Adaptive</a:t>
            </a:r>
            <a:r>
              <a:rPr sz="4350" spc="140" dirty="0">
                <a:latin typeface="Calibri"/>
                <a:cs typeface="Calibri"/>
              </a:rPr>
              <a:t> </a:t>
            </a:r>
            <a:r>
              <a:rPr sz="4350" spc="-370" dirty="0">
                <a:latin typeface="Calibri"/>
                <a:cs typeface="Calibri"/>
              </a:rPr>
              <a:t>Geo-</a:t>
            </a:r>
            <a:r>
              <a:rPr sz="4350" spc="-350" dirty="0">
                <a:latin typeface="Calibri"/>
                <a:cs typeface="Calibri"/>
              </a:rPr>
              <a:t>Uargin</a:t>
            </a:r>
            <a:endParaRPr sz="435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809" y="3496027"/>
            <a:ext cx="215709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10" dirty="0">
                <a:latin typeface="Cambria"/>
                <a:cs typeface="Cambria"/>
              </a:rPr>
              <a:t>Mechanism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1948" y="3496027"/>
            <a:ext cx="395414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100" dirty="0">
                <a:latin typeface="Cambria"/>
                <a:cs typeface="Cambria"/>
              </a:rPr>
              <a:t>Raw</a:t>
            </a:r>
            <a:r>
              <a:rPr sz="3450" spc="-95" dirty="0">
                <a:latin typeface="Cambria"/>
                <a:cs typeface="Cambria"/>
              </a:rPr>
              <a:t> </a:t>
            </a:r>
            <a:r>
              <a:rPr sz="3450" spc="-50" dirty="0">
                <a:latin typeface="Cambria"/>
                <a:cs typeface="Cambria"/>
              </a:rPr>
              <a:t>cosine</a:t>
            </a:r>
            <a:r>
              <a:rPr sz="3450" spc="-125" dirty="0">
                <a:latin typeface="Cambria"/>
                <a:cs typeface="Cambria"/>
              </a:rPr>
              <a:t> </a:t>
            </a:r>
            <a:r>
              <a:rPr sz="3450" spc="-60" dirty="0">
                <a:latin typeface="Cambria"/>
                <a:cs typeface="Cambria"/>
              </a:rPr>
              <a:t>difference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1212" y="3478388"/>
            <a:ext cx="538607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40" dirty="0">
                <a:latin typeface="Times New Roman"/>
                <a:cs typeface="Times New Roman"/>
              </a:rPr>
              <a:t>Teacher</a:t>
            </a:r>
            <a:r>
              <a:rPr sz="3600" spc="-175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confidence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</a:t>
            </a:r>
            <a:r>
              <a:rPr sz="3600" spc="-2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</a:t>
            </a:r>
            <a:r>
              <a:rPr sz="3600" spc="-190" dirty="0">
                <a:latin typeface="Times New Roman"/>
                <a:cs typeface="Times New Roman"/>
              </a:rPr>
              <a:t> </a:t>
            </a:r>
            <a:r>
              <a:rPr sz="3600" spc="-55" dirty="0">
                <a:latin typeface="Times New Roman"/>
                <a:cs typeface="Times New Roman"/>
              </a:rPr>
              <a:t>guide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8801" y="4585758"/>
            <a:ext cx="2058035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110" dirty="0">
                <a:latin typeface="Cambria"/>
                <a:cs typeface="Cambria"/>
              </a:rPr>
              <a:t>Thresholds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2305" y="4585758"/>
            <a:ext cx="5486400" cy="565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45" dirty="0">
                <a:latin typeface="Cambria"/>
                <a:cs typeface="Cambria"/>
              </a:rPr>
              <a:t>Multiple,</a:t>
            </a:r>
            <a:r>
              <a:rPr sz="3550" spc="-35" dirty="0">
                <a:latin typeface="Cambria"/>
                <a:cs typeface="Cambria"/>
              </a:rPr>
              <a:t> </a:t>
            </a:r>
            <a:r>
              <a:rPr sz="3550" spc="-110" dirty="0">
                <a:latin typeface="Cambria"/>
                <a:cs typeface="Cambria"/>
              </a:rPr>
              <a:t>hard-</a:t>
            </a:r>
            <a:r>
              <a:rPr sz="3550" spc="-50" dirty="0">
                <a:latin typeface="Cambria"/>
                <a:cs typeface="Cambria"/>
              </a:rPr>
              <a:t>coded,</a:t>
            </a:r>
            <a:r>
              <a:rPr sz="3550" spc="-20" dirty="0">
                <a:latin typeface="Cambria"/>
                <a:cs typeface="Cambria"/>
              </a:rPr>
              <a:t> </a:t>
            </a:r>
            <a:r>
              <a:rPr sz="3550" spc="-30" dirty="0">
                <a:latin typeface="Cambria"/>
                <a:cs typeface="Cambria"/>
              </a:rPr>
              <a:t>manual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304450" y="4585758"/>
            <a:ext cx="5305425" cy="1073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320">
              <a:lnSpc>
                <a:spcPts val="4130"/>
              </a:lnSpc>
              <a:spcBef>
                <a:spcPts val="90"/>
              </a:spcBef>
            </a:pPr>
            <a:r>
              <a:rPr sz="3550" spc="-10" dirty="0">
                <a:solidFill>
                  <a:srgbClr val="546224"/>
                </a:solidFill>
                <a:latin typeface="Cambria"/>
                <a:cs typeface="Cambria"/>
              </a:rPr>
              <a:t>None.</a:t>
            </a:r>
            <a:endParaRPr sz="3550">
              <a:latin typeface="Cambria"/>
              <a:cs typeface="Cambria"/>
            </a:endParaRPr>
          </a:p>
          <a:p>
            <a:pPr marL="12700">
              <a:lnSpc>
                <a:spcPts val="4130"/>
              </a:lnSpc>
            </a:pPr>
            <a:r>
              <a:rPr sz="3550" spc="-55" dirty="0">
                <a:latin typeface="Cambria"/>
                <a:cs typeface="Cambria"/>
              </a:rPr>
              <a:t>Zero</a:t>
            </a:r>
            <a:r>
              <a:rPr sz="3550" spc="-120" dirty="0">
                <a:latin typeface="Cambria"/>
                <a:cs typeface="Cambria"/>
              </a:rPr>
              <a:t> </a:t>
            </a:r>
            <a:r>
              <a:rPr sz="3550" spc="-114" dirty="0">
                <a:latin typeface="Cambria"/>
                <a:cs typeface="Cambria"/>
              </a:rPr>
              <a:t>extra</a:t>
            </a:r>
            <a:r>
              <a:rPr sz="3550" spc="-85" dirty="0">
                <a:latin typeface="Cambria"/>
                <a:cs typeface="Cambria"/>
              </a:rPr>
              <a:t> </a:t>
            </a:r>
            <a:r>
              <a:rPr sz="3550" spc="-70" dirty="0">
                <a:latin typeface="Cambria"/>
                <a:cs typeface="Cambria"/>
              </a:rPr>
              <a:t>hyperparameters.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1884" y="6188427"/>
            <a:ext cx="152082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50" dirty="0">
                <a:latin typeface="Cambria"/>
                <a:cs typeface="Cambria"/>
              </a:rPr>
              <a:t>Stability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9948" y="7947377"/>
            <a:ext cx="106743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50" dirty="0">
                <a:latin typeface="Cambria"/>
                <a:cs typeface="Cambria"/>
              </a:rPr>
              <a:t>Effort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89336" y="6177138"/>
            <a:ext cx="471297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10" dirty="0">
                <a:latin typeface="Times New Roman"/>
                <a:cs typeface="Times New Roman"/>
              </a:rPr>
              <a:t>Sensitive</a:t>
            </a:r>
            <a:r>
              <a:rPr sz="3600" spc="3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to</a:t>
            </a:r>
            <a:r>
              <a:rPr sz="3600" spc="-1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tuning</a:t>
            </a:r>
            <a:r>
              <a:rPr sz="3600" spc="-80" dirty="0">
                <a:latin typeface="Times New Roman"/>
                <a:cs typeface="Times New Roman"/>
              </a:rPr>
              <a:t> </a:t>
            </a:r>
            <a:r>
              <a:rPr sz="3600" spc="-450" dirty="0">
                <a:latin typeface="Times New Roman"/>
                <a:cs typeface="Times New Roman"/>
              </a:rPr>
              <a:t>&amp;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data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29961" y="6177138"/>
            <a:ext cx="485711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40" dirty="0">
                <a:latin typeface="Times New Roman"/>
                <a:cs typeface="Times New Roman"/>
              </a:rPr>
              <a:t>Robust</a:t>
            </a:r>
            <a:r>
              <a:rPr sz="3600" spc="2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and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self-</a:t>
            </a:r>
            <a:r>
              <a:rPr sz="3600" spc="-10" dirty="0">
                <a:latin typeface="Times New Roman"/>
                <a:cs typeface="Times New Roman"/>
              </a:rPr>
              <a:t>regulating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91948" y="7947377"/>
            <a:ext cx="306895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dirty="0">
                <a:latin typeface="Cambria"/>
                <a:cs typeface="Cambria"/>
              </a:rPr>
              <a:t>High</a:t>
            </a:r>
            <a:r>
              <a:rPr sz="3450" spc="-35" dirty="0">
                <a:latin typeface="Cambria"/>
                <a:cs typeface="Cambria"/>
              </a:rPr>
              <a:t> </a:t>
            </a:r>
            <a:r>
              <a:rPr sz="3450" spc="-10" dirty="0">
                <a:latin typeface="Cambria"/>
                <a:cs typeface="Cambria"/>
              </a:rPr>
              <a:t>tuning</a:t>
            </a:r>
            <a:r>
              <a:rPr sz="3450" spc="140" dirty="0">
                <a:latin typeface="Cambria"/>
                <a:cs typeface="Cambria"/>
              </a:rPr>
              <a:t> </a:t>
            </a:r>
            <a:r>
              <a:rPr sz="3450" spc="-20" dirty="0">
                <a:latin typeface="Cambria"/>
                <a:cs typeface="Cambria"/>
              </a:rPr>
              <a:t>cost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12609" y="7947377"/>
            <a:ext cx="2673985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dirty="0">
                <a:latin typeface="Cambria"/>
                <a:cs typeface="Cambria"/>
              </a:rPr>
              <a:t>No</a:t>
            </a:r>
            <a:r>
              <a:rPr sz="3450" spc="-160" dirty="0">
                <a:latin typeface="Cambria"/>
                <a:cs typeface="Cambria"/>
              </a:rPr>
              <a:t> </a:t>
            </a:r>
            <a:r>
              <a:rPr sz="3450" spc="-20" dirty="0">
                <a:latin typeface="Cambria"/>
                <a:cs typeface="Cambria"/>
              </a:rPr>
              <a:t>tuning</a:t>
            </a:r>
            <a:r>
              <a:rPr sz="3450" spc="-5" dirty="0">
                <a:latin typeface="Cambria"/>
                <a:cs typeface="Cambria"/>
              </a:rPr>
              <a:t> </a:t>
            </a:r>
            <a:r>
              <a:rPr sz="3450" spc="-30" dirty="0">
                <a:latin typeface="Cambria"/>
                <a:cs typeface="Cambria"/>
              </a:rPr>
              <a:t>cost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798824" y="9413522"/>
            <a:ext cx="1384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5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  <p:pic>
        <p:nvPicPr>
          <p:cNvPr id="22" name="圖片 21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41D7B47-068F-B656-58C3-ADA980D02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61" y="144479"/>
            <a:ext cx="17151981" cy="952748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72923" y="876652"/>
            <a:ext cx="15262225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350" spc="-300" dirty="0">
                <a:solidFill>
                  <a:srgbClr val="212121"/>
                </a:solidFill>
                <a:latin typeface="Calibri"/>
                <a:cs typeface="Calibri"/>
              </a:rPr>
              <a:t>The</a:t>
            </a:r>
            <a:r>
              <a:rPr sz="5350" spc="195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5350" spc="160" dirty="0">
                <a:solidFill>
                  <a:srgbClr val="1A1A1A"/>
                </a:solidFill>
                <a:latin typeface="Calibri"/>
                <a:cs typeface="Calibri"/>
              </a:rPr>
              <a:t>Impact:</a:t>
            </a:r>
            <a:r>
              <a:rPr sz="5350" spc="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5350" spc="155" dirty="0">
                <a:solidFill>
                  <a:srgbClr val="1A1A1A"/>
                </a:solidFill>
                <a:latin typeface="Calibri"/>
                <a:cs typeface="Calibri"/>
              </a:rPr>
              <a:t>Superior</a:t>
            </a:r>
            <a:r>
              <a:rPr sz="5350" spc="204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5350" spc="215" dirty="0">
                <a:latin typeface="Calibri"/>
                <a:cs typeface="Calibri"/>
              </a:rPr>
              <a:t>and</a:t>
            </a:r>
            <a:r>
              <a:rPr sz="5350" spc="-200" dirty="0">
                <a:latin typeface="Calibri"/>
                <a:cs typeface="Calibri"/>
              </a:rPr>
              <a:t> </a:t>
            </a:r>
            <a:r>
              <a:rPr sz="5350" dirty="0">
                <a:latin typeface="Calibri"/>
                <a:cs typeface="Calibri"/>
              </a:rPr>
              <a:t>More</a:t>
            </a:r>
            <a:r>
              <a:rPr sz="5350" spc="145" dirty="0">
                <a:latin typeface="Calibri"/>
                <a:cs typeface="Calibri"/>
              </a:rPr>
              <a:t> </a:t>
            </a:r>
            <a:r>
              <a:rPr sz="5350" spc="195" dirty="0">
                <a:latin typeface="Calibri"/>
                <a:cs typeface="Calibri"/>
              </a:rPr>
              <a:t>Stable</a:t>
            </a:r>
            <a:r>
              <a:rPr sz="5350" spc="-80" dirty="0">
                <a:latin typeface="Calibri"/>
                <a:cs typeface="Calibri"/>
              </a:rPr>
              <a:t> </a:t>
            </a:r>
            <a:r>
              <a:rPr sz="5350" spc="160" dirty="0">
                <a:solidFill>
                  <a:srgbClr val="1A1A1A"/>
                </a:solidFill>
                <a:latin typeface="Calibri"/>
                <a:cs typeface="Calibri"/>
              </a:rPr>
              <a:t>Performance</a:t>
            </a:r>
            <a:endParaRPr sz="53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8722" y="2268361"/>
            <a:ext cx="15108555" cy="122174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9050" marR="5080" indent="-6985">
              <a:lnSpc>
                <a:spcPct val="102800"/>
              </a:lnSpc>
              <a:spcBef>
                <a:spcPts val="10"/>
              </a:spcBef>
            </a:pPr>
            <a:r>
              <a:rPr sz="3850" spc="-10" dirty="0">
                <a:latin typeface="Cambria"/>
                <a:cs typeface="Cambria"/>
              </a:rPr>
              <a:t>Experimental</a:t>
            </a:r>
            <a:r>
              <a:rPr sz="3850" spc="-40" dirty="0">
                <a:latin typeface="Cambria"/>
                <a:cs typeface="Cambria"/>
              </a:rPr>
              <a:t> </a:t>
            </a:r>
            <a:r>
              <a:rPr sz="3850" spc="-30" dirty="0">
                <a:latin typeface="Cambria"/>
                <a:cs typeface="Cambria"/>
              </a:rPr>
              <a:t>results</a:t>
            </a:r>
            <a:r>
              <a:rPr sz="3850" spc="-90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confirm</a:t>
            </a:r>
            <a:r>
              <a:rPr sz="3850" spc="-114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that</a:t>
            </a:r>
            <a:r>
              <a:rPr sz="3850" spc="-100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the</a:t>
            </a:r>
            <a:r>
              <a:rPr sz="3850" spc="-125" dirty="0">
                <a:latin typeface="Cambria"/>
                <a:cs typeface="Cambria"/>
              </a:rPr>
              <a:t> </a:t>
            </a:r>
            <a:r>
              <a:rPr sz="3850" spc="-65" dirty="0">
                <a:latin typeface="Cambria"/>
                <a:cs typeface="Cambria"/>
              </a:rPr>
              <a:t>adaptive</a:t>
            </a:r>
            <a:r>
              <a:rPr sz="3850" spc="75" dirty="0">
                <a:latin typeface="Cambria"/>
                <a:cs typeface="Cambria"/>
              </a:rPr>
              <a:t> </a:t>
            </a:r>
            <a:r>
              <a:rPr sz="3850" spc="-70" dirty="0">
                <a:latin typeface="Cambria"/>
                <a:cs typeface="Cambria"/>
              </a:rPr>
              <a:t>geometry-</a:t>
            </a:r>
            <a:r>
              <a:rPr sz="3850" spc="-50" dirty="0">
                <a:latin typeface="Cambria"/>
                <a:cs typeface="Cambria"/>
              </a:rPr>
              <a:t>aware</a:t>
            </a:r>
            <a:r>
              <a:rPr sz="3850" spc="-165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margin</a:t>
            </a:r>
            <a:r>
              <a:rPr sz="3850" spc="-125" dirty="0">
                <a:latin typeface="Cambria"/>
                <a:cs typeface="Cambria"/>
              </a:rPr>
              <a:t> </a:t>
            </a:r>
            <a:r>
              <a:rPr sz="3850" spc="-25" dirty="0">
                <a:latin typeface="Cambria"/>
                <a:cs typeface="Cambria"/>
              </a:rPr>
              <a:t>is </a:t>
            </a:r>
            <a:r>
              <a:rPr sz="3850" spc="-45" dirty="0">
                <a:latin typeface="Cambria"/>
                <a:cs typeface="Cambria"/>
              </a:rPr>
              <a:t>signifieantly</a:t>
            </a:r>
            <a:r>
              <a:rPr sz="3850" spc="45" dirty="0">
                <a:latin typeface="Cambria"/>
                <a:cs typeface="Cambria"/>
              </a:rPr>
              <a:t> </a:t>
            </a:r>
            <a:r>
              <a:rPr sz="3850" spc="-35" dirty="0">
                <a:latin typeface="Cambria"/>
                <a:cs typeface="Cambria"/>
              </a:rPr>
              <a:t>superior</a:t>
            </a:r>
            <a:r>
              <a:rPr sz="3850" spc="-20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to</a:t>
            </a:r>
            <a:r>
              <a:rPr sz="3850" spc="-210" dirty="0">
                <a:latin typeface="Cambria"/>
                <a:cs typeface="Cambria"/>
              </a:rPr>
              <a:t> </a:t>
            </a:r>
            <a:r>
              <a:rPr sz="3850" dirty="0">
                <a:latin typeface="Cambria"/>
                <a:cs typeface="Cambria"/>
              </a:rPr>
              <a:t>the</a:t>
            </a:r>
            <a:r>
              <a:rPr sz="3850" spc="-165" dirty="0">
                <a:latin typeface="Cambria"/>
                <a:cs typeface="Cambria"/>
              </a:rPr>
              <a:t> </a:t>
            </a:r>
            <a:r>
              <a:rPr sz="3850" spc="-30" dirty="0">
                <a:latin typeface="Cambria"/>
                <a:cs typeface="Cambria"/>
              </a:rPr>
              <a:t>static</a:t>
            </a:r>
            <a:r>
              <a:rPr sz="3850" spc="-85" dirty="0">
                <a:latin typeface="Cambria"/>
                <a:cs typeface="Cambria"/>
              </a:rPr>
              <a:t> </a:t>
            </a:r>
            <a:r>
              <a:rPr sz="3850" spc="-10" dirty="0">
                <a:latin typeface="Cambria"/>
                <a:cs typeface="Cambria"/>
              </a:rPr>
              <a:t>version.</a:t>
            </a:r>
            <a:endParaRPr sz="38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4711" y="4055180"/>
            <a:ext cx="14825980" cy="561530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924560" marR="1031875" indent="-912494">
              <a:lnSpc>
                <a:spcPts val="4500"/>
              </a:lnSpc>
              <a:spcBef>
                <a:spcPts val="320"/>
              </a:spcBef>
            </a:pPr>
            <a:r>
              <a:rPr sz="3800" spc="-345" dirty="0">
                <a:solidFill>
                  <a:srgbClr val="606B28"/>
                </a:solidFill>
                <a:latin typeface="Cambria"/>
                <a:cs typeface="Cambria"/>
              </a:rPr>
              <a:t>•„„Z</a:t>
            </a:r>
            <a:r>
              <a:rPr sz="3800" spc="815" dirty="0">
                <a:solidFill>
                  <a:srgbClr val="606B28"/>
                </a:solidFill>
                <a:latin typeface="Cambria"/>
                <a:cs typeface="Cambria"/>
              </a:rPr>
              <a:t> </a:t>
            </a:r>
            <a:r>
              <a:rPr sz="3800" spc="-20" dirty="0">
                <a:latin typeface="Cambria"/>
                <a:cs typeface="Cambria"/>
              </a:rPr>
              <a:t>Improved</a:t>
            </a:r>
            <a:r>
              <a:rPr sz="3800" spc="-75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Quality:</a:t>
            </a:r>
            <a:r>
              <a:rPr sz="3800" spc="-125" dirty="0">
                <a:latin typeface="Cambria"/>
                <a:cs typeface="Cambria"/>
              </a:rPr>
              <a:t> </a:t>
            </a:r>
            <a:r>
              <a:rPr sz="3800" spc="-80" dirty="0">
                <a:latin typeface="Cambria"/>
                <a:cs typeface="Cambria"/>
              </a:rPr>
              <a:t>ENectively</a:t>
            </a:r>
            <a:r>
              <a:rPr sz="3800" spc="20" dirty="0">
                <a:latin typeface="Cambria"/>
                <a:cs typeface="Cambria"/>
              </a:rPr>
              <a:t> </a:t>
            </a:r>
            <a:r>
              <a:rPr sz="3800" spc="-80" dirty="0">
                <a:latin typeface="Cambria"/>
                <a:cs typeface="Cambria"/>
              </a:rPr>
              <a:t>improves</a:t>
            </a:r>
            <a:r>
              <a:rPr sz="3800" spc="50" dirty="0">
                <a:latin typeface="Cambria"/>
                <a:cs typeface="Cambria"/>
              </a:rPr>
              <a:t> </a:t>
            </a:r>
            <a:r>
              <a:rPr sz="3800" spc="-20" dirty="0">
                <a:latin typeface="Cambria"/>
                <a:cs typeface="Cambria"/>
              </a:rPr>
              <a:t>the</a:t>
            </a:r>
            <a:r>
              <a:rPr sz="3800" spc="-175" dirty="0">
                <a:latin typeface="Cambria"/>
                <a:cs typeface="Cambria"/>
              </a:rPr>
              <a:t> </a:t>
            </a:r>
            <a:r>
              <a:rPr sz="3800" spc="-55" dirty="0">
                <a:latin typeface="Cambria"/>
                <a:cs typeface="Cambria"/>
              </a:rPr>
              <a:t>quality </a:t>
            </a:r>
            <a:r>
              <a:rPr sz="3800" dirty="0">
                <a:latin typeface="Cambria"/>
                <a:cs typeface="Cambria"/>
              </a:rPr>
              <a:t>of</a:t>
            </a:r>
            <a:r>
              <a:rPr sz="3800" spc="-180" dirty="0">
                <a:latin typeface="Cambria"/>
                <a:cs typeface="Cambria"/>
              </a:rPr>
              <a:t> </a:t>
            </a:r>
            <a:r>
              <a:rPr sz="3800" spc="-60" dirty="0">
                <a:latin typeface="Cambria"/>
                <a:cs typeface="Cambria"/>
              </a:rPr>
              <a:t>knowledge </a:t>
            </a:r>
            <a:r>
              <a:rPr sz="3800" spc="-10" dirty="0">
                <a:latin typeface="Cambria"/>
                <a:cs typeface="Cambria"/>
              </a:rPr>
              <a:t>distillation.</a:t>
            </a:r>
            <a:endParaRPr sz="3800" dirty="0">
              <a:latin typeface="Cambria"/>
              <a:cs typeface="Cambria"/>
            </a:endParaRPr>
          </a:p>
          <a:p>
            <a:pPr marL="921385" marR="768985" indent="-885190">
              <a:lnSpc>
                <a:spcPct val="100899"/>
              </a:lnSpc>
              <a:spcBef>
                <a:spcPts val="1555"/>
              </a:spcBef>
            </a:pPr>
            <a:r>
              <a:rPr sz="3800" spc="120" dirty="0">
                <a:solidFill>
                  <a:srgbClr val="5B6428"/>
                </a:solidFill>
                <a:latin typeface="Cambria"/>
                <a:cs typeface="Cambria"/>
              </a:rPr>
              <a:t>„„Z</a:t>
            </a:r>
            <a:r>
              <a:rPr sz="3800" spc="535" dirty="0">
                <a:solidFill>
                  <a:srgbClr val="5B6428"/>
                </a:solidFill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Zero</a:t>
            </a:r>
            <a:r>
              <a:rPr sz="3800" spc="-200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Tuning</a:t>
            </a:r>
            <a:r>
              <a:rPr sz="3800" spc="-20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Cost:</a:t>
            </a:r>
            <a:r>
              <a:rPr sz="3800" spc="-135" dirty="0">
                <a:latin typeface="Cambria"/>
                <a:cs typeface="Cambria"/>
              </a:rPr>
              <a:t> </a:t>
            </a:r>
            <a:r>
              <a:rPr sz="3800" spc="-55" dirty="0">
                <a:latin typeface="Cambria"/>
                <a:cs typeface="Cambria"/>
              </a:rPr>
              <a:t>Achieves</a:t>
            </a:r>
            <a:r>
              <a:rPr sz="3800" spc="45" dirty="0">
                <a:latin typeface="Cambria"/>
                <a:cs typeface="Cambria"/>
              </a:rPr>
              <a:t> </a:t>
            </a:r>
            <a:r>
              <a:rPr sz="3800" spc="-80" dirty="0">
                <a:latin typeface="Cambria"/>
                <a:cs typeface="Cambria"/>
              </a:rPr>
              <a:t>better</a:t>
            </a:r>
            <a:r>
              <a:rPr sz="3800" spc="-100" dirty="0">
                <a:latin typeface="Cambria"/>
                <a:cs typeface="Cambria"/>
              </a:rPr>
              <a:t> </a:t>
            </a:r>
            <a:r>
              <a:rPr sz="3800" spc="-90" dirty="0">
                <a:latin typeface="Cambria"/>
                <a:cs typeface="Cambria"/>
              </a:rPr>
              <a:t>results</a:t>
            </a:r>
            <a:r>
              <a:rPr sz="3800" spc="-45" dirty="0">
                <a:latin typeface="Cambria"/>
                <a:cs typeface="Cambria"/>
              </a:rPr>
              <a:t> </a:t>
            </a:r>
            <a:r>
              <a:rPr sz="3800" spc="-80" dirty="0">
                <a:latin typeface="Cambria"/>
                <a:cs typeface="Cambria"/>
              </a:rPr>
              <a:t>without</a:t>
            </a:r>
            <a:r>
              <a:rPr sz="3800" spc="155" dirty="0">
                <a:latin typeface="Cambria"/>
                <a:cs typeface="Cambria"/>
              </a:rPr>
              <a:t> </a:t>
            </a:r>
            <a:r>
              <a:rPr sz="3800" spc="-60" dirty="0">
                <a:latin typeface="Cambria"/>
                <a:cs typeface="Cambria"/>
              </a:rPr>
              <a:t>adding</a:t>
            </a:r>
            <a:r>
              <a:rPr sz="3800" spc="90" dirty="0">
                <a:latin typeface="Cambria"/>
                <a:cs typeface="Cambria"/>
              </a:rPr>
              <a:t> </a:t>
            </a:r>
            <a:r>
              <a:rPr sz="3800" spc="-80" dirty="0">
                <a:latin typeface="Cambria"/>
                <a:cs typeface="Cambria"/>
              </a:rPr>
              <a:t>any</a:t>
            </a:r>
            <a:r>
              <a:rPr sz="3800" spc="-130" dirty="0">
                <a:latin typeface="Cambria"/>
                <a:cs typeface="Cambria"/>
              </a:rPr>
              <a:t> </a:t>
            </a:r>
            <a:r>
              <a:rPr sz="3800" spc="-25" dirty="0">
                <a:latin typeface="Cambria"/>
                <a:cs typeface="Cambria"/>
              </a:rPr>
              <a:t>new </a:t>
            </a:r>
            <a:r>
              <a:rPr sz="3800" spc="-85" dirty="0">
                <a:latin typeface="Cambria"/>
                <a:cs typeface="Cambria"/>
              </a:rPr>
              <a:t>hyperparameters</a:t>
            </a:r>
            <a:r>
              <a:rPr sz="3800" spc="-165" dirty="0">
                <a:latin typeface="Cambria"/>
                <a:cs typeface="Cambria"/>
              </a:rPr>
              <a:t> </a:t>
            </a:r>
            <a:r>
              <a:rPr sz="3800" spc="-55" dirty="0">
                <a:latin typeface="Cambria"/>
                <a:cs typeface="Cambria"/>
              </a:rPr>
              <a:t>to</a:t>
            </a:r>
            <a:r>
              <a:rPr sz="3800" spc="-80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tune.</a:t>
            </a:r>
            <a:endParaRPr sz="3800" dirty="0">
              <a:latin typeface="Cambria"/>
              <a:cs typeface="Cambria"/>
            </a:endParaRPr>
          </a:p>
          <a:p>
            <a:pPr marL="930275" marR="5080" indent="-894080">
              <a:lnSpc>
                <a:spcPct val="100000"/>
              </a:lnSpc>
              <a:spcBef>
                <a:spcPts val="1689"/>
              </a:spcBef>
            </a:pPr>
            <a:r>
              <a:rPr sz="3800" dirty="0">
                <a:solidFill>
                  <a:srgbClr val="596228"/>
                </a:solidFill>
                <a:latin typeface="Cambria"/>
                <a:cs typeface="Cambria"/>
              </a:rPr>
              <a:t>„„€</a:t>
            </a:r>
            <a:r>
              <a:rPr sz="3800" spc="575" dirty="0">
                <a:solidFill>
                  <a:srgbClr val="596228"/>
                </a:solidFill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Enhanced</a:t>
            </a:r>
            <a:r>
              <a:rPr sz="3800" spc="-100" dirty="0">
                <a:latin typeface="Cambria"/>
                <a:cs typeface="Cambria"/>
              </a:rPr>
              <a:t> </a:t>
            </a:r>
            <a:r>
              <a:rPr sz="3800" spc="-25" dirty="0">
                <a:latin typeface="Cambria"/>
                <a:cs typeface="Cambria"/>
              </a:rPr>
              <a:t>Tail</a:t>
            </a:r>
            <a:r>
              <a:rPr sz="3800" spc="-200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PeNormance:</a:t>
            </a:r>
            <a:r>
              <a:rPr sz="3800" spc="120" dirty="0">
                <a:latin typeface="Cambria"/>
                <a:cs typeface="Cambria"/>
              </a:rPr>
              <a:t> </a:t>
            </a:r>
            <a:r>
              <a:rPr sz="3800" spc="-80" dirty="0">
                <a:latin typeface="Cambria"/>
                <a:cs typeface="Cambria"/>
              </a:rPr>
              <a:t>Shows</a:t>
            </a:r>
            <a:r>
              <a:rPr sz="3800" spc="35" dirty="0">
                <a:latin typeface="Cambria"/>
                <a:cs typeface="Cambria"/>
              </a:rPr>
              <a:t> </a:t>
            </a:r>
            <a:r>
              <a:rPr sz="3800" spc="-65" dirty="0">
                <a:latin typeface="Cambria"/>
                <a:cs typeface="Cambria"/>
              </a:rPr>
              <a:t>notable</a:t>
            </a:r>
            <a:r>
              <a:rPr sz="3800" spc="-15" dirty="0">
                <a:latin typeface="Cambria"/>
                <a:cs typeface="Cambria"/>
              </a:rPr>
              <a:t> </a:t>
            </a:r>
            <a:r>
              <a:rPr sz="3800" spc="-90" dirty="0">
                <a:latin typeface="Cambria"/>
                <a:cs typeface="Cambria"/>
              </a:rPr>
              <a:t>improvement</a:t>
            </a:r>
            <a:r>
              <a:rPr sz="3800" spc="305" dirty="0">
                <a:latin typeface="Cambria"/>
                <a:cs typeface="Cambria"/>
              </a:rPr>
              <a:t> </a:t>
            </a:r>
            <a:r>
              <a:rPr sz="3800" dirty="0">
                <a:latin typeface="Cambria"/>
                <a:cs typeface="Cambria"/>
              </a:rPr>
              <a:t>on</a:t>
            </a:r>
            <a:r>
              <a:rPr sz="3800" spc="-175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difficult </a:t>
            </a:r>
            <a:r>
              <a:rPr sz="3800" spc="-40" dirty="0">
                <a:latin typeface="Cambria"/>
                <a:cs typeface="Cambria"/>
              </a:rPr>
              <a:t>and</a:t>
            </a:r>
            <a:r>
              <a:rPr sz="3800" spc="-160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tail</a:t>
            </a:r>
            <a:r>
              <a:rPr sz="3800" spc="-175" dirty="0">
                <a:latin typeface="Cambria"/>
                <a:cs typeface="Cambria"/>
              </a:rPr>
              <a:t> </a:t>
            </a:r>
            <a:r>
              <a:rPr sz="3800" spc="-10" dirty="0">
                <a:latin typeface="Cambria"/>
                <a:cs typeface="Cambria"/>
              </a:rPr>
              <a:t>samples.</a:t>
            </a:r>
            <a:endParaRPr sz="3800" dirty="0">
              <a:latin typeface="Cambria"/>
              <a:cs typeface="Cambria"/>
            </a:endParaRPr>
          </a:p>
          <a:p>
            <a:pPr marL="915669" marR="361315" indent="-894080">
              <a:lnSpc>
                <a:spcPct val="100000"/>
              </a:lnSpc>
              <a:spcBef>
                <a:spcPts val="1780"/>
              </a:spcBef>
            </a:pPr>
            <a:r>
              <a:rPr sz="3750" dirty="0">
                <a:solidFill>
                  <a:srgbClr val="5E692A"/>
                </a:solidFill>
                <a:latin typeface="Cambria"/>
                <a:cs typeface="Cambria"/>
              </a:rPr>
              <a:t>$,g’</a:t>
            </a:r>
            <a:r>
              <a:rPr sz="3750" spc="660" dirty="0">
                <a:solidFill>
                  <a:srgbClr val="5E692A"/>
                </a:solidFill>
                <a:latin typeface="Cambria"/>
                <a:cs typeface="Cambria"/>
              </a:rPr>
              <a:t> </a:t>
            </a:r>
            <a:r>
              <a:rPr sz="3750" dirty="0">
                <a:latin typeface="Cambria"/>
                <a:cs typeface="Cambria"/>
              </a:rPr>
              <a:t>Stable</a:t>
            </a:r>
            <a:r>
              <a:rPr sz="3750" spc="-100" dirty="0">
                <a:latin typeface="Cambria"/>
                <a:cs typeface="Cambria"/>
              </a:rPr>
              <a:t> </a:t>
            </a:r>
            <a:r>
              <a:rPr sz="3750" dirty="0">
                <a:latin typeface="Cambria"/>
                <a:cs typeface="Cambria"/>
              </a:rPr>
              <a:t>Training:</a:t>
            </a:r>
            <a:r>
              <a:rPr sz="3750" spc="-75" dirty="0">
                <a:latin typeface="Cambria"/>
                <a:cs typeface="Cambria"/>
              </a:rPr>
              <a:t> </a:t>
            </a:r>
            <a:r>
              <a:rPr sz="3750" spc="-10" dirty="0">
                <a:latin typeface="Cambria"/>
                <a:cs typeface="Cambria"/>
              </a:rPr>
              <a:t>Eliminates</a:t>
            </a:r>
            <a:r>
              <a:rPr sz="3750" spc="70" dirty="0">
                <a:latin typeface="Cambria"/>
                <a:cs typeface="Cambria"/>
              </a:rPr>
              <a:t> </a:t>
            </a:r>
            <a:r>
              <a:rPr sz="3750" dirty="0">
                <a:latin typeface="Cambria"/>
                <a:cs typeface="Cambria"/>
              </a:rPr>
              <a:t>a</a:t>
            </a:r>
            <a:r>
              <a:rPr sz="3750" spc="-160" dirty="0">
                <a:latin typeface="Cambria"/>
                <a:cs typeface="Cambria"/>
              </a:rPr>
              <a:t> </a:t>
            </a:r>
            <a:r>
              <a:rPr sz="3750" dirty="0">
                <a:latin typeface="Cambria"/>
                <a:cs typeface="Cambria"/>
              </a:rPr>
              <a:t>source</a:t>
            </a:r>
            <a:r>
              <a:rPr sz="3750" spc="60" dirty="0">
                <a:latin typeface="Cambria"/>
                <a:cs typeface="Cambria"/>
              </a:rPr>
              <a:t> </a:t>
            </a:r>
            <a:r>
              <a:rPr sz="3750" dirty="0">
                <a:latin typeface="Cambria"/>
                <a:cs typeface="Cambria"/>
              </a:rPr>
              <a:t>of</a:t>
            </a:r>
            <a:r>
              <a:rPr sz="3750" spc="-200" dirty="0">
                <a:latin typeface="Cambria"/>
                <a:cs typeface="Cambria"/>
              </a:rPr>
              <a:t> </a:t>
            </a:r>
            <a:r>
              <a:rPr sz="3750" spc="-35" dirty="0">
                <a:latin typeface="Cambria"/>
                <a:cs typeface="Cambria"/>
              </a:rPr>
              <a:t>instability</a:t>
            </a:r>
            <a:r>
              <a:rPr sz="3750" spc="210" dirty="0">
                <a:latin typeface="Cambria"/>
                <a:cs typeface="Cambria"/>
              </a:rPr>
              <a:t> </a:t>
            </a:r>
            <a:r>
              <a:rPr sz="3750" dirty="0">
                <a:latin typeface="Cambria"/>
                <a:cs typeface="Cambria"/>
              </a:rPr>
              <a:t>by</a:t>
            </a:r>
            <a:r>
              <a:rPr sz="3750" spc="-114" dirty="0">
                <a:latin typeface="Cambria"/>
                <a:cs typeface="Cambria"/>
              </a:rPr>
              <a:t> </a:t>
            </a:r>
            <a:r>
              <a:rPr sz="3750" spc="-25" dirty="0">
                <a:latin typeface="Cambria"/>
                <a:cs typeface="Cambria"/>
              </a:rPr>
              <a:t>removing</a:t>
            </a:r>
            <a:r>
              <a:rPr sz="3750" spc="80" dirty="0">
                <a:latin typeface="Cambria"/>
                <a:cs typeface="Cambria"/>
              </a:rPr>
              <a:t> </a:t>
            </a:r>
            <a:r>
              <a:rPr sz="3750" spc="-20" dirty="0">
                <a:latin typeface="Cambria"/>
                <a:cs typeface="Cambria"/>
              </a:rPr>
              <a:t>hard </a:t>
            </a:r>
            <a:r>
              <a:rPr sz="3750" spc="-10" dirty="0">
                <a:latin typeface="Cambria"/>
                <a:cs typeface="Cambria"/>
              </a:rPr>
              <a:t>thresholds.</a:t>
            </a:r>
            <a:endParaRPr sz="3750" dirty="0">
              <a:latin typeface="Cambria"/>
              <a:cs typeface="Cambria"/>
            </a:endParaRPr>
          </a:p>
          <a:p>
            <a:pPr marR="116839" algn="r">
              <a:lnSpc>
                <a:spcPct val="100000"/>
              </a:lnSpc>
              <a:spcBef>
                <a:spcPts val="700"/>
              </a:spcBef>
            </a:pPr>
            <a:r>
              <a:rPr sz="1450" spc="-50" dirty="0">
                <a:latin typeface="Cambria"/>
                <a:cs typeface="Cambria"/>
              </a:rPr>
              <a:t>G</a:t>
            </a:r>
            <a:endParaRPr sz="1450" dirty="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47020" y="9422341"/>
            <a:ext cx="979169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spc="-95" dirty="0">
                <a:latin typeface="Cambria"/>
                <a:cs typeface="Cambria"/>
              </a:rPr>
              <a:t>NotebookLtVi</a:t>
            </a:r>
            <a:endParaRPr sz="1450">
              <a:latin typeface="Cambria"/>
              <a:cs typeface="Cambria"/>
            </a:endParaRPr>
          </a:p>
        </p:txBody>
      </p:sp>
      <p:pic>
        <p:nvPicPr>
          <p:cNvPr id="7" name="圖片 6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8B430539-F2E6-FE2F-7E5A-02C8E169D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005"/>
            <a:ext cx="17548858" cy="94875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45000" y="6858000"/>
            <a:ext cx="9118600" cy="18669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6379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335" dirty="0"/>
              <a:t> </a:t>
            </a:r>
            <a:r>
              <a:rPr spc="-40" dirty="0">
                <a:solidFill>
                  <a:srgbClr val="1F1F1F"/>
                </a:solidFill>
              </a:rPr>
              <a:t>Core</a:t>
            </a:r>
            <a:r>
              <a:rPr spc="-475" dirty="0">
                <a:solidFill>
                  <a:srgbClr val="1F1F1F"/>
                </a:solidFill>
              </a:rPr>
              <a:t> </a:t>
            </a:r>
            <a:r>
              <a:rPr spc="105" dirty="0"/>
              <a:t>Insight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9185" y="2127250"/>
            <a:ext cx="15572740" cy="637794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6510" marR="930275" indent="5715">
              <a:lnSpc>
                <a:spcPct val="90600"/>
              </a:lnSpc>
              <a:spcBef>
                <a:spcPts val="520"/>
              </a:spcBef>
            </a:pPr>
            <a:r>
              <a:rPr sz="3750" spc="-350" dirty="0">
                <a:latin typeface="Times New Roman"/>
                <a:cs typeface="Times New Roman"/>
              </a:rPr>
              <a:t>By</a:t>
            </a:r>
            <a:r>
              <a:rPr sz="3750" spc="-65" dirty="0">
                <a:latin typeface="Times New Roman"/>
                <a:cs typeface="Times New Roman"/>
              </a:rPr>
              <a:t> </a:t>
            </a:r>
            <a:r>
              <a:rPr sz="3750" spc="-25" dirty="0">
                <a:latin typeface="Times New Roman"/>
                <a:cs typeface="Times New Roman"/>
              </a:rPr>
              <a:t>leveraging</a:t>
            </a:r>
            <a:r>
              <a:rPr sz="3750" spc="-20" dirty="0">
                <a:latin typeface="Times New Roman"/>
                <a:cs typeface="Times New Roman"/>
              </a:rPr>
              <a:t> </a:t>
            </a:r>
            <a:r>
              <a:rPr sz="3750" spc="75" dirty="0">
                <a:solidFill>
                  <a:srgbClr val="051A36"/>
                </a:solidFill>
                <a:latin typeface="Times New Roman"/>
                <a:cs typeface="Times New Roman"/>
              </a:rPr>
              <a:t>teacher</a:t>
            </a:r>
            <a:r>
              <a:rPr sz="3750" spc="-45" dirty="0">
                <a:solidFill>
                  <a:srgbClr val="051A36"/>
                </a:solidFill>
                <a:latin typeface="Times New Roman"/>
                <a:cs typeface="Times New Roman"/>
              </a:rPr>
              <a:t> </a:t>
            </a:r>
            <a:r>
              <a:rPr sz="3750" dirty="0">
                <a:solidFill>
                  <a:srgbClr val="081D3B"/>
                </a:solidFill>
                <a:latin typeface="Times New Roman"/>
                <a:cs typeface="Times New Roman"/>
              </a:rPr>
              <a:t>confidence</a:t>
            </a:r>
            <a:r>
              <a:rPr sz="3750" spc="175" dirty="0">
                <a:solidFill>
                  <a:srgbClr val="081D3B"/>
                </a:solidFill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as</a:t>
            </a:r>
            <a:r>
              <a:rPr sz="3750" spc="-195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a</a:t>
            </a:r>
            <a:r>
              <a:rPr sz="3750" spc="-190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dynamic</a:t>
            </a:r>
            <a:r>
              <a:rPr sz="3750" spc="-40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guide,</a:t>
            </a:r>
            <a:r>
              <a:rPr sz="3750" spc="5" dirty="0">
                <a:latin typeface="Times New Roman"/>
                <a:cs typeface="Times New Roman"/>
              </a:rPr>
              <a:t> </a:t>
            </a:r>
            <a:r>
              <a:rPr sz="3750" spc="-35" dirty="0">
                <a:latin typeface="Times New Roman"/>
                <a:cs typeface="Times New Roman"/>
              </a:rPr>
              <a:t>we</a:t>
            </a:r>
            <a:r>
              <a:rPr sz="3750" spc="-130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created</a:t>
            </a:r>
            <a:r>
              <a:rPr sz="3750" spc="70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an</a:t>
            </a:r>
            <a:r>
              <a:rPr sz="3750" spc="-65" dirty="0">
                <a:latin typeface="Times New Roman"/>
                <a:cs typeface="Times New Roman"/>
              </a:rPr>
              <a:t> </a:t>
            </a:r>
            <a:r>
              <a:rPr sz="3750" spc="-20" dirty="0">
                <a:latin typeface="Times New Roman"/>
                <a:cs typeface="Times New Roman"/>
              </a:rPr>
              <a:t>adaptive </a:t>
            </a:r>
            <a:r>
              <a:rPr sz="3750" dirty="0">
                <a:latin typeface="Times New Roman"/>
                <a:cs typeface="Times New Roman"/>
              </a:rPr>
              <a:t>margin</a:t>
            </a:r>
            <a:r>
              <a:rPr sz="3750" spc="10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that</a:t>
            </a:r>
            <a:r>
              <a:rPr sz="3750" spc="-150" dirty="0">
                <a:latin typeface="Times New Roman"/>
                <a:cs typeface="Times New Roman"/>
              </a:rPr>
              <a:t> </a:t>
            </a:r>
            <a:r>
              <a:rPr sz="3750" spc="-20" dirty="0">
                <a:latin typeface="Times New Roman"/>
                <a:cs typeface="Times New Roman"/>
              </a:rPr>
              <a:t>intelligently</a:t>
            </a:r>
            <a:r>
              <a:rPr sz="3750" spc="35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corrects</a:t>
            </a:r>
            <a:r>
              <a:rPr sz="3750" spc="-95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student</a:t>
            </a:r>
            <a:r>
              <a:rPr sz="3750" spc="55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model</a:t>
            </a:r>
            <a:r>
              <a:rPr sz="3750" spc="-40" dirty="0">
                <a:latin typeface="Times New Roman"/>
                <a:cs typeface="Times New Roman"/>
              </a:rPr>
              <a:t> </a:t>
            </a:r>
            <a:r>
              <a:rPr sz="3750" spc="-10" dirty="0">
                <a:latin typeface="Times New Roman"/>
                <a:cs typeface="Times New Roman"/>
              </a:rPr>
              <a:t>deviation</a:t>
            </a:r>
            <a:r>
              <a:rPr sz="3750" spc="85" dirty="0">
                <a:latin typeface="Times New Roman"/>
                <a:cs typeface="Times New Roman"/>
              </a:rPr>
              <a:t> </a:t>
            </a:r>
            <a:r>
              <a:rPr sz="3750" dirty="0">
                <a:latin typeface="Times New Roman"/>
                <a:cs typeface="Times New Roman"/>
              </a:rPr>
              <a:t>without</a:t>
            </a:r>
            <a:r>
              <a:rPr sz="3750" spc="10" dirty="0">
                <a:latin typeface="Times New Roman"/>
                <a:cs typeface="Times New Roman"/>
              </a:rPr>
              <a:t> </a:t>
            </a:r>
            <a:r>
              <a:rPr sz="3750" spc="-10" dirty="0">
                <a:latin typeface="Times New Roman"/>
                <a:cs typeface="Times New Roman"/>
              </a:rPr>
              <a:t>manual intervention.</a:t>
            </a:r>
            <a:endParaRPr sz="3750">
              <a:latin typeface="Times New Roman"/>
              <a:cs typeface="Times New Roman"/>
            </a:endParaRPr>
          </a:p>
          <a:p>
            <a:pPr marL="12700" marR="582930" indent="3175">
              <a:lnSpc>
                <a:spcPts val="4100"/>
              </a:lnSpc>
              <a:spcBef>
                <a:spcPts val="4070"/>
              </a:spcBef>
            </a:pPr>
            <a:r>
              <a:rPr sz="3550" dirty="0">
                <a:latin typeface="Cambria"/>
                <a:cs typeface="Cambria"/>
              </a:rPr>
              <a:t>This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40" dirty="0">
                <a:latin typeface="Cambria"/>
                <a:cs typeface="Cambria"/>
              </a:rPr>
              <a:t>approach</a:t>
            </a:r>
            <a:r>
              <a:rPr sz="3550" spc="-20" dirty="0">
                <a:latin typeface="Cambria"/>
                <a:cs typeface="Cambria"/>
              </a:rPr>
              <a:t> </a:t>
            </a:r>
            <a:r>
              <a:rPr sz="3550" spc="-30" dirty="0">
                <a:latin typeface="Cambria"/>
                <a:cs typeface="Cambria"/>
              </a:rPr>
              <a:t>elegantly</a:t>
            </a:r>
            <a:r>
              <a:rPr sz="3550" spc="75" dirty="0">
                <a:latin typeface="Cambria"/>
                <a:cs typeface="Cambria"/>
              </a:rPr>
              <a:t> </a:t>
            </a:r>
            <a:r>
              <a:rPr sz="3550" spc="-40" dirty="0">
                <a:latin typeface="Cambria"/>
                <a:cs typeface="Cambria"/>
              </a:rPr>
              <a:t>bridges</a:t>
            </a:r>
            <a:r>
              <a:rPr sz="3550" spc="10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the</a:t>
            </a:r>
            <a:r>
              <a:rPr sz="3550" spc="-15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gap</a:t>
            </a:r>
            <a:r>
              <a:rPr sz="3550" spc="-200" dirty="0">
                <a:latin typeface="Cambria"/>
                <a:cs typeface="Cambria"/>
              </a:rPr>
              <a:t> </a:t>
            </a:r>
            <a:r>
              <a:rPr sz="3550" spc="-60" dirty="0">
                <a:latin typeface="Cambria"/>
                <a:cs typeface="Cambria"/>
              </a:rPr>
              <a:t>between</a:t>
            </a:r>
            <a:r>
              <a:rPr sz="3550" spc="-7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managing</a:t>
            </a:r>
            <a:r>
              <a:rPr sz="3550" spc="-7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data</a:t>
            </a:r>
            <a:r>
              <a:rPr sz="3550" spc="-195" dirty="0">
                <a:latin typeface="Cambria"/>
                <a:cs typeface="Cambria"/>
              </a:rPr>
              <a:t> </a:t>
            </a:r>
            <a:r>
              <a:rPr sz="3550" dirty="0">
                <a:latin typeface="Cambria"/>
                <a:cs typeface="Cambria"/>
              </a:rPr>
              <a:t>quality</a:t>
            </a:r>
            <a:r>
              <a:rPr sz="3550" spc="-60" dirty="0">
                <a:latin typeface="Cambria"/>
                <a:cs typeface="Cambria"/>
              </a:rPr>
              <a:t> </a:t>
            </a:r>
            <a:r>
              <a:rPr sz="3550" spc="-20" dirty="0">
                <a:latin typeface="Cambria"/>
                <a:cs typeface="Cambria"/>
              </a:rPr>
              <a:t>(via </a:t>
            </a:r>
            <a:r>
              <a:rPr sz="3600" spc="-75" dirty="0">
                <a:latin typeface="Cambria"/>
                <a:cs typeface="Cambria"/>
              </a:rPr>
              <a:t>AdaFace)</a:t>
            </a:r>
            <a:r>
              <a:rPr sz="3600" spc="-125" dirty="0">
                <a:latin typeface="Cambria"/>
                <a:cs typeface="Cambria"/>
              </a:rPr>
              <a:t> </a:t>
            </a:r>
            <a:r>
              <a:rPr sz="3600" spc="-20" dirty="0">
                <a:latin typeface="Cambria"/>
                <a:cs typeface="Cambria"/>
              </a:rPr>
              <a:t>and</a:t>
            </a:r>
            <a:r>
              <a:rPr sz="3600" spc="-175" dirty="0">
                <a:latin typeface="Cambria"/>
                <a:cs typeface="Cambria"/>
              </a:rPr>
              <a:t> </a:t>
            </a:r>
            <a:r>
              <a:rPr sz="3600" spc="-20" dirty="0">
                <a:latin typeface="Cambria"/>
                <a:cs typeface="Cambria"/>
              </a:rPr>
              <a:t>ensuring</a:t>
            </a:r>
            <a:r>
              <a:rPr sz="3600" spc="-110" dirty="0">
                <a:latin typeface="Cambria"/>
                <a:cs typeface="Cambria"/>
              </a:rPr>
              <a:t> </a:t>
            </a:r>
            <a:r>
              <a:rPr sz="3600" spc="-25" dirty="0">
                <a:latin typeface="Cambria"/>
                <a:cs typeface="Cambria"/>
              </a:rPr>
              <a:t>knowledge</a:t>
            </a:r>
            <a:r>
              <a:rPr sz="3600" spc="35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alignment,</a:t>
            </a:r>
            <a:r>
              <a:rPr sz="3600" spc="75" dirty="0">
                <a:latin typeface="Cambria"/>
                <a:cs typeface="Cambria"/>
              </a:rPr>
              <a:t> </a:t>
            </a:r>
            <a:r>
              <a:rPr sz="3600" spc="-20" dirty="0">
                <a:latin typeface="Cambria"/>
                <a:cs typeface="Cambria"/>
              </a:rPr>
              <a:t>leading</a:t>
            </a:r>
            <a:r>
              <a:rPr sz="3600" spc="40" dirty="0">
                <a:latin typeface="Cambria"/>
                <a:cs typeface="Cambria"/>
              </a:rPr>
              <a:t> </a:t>
            </a:r>
            <a:r>
              <a:rPr sz="3600" spc="-20" dirty="0">
                <a:latin typeface="Cambria"/>
                <a:cs typeface="Cambria"/>
              </a:rPr>
              <a:t>to</a:t>
            </a:r>
            <a:r>
              <a:rPr sz="3600" spc="-150" dirty="0">
                <a:latin typeface="Cambria"/>
                <a:cs typeface="Cambria"/>
              </a:rPr>
              <a:t> </a:t>
            </a:r>
            <a:r>
              <a:rPr sz="3600" dirty="0">
                <a:latin typeface="Cambria"/>
                <a:cs typeface="Cambria"/>
              </a:rPr>
              <a:t>a</a:t>
            </a:r>
            <a:r>
              <a:rPr sz="3600" spc="-200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more</a:t>
            </a:r>
            <a:r>
              <a:rPr sz="3600" spc="-60" dirty="0">
                <a:latin typeface="Cambria"/>
                <a:cs typeface="Cambria"/>
              </a:rPr>
              <a:t> </a:t>
            </a:r>
            <a:r>
              <a:rPr sz="3600" spc="-40" dirty="0">
                <a:latin typeface="Cambria"/>
                <a:cs typeface="Cambria"/>
              </a:rPr>
              <a:t>robust,</a:t>
            </a:r>
            <a:r>
              <a:rPr sz="3600" spc="-5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stable, </a:t>
            </a:r>
            <a:r>
              <a:rPr sz="3600" spc="-20" dirty="0">
                <a:latin typeface="Cambria"/>
                <a:cs typeface="Cambria"/>
              </a:rPr>
              <a:t>and</a:t>
            </a:r>
            <a:r>
              <a:rPr sz="3600" spc="-180" dirty="0">
                <a:latin typeface="Cambria"/>
                <a:cs typeface="Cambria"/>
              </a:rPr>
              <a:t> </a:t>
            </a:r>
            <a:r>
              <a:rPr sz="3600" spc="-100" dirty="0">
                <a:latin typeface="Cambria"/>
                <a:cs typeface="Cambria"/>
              </a:rPr>
              <a:t>effective</a:t>
            </a:r>
            <a:r>
              <a:rPr sz="3600" spc="-95" dirty="0">
                <a:latin typeface="Cambria"/>
                <a:cs typeface="Cambria"/>
              </a:rPr>
              <a:t> </a:t>
            </a:r>
            <a:r>
              <a:rPr sz="3600" spc="-85" dirty="0">
                <a:latin typeface="Cambria"/>
                <a:cs typeface="Cambria"/>
              </a:rPr>
              <a:t>knowledge</a:t>
            </a:r>
            <a:r>
              <a:rPr sz="3600" dirty="0">
                <a:latin typeface="Cambria"/>
                <a:cs typeface="Cambria"/>
              </a:rPr>
              <a:t> </a:t>
            </a:r>
            <a:r>
              <a:rPr sz="3600" spc="-55" dirty="0">
                <a:latin typeface="Cambria"/>
                <a:cs typeface="Cambria"/>
              </a:rPr>
              <a:t>distillation</a:t>
            </a:r>
            <a:r>
              <a:rPr sz="3600" spc="-70" dirty="0">
                <a:latin typeface="Cambria"/>
                <a:cs typeface="Cambria"/>
              </a:rPr>
              <a:t> </a:t>
            </a:r>
            <a:r>
              <a:rPr sz="3600" spc="-10" dirty="0">
                <a:latin typeface="Cambria"/>
                <a:cs typeface="Cambria"/>
              </a:rPr>
              <a:t>framework.</a:t>
            </a:r>
            <a:endParaRPr sz="3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910"/>
              </a:spcBef>
            </a:pPr>
            <a:endParaRPr sz="3600">
              <a:latin typeface="Cambria"/>
              <a:cs typeface="Cambria"/>
            </a:endParaRPr>
          </a:p>
          <a:p>
            <a:pPr marL="1075690">
              <a:lnSpc>
                <a:spcPts val="3310"/>
              </a:lnSpc>
            </a:pPr>
            <a:r>
              <a:rPr sz="2850" spc="-10" dirty="0">
                <a:latin typeface="Cambria"/>
                <a:cs typeface="Cambria"/>
              </a:rPr>
              <a:t>Data</a:t>
            </a:r>
            <a:r>
              <a:rPr sz="2850" spc="-130" dirty="0">
                <a:latin typeface="Cambria"/>
                <a:cs typeface="Cambria"/>
              </a:rPr>
              <a:t> </a:t>
            </a:r>
            <a:r>
              <a:rPr sz="2850" spc="-10" dirty="0">
                <a:latin typeface="Cambria"/>
                <a:cs typeface="Cambria"/>
              </a:rPr>
              <a:t>Quality</a:t>
            </a:r>
            <a:endParaRPr sz="2850">
              <a:latin typeface="Cambria"/>
              <a:cs typeface="Cambria"/>
            </a:endParaRPr>
          </a:p>
          <a:p>
            <a:pPr marL="12810490" marR="5080" indent="-635">
              <a:lnSpc>
                <a:spcPts val="3100"/>
              </a:lnSpc>
              <a:spcBef>
                <a:spcPts val="260"/>
              </a:spcBef>
            </a:pPr>
            <a:r>
              <a:rPr sz="2850" spc="-60" dirty="0">
                <a:latin typeface="Cambria"/>
                <a:cs typeface="Cambria"/>
              </a:rPr>
              <a:t>Robust</a:t>
            </a:r>
            <a:r>
              <a:rPr sz="2850" spc="-25" dirty="0"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&amp;</a:t>
            </a:r>
            <a:r>
              <a:rPr sz="2850" spc="-155" dirty="0">
                <a:latin typeface="Cambria"/>
                <a:cs typeface="Cambria"/>
              </a:rPr>
              <a:t> </a:t>
            </a:r>
            <a:r>
              <a:rPr sz="2850" spc="-35" dirty="0">
                <a:latin typeface="Cambria"/>
                <a:cs typeface="Cambria"/>
              </a:rPr>
              <a:t>Effective </a:t>
            </a:r>
            <a:r>
              <a:rPr sz="2850" spc="-10" dirty="0">
                <a:latin typeface="Cambria"/>
                <a:cs typeface="Cambria"/>
              </a:rPr>
              <a:t>Distillation</a:t>
            </a:r>
            <a:endParaRPr sz="2850">
              <a:latin typeface="Cambria"/>
              <a:cs typeface="Cambria"/>
            </a:endParaRPr>
          </a:p>
          <a:p>
            <a:pPr marL="24130">
              <a:lnSpc>
                <a:spcPts val="3100"/>
              </a:lnSpc>
            </a:pPr>
            <a:r>
              <a:rPr sz="2850" spc="-20" dirty="0">
                <a:latin typeface="Times New Roman"/>
                <a:cs typeface="Times New Roman"/>
              </a:rPr>
              <a:t>Knowledge</a:t>
            </a:r>
            <a:r>
              <a:rPr sz="2850" spc="10" dirty="0">
                <a:latin typeface="Times New Roman"/>
                <a:cs typeface="Times New Roman"/>
              </a:rPr>
              <a:t> </a:t>
            </a:r>
            <a:r>
              <a:rPr sz="2850" spc="-10" dirty="0">
                <a:latin typeface="Times New Roman"/>
                <a:cs typeface="Times New Roman"/>
              </a:rPr>
              <a:t>Alignment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98824" y="9413522"/>
            <a:ext cx="13970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50" dirty="0">
                <a:latin typeface="Cambria"/>
                <a:cs typeface="Cambria"/>
              </a:rPr>
              <a:t>G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346512" y="9413522"/>
            <a:ext cx="989330" cy="2584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spc="-75" dirty="0">
                <a:latin typeface="Cambria"/>
                <a:cs typeface="Cambria"/>
              </a:rPr>
              <a:t>NotebookLM</a:t>
            </a:r>
            <a:endParaRPr sz="1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8559800"/>
            <a:ext cx="17475200" cy="1193800"/>
          </a:xfrm>
          <a:prstGeom prst="rect">
            <a:avLst/>
          </a:prstGeom>
        </p:spPr>
      </p:pic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1375677" y="360891"/>
            <a:ext cx="1469961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200" spc="80">
                <a:solidFill>
                  <a:srgbClr val="072D52"/>
                </a:solidFill>
              </a:rPr>
              <a:t>The</a:t>
            </a:r>
            <a:r>
              <a:rPr sz="5200" spc="-100">
                <a:solidFill>
                  <a:srgbClr val="072D52"/>
                </a:solidFill>
              </a:rPr>
              <a:t> </a:t>
            </a:r>
            <a:r>
              <a:rPr sz="5200">
                <a:solidFill>
                  <a:srgbClr val="0A365D"/>
                </a:solidFill>
              </a:rPr>
              <a:t>Complete</a:t>
            </a:r>
            <a:r>
              <a:rPr sz="5200" spc="235">
                <a:solidFill>
                  <a:srgbClr val="0A365D"/>
                </a:solidFill>
              </a:rPr>
              <a:t> </a:t>
            </a:r>
            <a:r>
              <a:rPr sz="5200" spc="-10">
                <a:solidFill>
                  <a:srgbClr val="083154"/>
                </a:solidFill>
              </a:rPr>
              <a:t>System:</a:t>
            </a:r>
            <a:r>
              <a:rPr sz="5200" spc="125">
                <a:solidFill>
                  <a:srgbClr val="083154"/>
                </a:solidFill>
              </a:rPr>
              <a:t> </a:t>
            </a:r>
            <a:r>
              <a:rPr sz="5200" spc="80">
                <a:solidFill>
                  <a:srgbClr val="0C3459"/>
                </a:solidFill>
              </a:rPr>
              <a:t>The</a:t>
            </a:r>
            <a:r>
              <a:rPr sz="5200" spc="-10">
                <a:solidFill>
                  <a:srgbClr val="0C3459"/>
                </a:solidFill>
              </a:rPr>
              <a:t> </a:t>
            </a:r>
            <a:r>
              <a:rPr sz="5200" spc="-10">
                <a:solidFill>
                  <a:srgbClr val="07315B"/>
                </a:solidFill>
              </a:rPr>
              <a:t>AdaptiveAAdaFace</a:t>
            </a:r>
            <a:r>
              <a:rPr sz="5200" spc="-300">
                <a:solidFill>
                  <a:srgbClr val="07315B"/>
                </a:solidFill>
              </a:rPr>
              <a:t> </a:t>
            </a:r>
            <a:r>
              <a:rPr sz="5200" spc="60">
                <a:solidFill>
                  <a:srgbClr val="082F52"/>
                </a:solidFill>
              </a:rPr>
              <a:t>Head</a:t>
            </a:r>
            <a:endParaRPr sz="5200"/>
          </a:p>
        </p:txBody>
      </p:sp>
      <p:pic>
        <p:nvPicPr>
          <p:cNvPr id="3" name="圖片 2" descr="一張含有 文字, 圖表, 螢幕擷取畫面, 方案 的圖片&#10;&#10;AI 產生的內容可能不正確。">
            <a:extLst>
              <a:ext uri="{FF2B5EF4-FFF2-40B4-BE49-F238E27FC236}">
                <a16:creationId xmlns:a16="http://schemas.microsoft.com/office/drawing/2014/main" id="{FB2D615A-3924-F889-2B8E-0AE77D7E1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677" y="1771358"/>
            <a:ext cx="15446301" cy="591584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947BF5D-FCA7-7C32-EA06-5AAAB16AB79A}"/>
              </a:ext>
            </a:extLst>
          </p:cNvPr>
          <p:cNvSpPr/>
          <p:nvPr/>
        </p:nvSpPr>
        <p:spPr>
          <a:xfrm>
            <a:off x="6851387" y="3820966"/>
            <a:ext cx="1449331" cy="395272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FF4D3E-274F-09B8-C117-55A1F50419BE}"/>
              </a:ext>
            </a:extLst>
          </p:cNvPr>
          <p:cNvSpPr/>
          <p:nvPr/>
        </p:nvSpPr>
        <p:spPr>
          <a:xfrm>
            <a:off x="12482422" y="3820966"/>
            <a:ext cx="1556760" cy="395272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0831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9748361-B061-6714-276E-70A2ED79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722" y="474119"/>
            <a:ext cx="14585071" cy="1581288"/>
          </a:xfrm>
        </p:spPr>
        <p:txBody>
          <a:bodyPr anchor="ctr">
            <a:normAutofit/>
          </a:bodyPr>
          <a:lstStyle/>
          <a:p>
            <a:pPr algn="l"/>
            <a:r>
              <a:rPr lang="en-US" altLang="zh-TW" sz="5200">
                <a:solidFill>
                  <a:srgbClr val="0A365D"/>
                </a:solidFill>
                <a:ea typeface="新細明體"/>
              </a:rPr>
              <a:t>GitHub</a:t>
            </a:r>
            <a:r>
              <a:rPr lang="zh-TW" sz="4400">
                <a:solidFill>
                  <a:srgbClr val="000000"/>
                </a:solidFill>
                <a:latin typeface="Consolas"/>
                <a:ea typeface="新細明體"/>
              </a:rPr>
              <a:t> </a:t>
            </a:r>
            <a:r>
              <a:rPr lang="en-US" altLang="zh-TW" sz="5200">
                <a:solidFill>
                  <a:srgbClr val="0A365D"/>
                </a:solidFill>
                <a:ea typeface="新細明體"/>
              </a:rPr>
              <a:t>Contents</a:t>
            </a:r>
            <a:endParaRPr lang="zh-TW" altLang="en-US" sz="5200">
              <a:solidFill>
                <a:srgbClr val="0A365D"/>
              </a:solidFill>
              <a:ea typeface="新細明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5D1ECC-DBB8-FCC1-F0C6-99448AA3FE93}"/>
              </a:ext>
            </a:extLst>
          </p:cNvPr>
          <p:cNvSpPr txBox="1"/>
          <p:nvPr/>
        </p:nvSpPr>
        <p:spPr>
          <a:xfrm>
            <a:off x="1149062" y="1266007"/>
            <a:ext cx="12270837" cy="77559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endParaRPr lang="en-US" sz="2000">
              <a:solidFill>
                <a:srgbClr val="000000"/>
              </a:solidFill>
              <a:latin typeface="Arial"/>
              <a:cs typeface="Arial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backbones/</a:t>
            </a:r>
            <a:r>
              <a:rPr lang="en-US" sz="2400">
                <a:latin typeface="Arial"/>
                <a:cs typeface="Arial"/>
              </a:rPr>
              <a:t> – Backbone network architectures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config/</a:t>
            </a:r>
            <a:r>
              <a:rPr lang="en-US" sz="2400">
                <a:latin typeface="Arial"/>
                <a:cs typeface="Arial"/>
              </a:rPr>
              <a:t> – Training configurations &amp; hyperparameters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eval/</a:t>
            </a:r>
            <a:r>
              <a:rPr lang="en-US" sz="2400">
                <a:latin typeface="Arial"/>
                <a:cs typeface="Arial"/>
              </a:rPr>
              <a:t> – Evaluation scripts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train/</a:t>
            </a:r>
            <a:r>
              <a:rPr lang="en-US" sz="2400">
                <a:latin typeface="Arial"/>
                <a:cs typeface="Arial"/>
              </a:rPr>
              <a:t> – Core training pipeline (loss, </a:t>
            </a:r>
            <a:r>
              <a:rPr lang="en-US" sz="2400" err="1">
                <a:latin typeface="Arial"/>
                <a:cs typeface="Arial"/>
              </a:rPr>
              <a:t>dataloader</a:t>
            </a:r>
            <a:r>
              <a:rPr lang="en-US" sz="2400">
                <a:latin typeface="Arial"/>
                <a:cs typeface="Arial"/>
              </a:rPr>
              <a:t>, loops)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utils/</a:t>
            </a:r>
            <a:r>
              <a:rPr lang="en-US" sz="2400">
                <a:latin typeface="Arial"/>
                <a:cs typeface="Arial"/>
              </a:rPr>
              <a:t> – Utility functions (logging, metrics, helpers)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 err="1">
                <a:latin typeface="Arial"/>
                <a:cs typeface="Arial"/>
              </a:rPr>
              <a:t>img</a:t>
            </a:r>
            <a:r>
              <a:rPr lang="en-US" sz="2400" b="1">
                <a:latin typeface="Arial"/>
                <a:cs typeface="Arial"/>
              </a:rPr>
              <a:t>/</a:t>
            </a:r>
            <a:r>
              <a:rPr lang="en-US" sz="2400">
                <a:latin typeface="Arial"/>
                <a:cs typeface="Arial"/>
              </a:rPr>
              <a:t> – Documentation images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output/</a:t>
            </a:r>
            <a:r>
              <a:rPr lang="en-US" sz="2400">
                <a:latin typeface="Arial"/>
                <a:cs typeface="Arial"/>
              </a:rPr>
              <a:t> – Checkpoints &amp; logs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requirements/</a:t>
            </a:r>
            <a:r>
              <a:rPr lang="en-US" sz="2400">
                <a:latin typeface="Arial"/>
                <a:cs typeface="Arial"/>
              </a:rPr>
              <a:t> – Dependency files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run_AdaDistill.sh</a:t>
            </a:r>
            <a:r>
              <a:rPr lang="en-US" sz="2400">
                <a:latin typeface="Arial"/>
                <a:cs typeface="Arial"/>
              </a:rPr>
              <a:t> – Main distillation launcher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run_AMLDistill.sh</a:t>
            </a:r>
            <a:r>
              <a:rPr lang="en-US" sz="2400">
                <a:latin typeface="Arial"/>
                <a:cs typeface="Arial"/>
              </a:rPr>
              <a:t> – AML-based distillation launcher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run_standalone.sh</a:t>
            </a:r>
            <a:r>
              <a:rPr lang="en-US" sz="2400">
                <a:latin typeface="Arial"/>
                <a:cs typeface="Arial"/>
              </a:rPr>
              <a:t> – Standalone training/testing script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400" b="1">
                <a:latin typeface="Arial"/>
                <a:cs typeface="Arial"/>
              </a:rPr>
              <a:t>README.md</a:t>
            </a:r>
            <a:r>
              <a:rPr lang="en-US" sz="2400">
                <a:latin typeface="Arial"/>
                <a:cs typeface="Arial"/>
              </a:rPr>
              <a:t> – Project overview</a:t>
            </a:r>
          </a:p>
          <a:p>
            <a:endParaRPr lang="en-US"/>
          </a:p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7058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35442" y="556683"/>
            <a:ext cx="15556865" cy="6604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150" spc="85">
                <a:solidFill>
                  <a:srgbClr val="0A2D49"/>
                </a:solidFill>
              </a:rPr>
              <a:t>The</a:t>
            </a:r>
            <a:r>
              <a:rPr sz="4150" spc="-45">
                <a:solidFill>
                  <a:srgbClr val="0A2D49"/>
                </a:solidFill>
              </a:rPr>
              <a:t> </a:t>
            </a:r>
            <a:r>
              <a:rPr sz="4150" spc="50">
                <a:solidFill>
                  <a:srgbClr val="0A2D4B"/>
                </a:solidFill>
              </a:rPr>
              <a:t>Proof:</a:t>
            </a:r>
            <a:r>
              <a:rPr sz="4150" spc="-35">
                <a:solidFill>
                  <a:srgbClr val="0A2D4B"/>
                </a:solidFill>
              </a:rPr>
              <a:t> </a:t>
            </a:r>
            <a:r>
              <a:rPr sz="4150" spc="85">
                <a:solidFill>
                  <a:srgbClr val="052848"/>
                </a:solidFill>
              </a:rPr>
              <a:t>Our</a:t>
            </a:r>
            <a:r>
              <a:rPr sz="4150" spc="55">
                <a:solidFill>
                  <a:srgbClr val="052848"/>
                </a:solidFill>
              </a:rPr>
              <a:t> </a:t>
            </a:r>
            <a:r>
              <a:rPr sz="4150" spc="55">
                <a:solidFill>
                  <a:srgbClr val="082B4B"/>
                </a:solidFill>
              </a:rPr>
              <a:t>Smarter</a:t>
            </a:r>
            <a:r>
              <a:rPr sz="4150" spc="175">
                <a:solidFill>
                  <a:srgbClr val="082B4B"/>
                </a:solidFill>
              </a:rPr>
              <a:t> </a:t>
            </a:r>
            <a:r>
              <a:rPr sz="4150">
                <a:solidFill>
                  <a:srgbClr val="082D4B"/>
                </a:solidFill>
              </a:rPr>
              <a:t>Teaching</a:t>
            </a:r>
            <a:r>
              <a:rPr sz="4150" spc="370">
                <a:solidFill>
                  <a:srgbClr val="082D4B"/>
                </a:solidFill>
              </a:rPr>
              <a:t> </a:t>
            </a:r>
            <a:r>
              <a:rPr sz="4150">
                <a:solidFill>
                  <a:srgbClr val="052642"/>
                </a:solidFill>
              </a:rPr>
              <a:t>System</a:t>
            </a:r>
            <a:r>
              <a:rPr sz="4150" spc="5">
                <a:solidFill>
                  <a:srgbClr val="052642"/>
                </a:solidFill>
              </a:rPr>
              <a:t> </a:t>
            </a:r>
            <a:r>
              <a:rPr sz="4150">
                <a:solidFill>
                  <a:srgbClr val="0C2D50"/>
                </a:solidFill>
              </a:rPr>
              <a:t>Produces</a:t>
            </a:r>
            <a:r>
              <a:rPr sz="4150" spc="265">
                <a:solidFill>
                  <a:srgbClr val="0C2D50"/>
                </a:solidFill>
              </a:rPr>
              <a:t> </a:t>
            </a:r>
            <a:r>
              <a:rPr sz="4150">
                <a:solidFill>
                  <a:srgbClr val="072D4F"/>
                </a:solidFill>
              </a:rPr>
              <a:t>a</a:t>
            </a:r>
            <a:r>
              <a:rPr sz="4150" spc="-15">
                <a:solidFill>
                  <a:srgbClr val="072D4F"/>
                </a:solidFill>
              </a:rPr>
              <a:t> </a:t>
            </a:r>
            <a:r>
              <a:rPr sz="4150">
                <a:solidFill>
                  <a:srgbClr val="082844"/>
                </a:solidFill>
              </a:rPr>
              <a:t>Better</a:t>
            </a:r>
            <a:r>
              <a:rPr sz="4150" spc="229">
                <a:solidFill>
                  <a:srgbClr val="082844"/>
                </a:solidFill>
              </a:rPr>
              <a:t> </a:t>
            </a:r>
            <a:r>
              <a:rPr sz="4150" spc="-10">
                <a:solidFill>
                  <a:srgbClr val="072A4B"/>
                </a:solidFill>
              </a:rPr>
              <a:t>Student</a:t>
            </a:r>
            <a:endParaRPr sz="4150"/>
          </a:p>
        </p:txBody>
      </p:sp>
      <p:sp>
        <p:nvSpPr>
          <p:cNvPr id="6" name="object 6"/>
          <p:cNvSpPr txBox="1"/>
          <p:nvPr/>
        </p:nvSpPr>
        <p:spPr>
          <a:xfrm>
            <a:off x="973627" y="1395268"/>
            <a:ext cx="14091476" cy="2400337"/>
          </a:xfrm>
          <a:prstGeom prst="rect">
            <a:avLst/>
          </a:prstGeom>
        </p:spPr>
        <p:txBody>
          <a:bodyPr vert="horz" wrap="square" lIns="0" tIns="53975" rIns="0" bIns="0" rtlCol="0" anchor="t">
            <a:spAutoFit/>
          </a:bodyPr>
          <a:lstStyle/>
          <a:p>
            <a:pPr marL="562610" marR="10000615" indent="-550545">
              <a:lnSpc>
                <a:spcPct val="101699"/>
              </a:lnSpc>
              <a:spcBef>
                <a:spcPts val="425"/>
              </a:spcBef>
            </a:pPr>
            <a:r>
              <a:rPr sz="2400" spc="-45">
                <a:solidFill>
                  <a:srgbClr val="07213A"/>
                </a:solidFill>
                <a:latin typeface="Arial"/>
                <a:cs typeface="Arial"/>
              </a:rPr>
              <a:t>Experimental</a:t>
            </a:r>
            <a:r>
              <a:rPr sz="2400" spc="-65">
                <a:solidFill>
                  <a:srgbClr val="07213A"/>
                </a:solidFill>
                <a:latin typeface="Arial"/>
                <a:cs typeface="Arial"/>
              </a:rPr>
              <a:t> </a:t>
            </a:r>
            <a:r>
              <a:rPr sz="2400" spc="-20">
                <a:solidFill>
                  <a:srgbClr val="0C2849"/>
                </a:solidFill>
                <a:latin typeface="Arial"/>
                <a:cs typeface="Arial"/>
              </a:rPr>
              <a:t>Setup</a:t>
            </a:r>
            <a:r>
              <a:rPr lang="en-US" sz="2400" spc="-20">
                <a:solidFill>
                  <a:srgbClr val="0C2849"/>
                </a:solidFill>
                <a:latin typeface="Arial"/>
                <a:cs typeface="Arial"/>
              </a:rPr>
              <a:t>:</a:t>
            </a:r>
            <a:r>
              <a:rPr sz="2400" spc="-20">
                <a:solidFill>
                  <a:srgbClr val="0C2849"/>
                </a:solidFill>
                <a:latin typeface="Arial"/>
                <a:cs typeface="Arial"/>
              </a:rPr>
              <a:t> </a:t>
            </a:r>
            <a:endParaRPr lang="zh-TW" altLang="en-US" sz="2400">
              <a:latin typeface="Arial"/>
              <a:cs typeface="Arial"/>
            </a:endParaRPr>
          </a:p>
          <a:p>
            <a:pPr marL="457200" marR="10000615" indent="-114300">
              <a:lnSpc>
                <a:spcPct val="101699"/>
              </a:lnSpc>
              <a:spcBef>
                <a:spcPts val="425"/>
              </a:spcBef>
            </a:pPr>
            <a:r>
              <a:rPr sz="2400" spc="-25">
                <a:latin typeface="Arial"/>
                <a:cs typeface="Arial"/>
              </a:rPr>
              <a:t>Teacher:</a:t>
            </a:r>
            <a:r>
              <a:rPr sz="2400" spc="-110">
                <a:latin typeface="Arial"/>
                <a:cs typeface="Arial"/>
              </a:rPr>
              <a:t> </a:t>
            </a:r>
            <a:r>
              <a:rPr sz="2400" spc="-65">
                <a:latin typeface="Arial"/>
                <a:cs typeface="Arial"/>
              </a:rPr>
              <a:t>IR-</a:t>
            </a:r>
            <a:r>
              <a:rPr sz="2400">
                <a:latin typeface="Arial"/>
                <a:cs typeface="Arial"/>
              </a:rPr>
              <a:t>50</a:t>
            </a:r>
            <a:r>
              <a:rPr sz="2400" spc="-135">
                <a:latin typeface="Arial"/>
                <a:cs typeface="Arial"/>
              </a:rPr>
              <a:t> </a:t>
            </a:r>
            <a:r>
              <a:rPr sz="2400" spc="-55">
                <a:latin typeface="Arial"/>
                <a:cs typeface="Arial"/>
              </a:rPr>
              <a:t>Backbone </a:t>
            </a:r>
            <a:endParaRPr lang="zh-TW" sz="2400">
              <a:latin typeface="Arial"/>
              <a:cs typeface="Arial"/>
            </a:endParaRPr>
          </a:p>
          <a:p>
            <a:pPr marL="457200" marR="10000615" indent="-114300">
              <a:lnSpc>
                <a:spcPct val="101699"/>
              </a:lnSpc>
              <a:spcBef>
                <a:spcPts val="425"/>
              </a:spcBef>
            </a:pPr>
            <a:r>
              <a:rPr sz="2400">
                <a:latin typeface="Arial"/>
                <a:cs typeface="Arial"/>
              </a:rPr>
              <a:t>Student:</a:t>
            </a:r>
            <a:r>
              <a:rPr sz="2400" spc="220">
                <a:latin typeface="Arial"/>
                <a:cs typeface="Arial"/>
              </a:rPr>
              <a:t> </a:t>
            </a:r>
            <a:r>
              <a:rPr sz="2400" spc="-10" err="1">
                <a:latin typeface="Arial"/>
                <a:cs typeface="Arial"/>
              </a:rPr>
              <a:t>MobileFaceNet</a:t>
            </a:r>
            <a:endParaRPr sz="2400">
              <a:latin typeface="Arial"/>
              <a:cs typeface="Arial"/>
            </a:endParaRPr>
          </a:p>
          <a:p>
            <a:pPr marL="457200" indent="-114300">
              <a:lnSpc>
                <a:spcPts val="3300"/>
              </a:lnSpc>
            </a:pPr>
            <a:r>
              <a:rPr sz="2400">
                <a:latin typeface="Arial"/>
                <a:cs typeface="Arial"/>
              </a:rPr>
              <a:t>Training</a:t>
            </a:r>
            <a:r>
              <a:rPr sz="2400" spc="-155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Data:</a:t>
            </a:r>
            <a:r>
              <a:rPr sz="2400" spc="-85">
                <a:latin typeface="Arial"/>
                <a:cs typeface="Arial"/>
              </a:rPr>
              <a:t> </a:t>
            </a:r>
            <a:r>
              <a:rPr sz="2400" spc="-140">
                <a:latin typeface="Arial"/>
                <a:cs typeface="Arial"/>
              </a:rPr>
              <a:t>MS1MV2</a:t>
            </a:r>
            <a:r>
              <a:rPr sz="2400" spc="140">
                <a:latin typeface="Arial"/>
                <a:cs typeface="Arial"/>
              </a:rPr>
              <a:t> </a:t>
            </a:r>
            <a:r>
              <a:rPr sz="2400">
                <a:latin typeface="Arial"/>
                <a:cs typeface="Arial"/>
              </a:rPr>
              <a:t>(-</a:t>
            </a:r>
            <a:r>
              <a:rPr sz="2400" spc="60">
                <a:latin typeface="Arial"/>
                <a:cs typeface="Arial"/>
              </a:rPr>
              <a:t>5.8M</a:t>
            </a:r>
            <a:r>
              <a:rPr sz="2400" spc="-55">
                <a:latin typeface="Arial"/>
                <a:cs typeface="Arial"/>
              </a:rPr>
              <a:t> </a:t>
            </a:r>
            <a:r>
              <a:rPr sz="2400" spc="-10">
                <a:latin typeface="Arial"/>
                <a:cs typeface="Arial"/>
              </a:rPr>
              <a:t>images)</a:t>
            </a:r>
            <a:endParaRPr sz="24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2520"/>
              </a:spcBef>
            </a:pPr>
            <a:r>
              <a:rPr sz="2400" spc="-35">
                <a:solidFill>
                  <a:srgbClr val="0C263A"/>
                </a:solidFill>
                <a:latin typeface="Arial"/>
                <a:cs typeface="Arial"/>
              </a:rPr>
              <a:t>Performance</a:t>
            </a:r>
            <a:r>
              <a:rPr sz="2400" spc="-195">
                <a:solidFill>
                  <a:srgbClr val="0C263A"/>
                </a:solidFill>
                <a:latin typeface="Arial"/>
                <a:cs typeface="Arial"/>
              </a:rPr>
              <a:t> </a:t>
            </a:r>
            <a:r>
              <a:rPr sz="2400" spc="-20">
                <a:solidFill>
                  <a:srgbClr val="05233F"/>
                </a:solidFill>
                <a:latin typeface="Arial"/>
                <a:cs typeface="Arial"/>
              </a:rPr>
              <a:t>Comparison:</a:t>
            </a:r>
            <a:r>
              <a:rPr sz="2400" spc="620">
                <a:solidFill>
                  <a:srgbClr val="05233F"/>
                </a:solidFill>
                <a:latin typeface="Arial"/>
                <a:cs typeface="Arial"/>
              </a:rPr>
              <a:t> </a:t>
            </a:r>
            <a:r>
              <a:rPr sz="2400" spc="-20" err="1">
                <a:solidFill>
                  <a:srgbClr val="012142"/>
                </a:solidFill>
                <a:latin typeface="Arial"/>
                <a:cs typeface="Arial"/>
              </a:rPr>
              <a:t>AdaDistill</a:t>
            </a:r>
            <a:r>
              <a:rPr sz="2400" spc="-175">
                <a:solidFill>
                  <a:srgbClr val="012142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08284B"/>
                </a:solidFill>
                <a:latin typeface="Arial"/>
                <a:cs typeface="Arial"/>
              </a:rPr>
              <a:t>+</a:t>
            </a:r>
            <a:r>
              <a:rPr sz="2400" spc="-229">
                <a:solidFill>
                  <a:srgbClr val="08284B"/>
                </a:solidFill>
                <a:latin typeface="Arial"/>
                <a:cs typeface="Arial"/>
              </a:rPr>
              <a:t> </a:t>
            </a:r>
            <a:r>
              <a:rPr sz="2400" spc="-65" err="1">
                <a:solidFill>
                  <a:srgbClr val="05284B"/>
                </a:solidFill>
                <a:latin typeface="Arial"/>
                <a:cs typeface="Arial"/>
              </a:rPr>
              <a:t>AdaFace</a:t>
            </a:r>
            <a:r>
              <a:rPr sz="2400" spc="715">
                <a:solidFill>
                  <a:srgbClr val="05284B"/>
                </a:solidFill>
                <a:latin typeface="Arial"/>
                <a:cs typeface="Arial"/>
              </a:rPr>
              <a:t> </a:t>
            </a:r>
            <a:r>
              <a:rPr sz="2400" spc="-20">
                <a:solidFill>
                  <a:srgbClr val="03213D"/>
                </a:solidFill>
                <a:latin typeface="Arial"/>
                <a:cs typeface="Arial"/>
              </a:rPr>
              <a:t>vs.</a:t>
            </a:r>
            <a:r>
              <a:rPr sz="2400" spc="-210">
                <a:solidFill>
                  <a:srgbClr val="03213D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052848"/>
                </a:solidFill>
                <a:latin typeface="Arial"/>
                <a:cs typeface="Arial"/>
              </a:rPr>
              <a:t>the</a:t>
            </a:r>
            <a:r>
              <a:rPr sz="2400" spc="-204">
                <a:solidFill>
                  <a:srgbClr val="052848"/>
                </a:solidFill>
                <a:latin typeface="Arial"/>
                <a:cs typeface="Arial"/>
              </a:rPr>
              <a:t> </a:t>
            </a:r>
            <a:r>
              <a:rPr sz="2400">
                <a:solidFill>
                  <a:srgbClr val="08233B"/>
                </a:solidFill>
                <a:latin typeface="Arial"/>
                <a:cs typeface="Arial"/>
              </a:rPr>
              <a:t>original</a:t>
            </a:r>
            <a:r>
              <a:rPr sz="2400" spc="580">
                <a:solidFill>
                  <a:srgbClr val="08233B"/>
                </a:solidFill>
                <a:latin typeface="Arial"/>
                <a:cs typeface="Arial"/>
              </a:rPr>
              <a:t> </a:t>
            </a:r>
            <a:r>
              <a:rPr sz="2400" spc="-10" err="1">
                <a:solidFill>
                  <a:srgbClr val="05284B"/>
                </a:solidFill>
                <a:latin typeface="Arial"/>
                <a:cs typeface="Arial"/>
              </a:rPr>
              <a:t>MobileFaceNet</a:t>
            </a:r>
            <a:endParaRPr sz="2400" err="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3310" y="8073210"/>
            <a:ext cx="14807565" cy="14871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300" spc="-10">
                <a:solidFill>
                  <a:srgbClr val="03213B"/>
                </a:solidFill>
                <a:latin typeface="Arial"/>
                <a:cs typeface="Arial"/>
              </a:rPr>
              <a:t>Observation</a:t>
            </a:r>
            <a:endParaRPr sz="3300">
              <a:latin typeface="Arial"/>
              <a:cs typeface="Arial"/>
            </a:endParaRPr>
          </a:p>
          <a:p>
            <a:pPr marL="20320" marR="5080" indent="-5080">
              <a:lnSpc>
                <a:spcPts val="3400"/>
              </a:lnSpc>
              <a:spcBef>
                <a:spcPts val="520"/>
              </a:spcBef>
            </a:pPr>
            <a:r>
              <a:rPr sz="2950" spc="-45">
                <a:latin typeface="Arial"/>
                <a:cs typeface="Arial"/>
              </a:rPr>
              <a:t>Significant</a:t>
            </a:r>
            <a:r>
              <a:rPr sz="2950" spc="-165">
                <a:latin typeface="Arial"/>
                <a:cs typeface="Arial"/>
              </a:rPr>
              <a:t> </a:t>
            </a:r>
            <a:r>
              <a:rPr sz="2950" spc="-70">
                <a:latin typeface="Arial"/>
                <a:cs typeface="Arial"/>
              </a:rPr>
              <a:t>improvements</a:t>
            </a:r>
            <a:r>
              <a:rPr sz="2950" spc="-130">
                <a:latin typeface="Arial"/>
                <a:cs typeface="Arial"/>
              </a:rPr>
              <a:t> </a:t>
            </a:r>
            <a:r>
              <a:rPr sz="2950" spc="-30">
                <a:latin typeface="Arial"/>
                <a:cs typeface="Arial"/>
              </a:rPr>
              <a:t>on</a:t>
            </a:r>
            <a:r>
              <a:rPr sz="2950" spc="-180">
                <a:latin typeface="Arial"/>
                <a:cs typeface="Arial"/>
              </a:rPr>
              <a:t> </a:t>
            </a:r>
            <a:r>
              <a:rPr sz="2950" spc="-60">
                <a:latin typeface="Arial"/>
                <a:cs typeface="Arial"/>
              </a:rPr>
              <a:t>challenging</a:t>
            </a:r>
            <a:r>
              <a:rPr sz="2950" spc="-80">
                <a:latin typeface="Arial"/>
                <a:cs typeface="Arial"/>
              </a:rPr>
              <a:t> </a:t>
            </a:r>
            <a:r>
              <a:rPr sz="2950" spc="-40">
                <a:latin typeface="Arial"/>
                <a:cs typeface="Arial"/>
              </a:rPr>
              <a:t>datasets</a:t>
            </a:r>
            <a:r>
              <a:rPr sz="2950" spc="-120">
                <a:latin typeface="Arial"/>
                <a:cs typeface="Arial"/>
              </a:rPr>
              <a:t> </a:t>
            </a:r>
            <a:r>
              <a:rPr sz="2950" spc="-50">
                <a:latin typeface="Arial"/>
                <a:cs typeface="Arial"/>
              </a:rPr>
              <a:t>like</a:t>
            </a:r>
            <a:r>
              <a:rPr sz="2950" spc="-160">
                <a:latin typeface="Arial"/>
                <a:cs typeface="Arial"/>
              </a:rPr>
              <a:t> </a:t>
            </a:r>
            <a:r>
              <a:rPr sz="2950" spc="-50">
                <a:solidFill>
                  <a:srgbClr val="A15734"/>
                </a:solidFill>
                <a:latin typeface="Arial"/>
                <a:cs typeface="Arial"/>
              </a:rPr>
              <a:t>TinyFace</a:t>
            </a:r>
            <a:r>
              <a:rPr sz="2950" spc="-105">
                <a:solidFill>
                  <a:srgbClr val="A15734"/>
                </a:solidFill>
                <a:latin typeface="Arial"/>
                <a:cs typeface="Arial"/>
              </a:rPr>
              <a:t> </a:t>
            </a:r>
            <a:r>
              <a:rPr sz="2950" spc="-50">
                <a:latin typeface="Arial"/>
                <a:cs typeface="Arial"/>
              </a:rPr>
              <a:t>and</a:t>
            </a:r>
            <a:r>
              <a:rPr sz="2950" spc="-145">
                <a:latin typeface="Arial"/>
                <a:cs typeface="Arial"/>
              </a:rPr>
              <a:t> </a:t>
            </a:r>
            <a:r>
              <a:rPr sz="2950" spc="-210">
                <a:solidFill>
                  <a:srgbClr val="9C4B24"/>
                </a:solidFill>
                <a:latin typeface="Arial"/>
                <a:cs typeface="Arial"/>
              </a:rPr>
              <a:t>CPLFW</a:t>
            </a:r>
            <a:r>
              <a:rPr sz="2950" spc="10">
                <a:solidFill>
                  <a:srgbClr val="9C4B24"/>
                </a:solidFill>
                <a:latin typeface="Arial"/>
                <a:cs typeface="Arial"/>
              </a:rPr>
              <a:t> </a:t>
            </a:r>
            <a:r>
              <a:rPr sz="2950" spc="-55">
                <a:latin typeface="Arial"/>
                <a:cs typeface="Arial"/>
              </a:rPr>
              <a:t>demonstrate</a:t>
            </a:r>
            <a:r>
              <a:rPr sz="2950" spc="-10">
                <a:latin typeface="Arial"/>
                <a:cs typeface="Arial"/>
              </a:rPr>
              <a:t> </a:t>
            </a:r>
            <a:r>
              <a:rPr sz="2950" spc="-25">
                <a:latin typeface="Arial"/>
                <a:cs typeface="Arial"/>
              </a:rPr>
              <a:t>the </a:t>
            </a:r>
            <a:r>
              <a:rPr sz="2950" spc="-40">
                <a:latin typeface="Arial"/>
                <a:cs typeface="Arial"/>
              </a:rPr>
              <a:t>method's</a:t>
            </a:r>
            <a:r>
              <a:rPr sz="2950" spc="-100">
                <a:latin typeface="Arial"/>
                <a:cs typeface="Arial"/>
              </a:rPr>
              <a:t> </a:t>
            </a:r>
            <a:r>
              <a:rPr sz="2950" spc="-45">
                <a:latin typeface="Arial"/>
                <a:cs typeface="Arial"/>
              </a:rPr>
              <a:t>effectiveness,</a:t>
            </a:r>
            <a:r>
              <a:rPr sz="2950" spc="-160">
                <a:latin typeface="Arial"/>
                <a:cs typeface="Arial"/>
              </a:rPr>
              <a:t> </a:t>
            </a:r>
            <a:r>
              <a:rPr sz="2950" spc="-60">
                <a:latin typeface="Arial"/>
                <a:cs typeface="Arial"/>
              </a:rPr>
              <a:t>especially</a:t>
            </a:r>
            <a:r>
              <a:rPr sz="2950" spc="10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for</a:t>
            </a:r>
            <a:r>
              <a:rPr sz="2950" spc="-70">
                <a:latin typeface="Arial"/>
                <a:cs typeface="Arial"/>
              </a:rPr>
              <a:t> </a:t>
            </a:r>
            <a:r>
              <a:rPr sz="2950">
                <a:latin typeface="Arial"/>
                <a:cs typeface="Arial"/>
              </a:rPr>
              <a:t>difficult,</a:t>
            </a:r>
            <a:r>
              <a:rPr sz="2950" spc="-155">
                <a:latin typeface="Arial"/>
                <a:cs typeface="Arial"/>
              </a:rPr>
              <a:t> </a:t>
            </a:r>
            <a:r>
              <a:rPr sz="2950" spc="-50">
                <a:latin typeface="Arial"/>
                <a:cs typeface="Arial"/>
              </a:rPr>
              <a:t>low-</a:t>
            </a:r>
            <a:r>
              <a:rPr sz="2950">
                <a:latin typeface="Arial"/>
                <a:cs typeface="Arial"/>
              </a:rPr>
              <a:t>quality</a:t>
            </a:r>
            <a:r>
              <a:rPr sz="2950" spc="45">
                <a:latin typeface="Arial"/>
                <a:cs typeface="Arial"/>
              </a:rPr>
              <a:t> </a:t>
            </a:r>
            <a:r>
              <a:rPr sz="2950" spc="-10">
                <a:latin typeface="Arial"/>
                <a:cs typeface="Arial"/>
              </a:rPr>
              <a:t>scenarios.</a:t>
            </a:r>
            <a:endParaRPr sz="2950">
              <a:latin typeface="Arial"/>
              <a:cs typeface="Arial"/>
            </a:endParaRP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B5123ED-D0B4-6EA0-423A-10B6FD15A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431909"/>
              </p:ext>
            </p:extLst>
          </p:nvPr>
        </p:nvGraphicFramePr>
        <p:xfrm>
          <a:off x="4368311" y="3963671"/>
          <a:ext cx="9925306" cy="3731736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3232846">
                  <a:extLst>
                    <a:ext uri="{9D8B030D-6E8A-4147-A177-3AD203B41FA5}">
                      <a16:colId xmlns:a16="http://schemas.microsoft.com/office/drawing/2014/main" val="1619562626"/>
                    </a:ext>
                  </a:extLst>
                </a:gridCol>
                <a:gridCol w="2230820">
                  <a:extLst>
                    <a:ext uri="{9D8B030D-6E8A-4147-A177-3AD203B41FA5}">
                      <a16:colId xmlns:a16="http://schemas.microsoft.com/office/drawing/2014/main" val="1591126541"/>
                    </a:ext>
                  </a:extLst>
                </a:gridCol>
                <a:gridCol w="2230820">
                  <a:extLst>
                    <a:ext uri="{9D8B030D-6E8A-4147-A177-3AD203B41FA5}">
                      <a16:colId xmlns:a16="http://schemas.microsoft.com/office/drawing/2014/main" val="787936639"/>
                    </a:ext>
                  </a:extLst>
                </a:gridCol>
                <a:gridCol w="2230820">
                  <a:extLst>
                    <a:ext uri="{9D8B030D-6E8A-4147-A177-3AD203B41FA5}">
                      <a16:colId xmlns:a16="http://schemas.microsoft.com/office/drawing/2014/main" val="755468770"/>
                    </a:ext>
                  </a:extLst>
                </a:gridCol>
              </a:tblGrid>
              <a:tr h="434788">
                <a:tc>
                  <a:txBody>
                    <a:bodyPr/>
                    <a:lstStyle/>
                    <a:p>
                      <a:pPr algn="l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Dataset</a:t>
                      </a:r>
                      <a:endParaRPr lang="en-US" sz="2000" b="1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b="1">
                          <a:effectLst/>
                        </a:rPr>
                        <a:t>MFN (%)</a:t>
                      </a:r>
                      <a:endParaRPr lang="en-US" sz="2000" b="1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Distilled</a:t>
                      </a:r>
                      <a:r>
                        <a:rPr lang="en-US" sz="2000" b="1">
                          <a:effectLst/>
                        </a:rPr>
                        <a:t> (%)</a:t>
                      </a:r>
                      <a:endParaRPr lang="en-US" sz="2000" b="1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af-ZA" sz="2000" b="1" err="1">
                          <a:effectLst/>
                        </a:rPr>
                        <a:t>Diff</a:t>
                      </a:r>
                      <a:r>
                        <a:rPr lang="af-ZA" sz="2000" b="1">
                          <a:effectLst/>
                        </a:rPr>
                        <a:t> (%)</a:t>
                      </a:r>
                      <a:endParaRPr lang="af-ZA" sz="2000" b="1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451161"/>
                  </a:ext>
                </a:extLst>
              </a:tr>
              <a:tr h="397012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LFW</a:t>
                      </a:r>
                      <a:endParaRPr lang="en-US" sz="20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99.57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99.567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-0.003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05262"/>
                  </a:ext>
                </a:extLst>
              </a:tr>
              <a:tr h="434788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CFP-FP</a:t>
                      </a:r>
                      <a:endParaRPr lang="en-US" sz="20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92,43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95.329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+2.899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394869"/>
                  </a:ext>
                </a:extLst>
              </a:tr>
              <a:tr h="472597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AgeDB-30</a:t>
                      </a:r>
                      <a:endParaRPr lang="en-US" sz="20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96.07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95.833</a:t>
                      </a:r>
                      <a:endParaRPr lang="en-US" altLang="zh-TW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-0.237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21236"/>
                  </a:ext>
                </a:extLst>
              </a:tr>
              <a:tr h="434788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CPLFW</a:t>
                      </a:r>
                      <a:endParaRPr lang="en-US" sz="20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88.46</a:t>
                      </a:r>
                    </a:p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90.150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+1.69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682112"/>
                  </a:ext>
                </a:extLst>
              </a:tr>
              <a:tr h="434788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CALFW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altLang="zh-TW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95.32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95.133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-0.187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99936"/>
                  </a:ext>
                </a:extLst>
              </a:tr>
              <a:tr h="586654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af-ZA" sz="2000" dirty="0">
                          <a:effectLst/>
                        </a:rPr>
                        <a:t>IJBC (TPR@FPR=1e-4)</a:t>
                      </a:r>
                      <a:endParaRPr lang="af-ZA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90.21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93.823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+3.613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084269"/>
                  </a:ext>
                </a:extLst>
              </a:tr>
              <a:tr h="434788">
                <a:tc>
                  <a:txBody>
                    <a:bodyPr/>
                    <a:lstStyle/>
                    <a:p>
                      <a:pPr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IJBC (TPR@FPR=1e-5)</a:t>
                      </a:r>
                      <a:endParaRPr lang="en-US" sz="20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solidFill>
                            <a:sysClr val="windowText" lastClr="000000"/>
                          </a:solidFill>
                          <a:effectLst/>
                        </a:rPr>
                        <a:t>83.78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>
                          <a:effectLst/>
                        </a:rPr>
                        <a:t>90.004</a:t>
                      </a:r>
                      <a:endParaRPr lang="en-US" sz="200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+6.224</a:t>
                      </a:r>
                      <a:endParaRPr lang="en-US" sz="200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219867"/>
                  </a:ext>
                </a:extLst>
              </a:tr>
            </a:tbl>
          </a:graphicData>
        </a:graphic>
      </p:graphicFrame>
      <p:pic>
        <p:nvPicPr>
          <p:cNvPr id="11" name="圖片 10">
            <a:extLst>
              <a:ext uri="{FF2B5EF4-FFF2-40B4-BE49-F238E27FC236}">
                <a16:creationId xmlns:a16="http://schemas.microsoft.com/office/drawing/2014/main" id="{6C2C027A-D4F3-4E23-B1F6-16012DAF1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0274" y="9431774"/>
            <a:ext cx="1133633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ED44-7507-D364-B5AB-903CE3DA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42ADD9-7BBC-1CC5-2877-5C1D2E247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169" y="587757"/>
            <a:ext cx="15984219" cy="923330"/>
          </a:xfr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92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55852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33777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11703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89629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67555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45481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340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150">
                <a:solidFill>
                  <a:srgbClr val="082D4B"/>
                </a:solidFill>
                <a:latin typeface="Cambria"/>
                <a:ea typeface="+mj-ea"/>
              </a:rPr>
              <a:t>Experiment</a:t>
            </a:r>
            <a:r>
              <a:rPr lang="en-US" altLang="zh-TW" sz="3200" b="1">
                <a:solidFill>
                  <a:schemeClr val="tx2">
                    <a:lumMod val="76000"/>
                  </a:schemeClr>
                </a:solidFill>
                <a:ea typeface="+mj-lt"/>
              </a:rPr>
              <a:t> </a:t>
            </a:r>
            <a:r>
              <a:rPr lang="en-US" altLang="zh-TW" sz="4150">
                <a:solidFill>
                  <a:srgbClr val="082D4B"/>
                </a:solidFill>
                <a:latin typeface="Cambria"/>
                <a:ea typeface="+mj-ea"/>
              </a:rPr>
              <a:t>result</a:t>
            </a:r>
            <a:r>
              <a:rPr lang="en-US" altLang="zh-TW" sz="6000" b="1">
                <a:solidFill>
                  <a:schemeClr val="tx2">
                    <a:lumMod val="49000"/>
                  </a:schemeClr>
                </a:solidFill>
                <a:ea typeface="+mj-lt"/>
              </a:rPr>
              <a:t> </a:t>
            </a:r>
            <a:endParaRPr lang="zh-TW" sz="6000" b="1">
              <a:solidFill>
                <a:schemeClr val="tx2">
                  <a:lumMod val="49000"/>
                </a:schemeClr>
              </a:solidFill>
              <a:cs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2F9971-E148-6B2E-91E7-0811E34153CB}"/>
              </a:ext>
            </a:extLst>
          </p:cNvPr>
          <p:cNvSpPr txBox="1"/>
          <p:nvPr/>
        </p:nvSpPr>
        <p:spPr>
          <a:xfrm>
            <a:off x="6380178" y="8150746"/>
            <a:ext cx="4600694" cy="746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0048" tIns="65024" rIns="130048" bIns="65024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92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55852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33777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11703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89629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67555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45481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340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>
                <a:ea typeface="新細明體"/>
              </a:rPr>
              <a:t>loss curve </a:t>
            </a:r>
            <a:endParaRPr lang="en-US" altLang="zh-TW" sz="4000">
              <a:ea typeface="新細明體"/>
              <a:cs typeface="Calibri"/>
            </a:endParaRPr>
          </a:p>
        </p:txBody>
      </p:sp>
      <p:pic>
        <p:nvPicPr>
          <p:cNvPr id="6" name="圖片 5" descr="一張含有 螢幕擷取畫面, 文字, 圖表, 繪圖 的圖片&#10;&#10;AI 產生的內容可能不正確。">
            <a:extLst>
              <a:ext uri="{FF2B5EF4-FFF2-40B4-BE49-F238E27FC236}">
                <a16:creationId xmlns:a16="http://schemas.microsoft.com/office/drawing/2014/main" id="{E02C2F2D-DC7F-44AB-E5EB-9380FC96A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53" b="9302"/>
          <a:stretch>
            <a:fillRect/>
          </a:stretch>
        </p:blipFill>
        <p:spPr>
          <a:xfrm>
            <a:off x="1400172" y="1967145"/>
            <a:ext cx="14684588" cy="582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2589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D628-3201-FF7A-8F79-C93209174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35CC3F-45EE-D9CF-BC00-31070D838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09" y="814363"/>
            <a:ext cx="15984219" cy="923330"/>
          </a:xfr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92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55852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33777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11703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89629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67555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45481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340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150" dirty="0">
                <a:solidFill>
                  <a:srgbClr val="082D4B"/>
                </a:solidFill>
                <a:latin typeface="Cambria"/>
                <a:ea typeface="+mj-ea"/>
              </a:rPr>
              <a:t>Experiment</a:t>
            </a:r>
            <a:r>
              <a:rPr lang="en-US" altLang="zh-TW" sz="6000" dirty="0">
                <a:ea typeface="+mj-lt"/>
              </a:rPr>
              <a:t> </a:t>
            </a:r>
            <a:r>
              <a:rPr lang="en-US" altLang="zh-TW" sz="4150" dirty="0">
                <a:solidFill>
                  <a:srgbClr val="082D4B"/>
                </a:solidFill>
                <a:latin typeface="Cambria"/>
                <a:ea typeface="+mj-ea"/>
              </a:rPr>
              <a:t>result</a:t>
            </a:r>
            <a:r>
              <a:rPr lang="en-US" altLang="zh-TW" sz="4800" dirty="0">
                <a:ea typeface="+mj-lt"/>
              </a:rPr>
              <a:t> </a:t>
            </a:r>
            <a:endParaRPr lang="zh-TW" sz="4800" dirty="0"/>
          </a:p>
        </p:txBody>
      </p:sp>
      <p:pic>
        <p:nvPicPr>
          <p:cNvPr id="3" name="圖片 2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E860A8E2-D29C-38F8-0D2D-7CE04073D3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56" r="180" b="110"/>
          <a:stretch>
            <a:fillRect/>
          </a:stretch>
        </p:blipFill>
        <p:spPr>
          <a:xfrm>
            <a:off x="447091" y="2019780"/>
            <a:ext cx="7846994" cy="479825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A7E1FD9-E636-9E04-A8EE-1B1FEA9446B8}"/>
              </a:ext>
            </a:extLst>
          </p:cNvPr>
          <p:cNvSpPr txBox="1"/>
          <p:nvPr/>
        </p:nvSpPr>
        <p:spPr>
          <a:xfrm>
            <a:off x="1640835" y="7256731"/>
            <a:ext cx="544608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zh-TW" sz="3600" dirty="0">
                <a:latin typeface="Corbel"/>
              </a:rPr>
              <a:t>lma: lam mean average (α')</a:t>
            </a:r>
          </a:p>
          <a:p>
            <a:pPr algn="l"/>
            <a:endParaRPr lang="zh-TW" altLang="en-US" dirty="0"/>
          </a:p>
        </p:txBody>
      </p:sp>
      <p:pic>
        <p:nvPicPr>
          <p:cNvPr id="8" name="圖片 7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CF6C9C5C-AD65-C7B3-5D7D-2338C46A8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597" y="2019780"/>
            <a:ext cx="7681610" cy="479362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20385AE-38B3-DBE7-3BA6-8ACCEA5A5B66}"/>
              </a:ext>
            </a:extLst>
          </p:cNvPr>
          <p:cNvSpPr txBox="1"/>
          <p:nvPr/>
        </p:nvSpPr>
        <p:spPr>
          <a:xfrm>
            <a:off x="10705892" y="7256731"/>
            <a:ext cx="44112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cos_theta_tmp 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(</a:t>
            </a:r>
            <a:r>
              <a:rPr lang="zh-TW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α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)</a:t>
            </a:r>
            <a:endParaRPr lang="zh-TW" altLang="en-US" sz="3600" dirty="0"/>
          </a:p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0026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7FBCCE-7FF9-E316-13CB-33F4C641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6473" y="2365326"/>
            <a:ext cx="3693987" cy="615553"/>
          </a:xfrm>
        </p:spPr>
        <p:txBody>
          <a:bodyPr/>
          <a:lstStyle/>
          <a:p>
            <a:r>
              <a:rPr lang="en-US" altLang="zh-TW" sz="4000" dirty="0"/>
              <a:t>Logic Mean</a:t>
            </a:r>
            <a:endParaRPr lang="zh-TW" altLang="en-US" sz="4000" dirty="0"/>
          </a:p>
        </p:txBody>
      </p:sp>
      <p:pic>
        <p:nvPicPr>
          <p:cNvPr id="5" name="圖片 4" descr="一張含有 螢幕擷取畫面, 文字, 圖表, 繪圖 的圖片&#10;&#10;AI 產生的內容可能不正確。">
            <a:extLst>
              <a:ext uri="{FF2B5EF4-FFF2-40B4-BE49-F238E27FC236}">
                <a16:creationId xmlns:a16="http://schemas.microsoft.com/office/drawing/2014/main" id="{A70EBD24-9A9F-6EB2-6B4B-439AEC53F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75" y="3386296"/>
            <a:ext cx="5274961" cy="3819522"/>
          </a:xfrm>
          <a:prstGeom prst="rect">
            <a:avLst/>
          </a:prstGeom>
        </p:spPr>
      </p:pic>
      <p:pic>
        <p:nvPicPr>
          <p:cNvPr id="9" name="圖片 8" descr="一張含有 文字,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0DACAD6C-C114-4D51-49E0-F3FA91681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722" y="3397117"/>
            <a:ext cx="5330021" cy="384813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283D974-93DF-3DF4-667F-BCEF7C4AD818}"/>
              </a:ext>
            </a:extLst>
          </p:cNvPr>
          <p:cNvSpPr txBox="1"/>
          <p:nvPr/>
        </p:nvSpPr>
        <p:spPr>
          <a:xfrm>
            <a:off x="1570494" y="7948717"/>
            <a:ext cx="3170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spc="-125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adaptive</a:t>
            </a:r>
            <a:r>
              <a:rPr lang="en-US" altLang="zh-TW" sz="2000" spc="-5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4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geometry-</a:t>
            </a:r>
            <a:r>
              <a:rPr lang="en-US" altLang="zh-TW" sz="2000" spc="-145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aware</a:t>
            </a:r>
            <a:endParaRPr lang="zh-TW" altLang="en-US" sz="2000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B2C140-108C-D0FE-BEF4-874A66091CF5}"/>
              </a:ext>
            </a:extLst>
          </p:cNvPr>
          <p:cNvSpPr txBox="1"/>
          <p:nvPr/>
        </p:nvSpPr>
        <p:spPr>
          <a:xfrm>
            <a:off x="7398026" y="7969263"/>
            <a:ext cx="3170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Static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000" spc="-14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geometry-</a:t>
            </a:r>
            <a:r>
              <a:rPr lang="en-US" altLang="zh-TW" sz="2000" spc="-145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aware</a:t>
            </a:r>
            <a:r>
              <a:rPr lang="zh-TW" altLang="en-US" sz="2000" spc="-145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5889673-4B5E-6196-79D4-B380766EE69E}"/>
              </a:ext>
            </a:extLst>
          </p:cNvPr>
          <p:cNvSpPr txBox="1"/>
          <p:nvPr/>
        </p:nvSpPr>
        <p:spPr>
          <a:xfrm>
            <a:off x="12987130" y="7948717"/>
            <a:ext cx="3170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 </a:t>
            </a:r>
            <a:r>
              <a:rPr lang="en-US" altLang="zh-TW" sz="2000" spc="-14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geometry-</a:t>
            </a:r>
            <a:r>
              <a:rPr lang="en-US" altLang="zh-TW" sz="2000" spc="-145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aware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2A5D360-1FC7-0D51-CBC3-EF16158883F3}"/>
              </a:ext>
            </a:extLst>
          </p:cNvPr>
          <p:cNvSpPr txBox="1">
            <a:spLocks/>
          </p:cNvSpPr>
          <p:nvPr/>
        </p:nvSpPr>
        <p:spPr>
          <a:xfrm>
            <a:off x="490775" y="214039"/>
            <a:ext cx="15984219" cy="9233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777926" rtl="0" eaLnBrk="1" latinLnBrk="0" hangingPunct="1">
              <a:defRPr sz="3063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92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55852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33777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11703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89629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67555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45481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340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150" dirty="0">
                <a:solidFill>
                  <a:srgbClr val="082D4B"/>
                </a:solidFill>
                <a:latin typeface="Cambria"/>
                <a:ea typeface="+mj-ea"/>
              </a:rPr>
              <a:t>Experiment</a:t>
            </a:r>
            <a:r>
              <a:rPr lang="en-US" altLang="zh-TW" sz="6000" dirty="0">
                <a:ea typeface="+mj-lt"/>
              </a:rPr>
              <a:t> </a:t>
            </a:r>
            <a:r>
              <a:rPr lang="en-US" altLang="zh-TW" sz="4150" dirty="0">
                <a:solidFill>
                  <a:srgbClr val="082D4B"/>
                </a:solidFill>
                <a:latin typeface="Cambria"/>
                <a:ea typeface="+mj-ea"/>
              </a:rPr>
              <a:t>result</a:t>
            </a:r>
            <a:r>
              <a:rPr lang="en-US" altLang="zh-TW" sz="4800" dirty="0">
                <a:ea typeface="+mj-lt"/>
              </a:rPr>
              <a:t> </a:t>
            </a:r>
            <a:endParaRPr lang="zh-TW" sz="4800" dirty="0"/>
          </a:p>
        </p:txBody>
      </p:sp>
      <p:pic>
        <p:nvPicPr>
          <p:cNvPr id="4" name="圖片 3" descr="一張含有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E050FFF9-02FF-65E9-3FA8-7B3387CBE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7729" y="3397116"/>
            <a:ext cx="5450675" cy="380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28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610" y="7734858"/>
            <a:ext cx="15595600" cy="254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11223" y="6717268"/>
            <a:ext cx="15595600" cy="0"/>
          </a:xfrm>
          <a:custGeom>
            <a:avLst/>
            <a:gdLst/>
            <a:ahLst/>
            <a:cxnLst/>
            <a:rect l="l" t="t" r="r" b="b"/>
            <a:pathLst>
              <a:path w="15595600">
                <a:moveTo>
                  <a:pt x="0" y="0"/>
                </a:moveTo>
                <a:lnTo>
                  <a:pt x="15595600" y="0"/>
                </a:lnTo>
              </a:path>
            </a:pathLst>
          </a:custGeom>
          <a:ln w="38100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04333" y="6321028"/>
            <a:ext cx="15595600" cy="0"/>
          </a:xfrm>
          <a:custGeom>
            <a:avLst/>
            <a:gdLst/>
            <a:ahLst/>
            <a:cxnLst/>
            <a:rect l="l" t="t" r="r" b="b"/>
            <a:pathLst>
              <a:path w="15595600">
                <a:moveTo>
                  <a:pt x="0" y="0"/>
                </a:moveTo>
                <a:lnTo>
                  <a:pt x="15595600" y="0"/>
                </a:lnTo>
              </a:path>
            </a:pathLst>
          </a:custGeom>
          <a:ln w="25400">
            <a:solidFill>
              <a:srgbClr val="34343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33089"/>
              </p:ext>
            </p:extLst>
          </p:nvPr>
        </p:nvGraphicFramePr>
        <p:xfrm>
          <a:off x="754436" y="2622157"/>
          <a:ext cx="15598774" cy="2157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7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8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5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8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14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957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spc="-10" dirty="0">
                          <a:latin typeface="Trebuchet MS"/>
                          <a:cs typeface="Trebuchet MS"/>
                        </a:rPr>
                        <a:t>Method</a:t>
                      </a:r>
                      <a:endParaRPr sz="2600" dirty="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spc="-25">
                          <a:latin typeface="Trebuchet MS"/>
                          <a:cs typeface="Trebuchet MS"/>
                        </a:rPr>
                        <a:t>LFW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spc="-10">
                          <a:latin typeface="Trebuchet MS"/>
                          <a:cs typeface="Trebuchet MS"/>
                        </a:rPr>
                        <a:t>CFP-</a:t>
                      </a:r>
                      <a:r>
                        <a:rPr sz="2600" spc="-25">
                          <a:latin typeface="Trebuchet MS"/>
                          <a:cs typeface="Trebuchet MS"/>
                        </a:rPr>
                        <a:t>FP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spc="-25">
                          <a:latin typeface="Trebuchet MS"/>
                          <a:cs typeface="Trebuchet MS"/>
                        </a:rPr>
                        <a:t>AgeDB-30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spc="-40">
                          <a:latin typeface="Trebuchet MS"/>
                          <a:cs typeface="Trebuchet MS"/>
                        </a:rPr>
                        <a:t>CA-</a:t>
                      </a:r>
                      <a:r>
                        <a:rPr sz="2600" spc="-25">
                          <a:latin typeface="Trebuchet MS"/>
                          <a:cs typeface="Trebuchet MS"/>
                        </a:rPr>
                        <a:t>LFW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spc="-40">
                          <a:latin typeface="Trebuchet MS"/>
                          <a:cs typeface="Trebuchet MS"/>
                        </a:rPr>
                        <a:t>CP-</a:t>
                      </a:r>
                      <a:r>
                        <a:rPr sz="2600" spc="-25">
                          <a:latin typeface="Trebuchet MS"/>
                          <a:cs typeface="Trebuchet MS"/>
                        </a:rPr>
                        <a:t>LFW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IJBC</a:t>
                      </a:r>
                      <a:r>
                        <a:rPr sz="2600" spc="-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-130" dirty="0">
                          <a:latin typeface="Trebuchet MS"/>
                          <a:cs typeface="Trebuchet MS"/>
                        </a:rPr>
                        <a:t>(1e-</a:t>
                      </a:r>
                      <a:r>
                        <a:rPr sz="2600" spc="-25" dirty="0">
                          <a:latin typeface="Trebuchet MS"/>
                          <a:cs typeface="Trebuchet MS"/>
                        </a:rPr>
                        <a:t>4)</a:t>
                      </a:r>
                      <a:endParaRPr sz="2600" dirty="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dirty="0">
                          <a:latin typeface="Trebuchet MS"/>
                          <a:cs typeface="Trebuchet MS"/>
                        </a:rPr>
                        <a:t>IJBC</a:t>
                      </a:r>
                      <a:r>
                        <a:rPr sz="2600" spc="-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-140" dirty="0">
                          <a:latin typeface="Trebuchet MS"/>
                          <a:cs typeface="Trebuchet MS"/>
                        </a:rPr>
                        <a:t>(1e-</a:t>
                      </a:r>
                      <a:r>
                        <a:rPr sz="2600" spc="-25" dirty="0">
                          <a:latin typeface="Trebuchet MS"/>
                          <a:cs typeface="Trebuchet MS"/>
                        </a:rPr>
                        <a:t>5)</a:t>
                      </a:r>
                      <a:endParaRPr sz="2600" dirty="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95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600" spc="-25" dirty="0">
                          <a:latin typeface="Trebuchet MS"/>
                          <a:cs typeface="Trebuchet MS"/>
                        </a:rPr>
                        <a:t>Avg</a:t>
                      </a:r>
                      <a:endParaRPr sz="2600" dirty="0">
                        <a:latin typeface="Trebuchet MS"/>
                        <a:cs typeface="Trebuchet MS"/>
                      </a:endParaRPr>
                    </a:p>
                  </a:txBody>
                  <a:tcPr marL="0" marR="0" marT="50800" marB="0">
                    <a:lnT w="38100">
                      <a:solidFill>
                        <a:srgbClr val="212121"/>
                      </a:solidFill>
                      <a:prstDash val="solid"/>
                    </a:lnT>
                    <a:lnB w="28575">
                      <a:solidFill>
                        <a:srgbClr val="26262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65" dirty="0">
                          <a:latin typeface="Trebuchet MS"/>
                          <a:cs typeface="Trebuchet MS"/>
                        </a:rPr>
                        <a:t>Baseline</a:t>
                      </a:r>
                      <a:r>
                        <a:rPr sz="26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dirty="0">
                          <a:latin typeface="Trebuchet MS"/>
                          <a:cs typeface="Trebuchet MS"/>
                        </a:rPr>
                        <a:t>MFN</a:t>
                      </a:r>
                      <a:r>
                        <a:rPr sz="2600" spc="-1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-10" dirty="0">
                          <a:latin typeface="Trebuchet MS"/>
                          <a:cs typeface="Trebuchet MS"/>
                        </a:rPr>
                        <a:t>(Student)</a:t>
                      </a:r>
                      <a:endParaRPr sz="2600" dirty="0">
                        <a:latin typeface="Trebuchet MS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b="1" spc="-10" dirty="0">
                          <a:latin typeface="+mj-lt"/>
                          <a:cs typeface="Trebuchet MS"/>
                        </a:rPr>
                        <a:t>99.52</a:t>
                      </a:r>
                      <a:endParaRPr sz="2600" b="1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91.66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95.82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95.12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87.93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89.13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98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81.65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7305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91.83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7150" marB="0">
                    <a:lnT w="28575">
                      <a:solidFill>
                        <a:srgbClr val="26262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spc="-110">
                          <a:latin typeface="Trebuchet MS"/>
                          <a:cs typeface="Trebuchet MS"/>
                        </a:rPr>
                        <a:t>AdaDistill</a:t>
                      </a:r>
                      <a:r>
                        <a:rPr sz="2600" spc="2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135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2600" spc="-20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-10">
                          <a:latin typeface="Trebuchet MS"/>
                          <a:cs typeface="Trebuchet MS"/>
                        </a:rPr>
                        <a:t>ArcFace</a:t>
                      </a:r>
                      <a:endParaRPr sz="2600">
                        <a:latin typeface="Trebuchet MS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spc="-10">
                          <a:latin typeface="+mj-lt"/>
                          <a:cs typeface="Trebuchet MS"/>
                        </a:rPr>
                        <a:t>99.47</a:t>
                      </a:r>
                      <a:endParaRPr sz="260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b="1" spc="-10" dirty="0">
                          <a:latin typeface="+mj-lt"/>
                          <a:cs typeface="Trebuchet MS"/>
                        </a:rPr>
                        <a:t>95.14</a:t>
                      </a:r>
                      <a:endParaRPr sz="2600" b="1" dirty="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b="1" spc="-10" dirty="0">
                          <a:latin typeface="+mj-lt"/>
                          <a:cs typeface="Trebuchet MS"/>
                        </a:rPr>
                        <a:t>96.68</a:t>
                      </a:r>
                      <a:endParaRPr sz="2600" b="1" dirty="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b="1" spc="-10" dirty="0">
                          <a:latin typeface="+mj-lt"/>
                          <a:cs typeface="Trebuchet MS"/>
                        </a:rPr>
                        <a:t>95.50</a:t>
                      </a:r>
                      <a:endParaRPr sz="2600" b="1" dirty="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89.50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93.26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89.31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94.12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65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10" dirty="0" err="1">
                          <a:latin typeface="Trebuchet MS"/>
                          <a:cs typeface="Trebuchet MS"/>
                        </a:rPr>
                        <a:t>AdaDistill</a:t>
                      </a:r>
                      <a:r>
                        <a:rPr sz="26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135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2600" spc="-2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600" spc="-10" dirty="0" err="1">
                          <a:latin typeface="Trebuchet MS"/>
                          <a:cs typeface="Trebuchet MS"/>
                        </a:rPr>
                        <a:t>AdaFace</a:t>
                      </a:r>
                      <a:endParaRPr sz="2600" dirty="0">
                        <a:latin typeface="Trebuchet MS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99.5</a:t>
                      </a:r>
                      <a:r>
                        <a:rPr lang="en-US" sz="2600" spc="-10" dirty="0">
                          <a:latin typeface="+mj-lt"/>
                          <a:cs typeface="Trebuchet MS"/>
                        </a:rPr>
                        <a:t>0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95.</a:t>
                      </a:r>
                      <a:r>
                        <a:rPr lang="en-US" sz="2600" spc="-10" dirty="0">
                          <a:latin typeface="+mj-lt"/>
                          <a:cs typeface="Trebuchet MS"/>
                        </a:rPr>
                        <a:t>24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384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95.8</a:t>
                      </a:r>
                      <a:r>
                        <a:rPr lang="en-US" sz="2600" spc="-10" dirty="0">
                          <a:latin typeface="+mj-lt"/>
                          <a:cs typeface="Trebuchet MS"/>
                        </a:rPr>
                        <a:t>2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</a:t>
                      </a:r>
                      <a:r>
                        <a:rPr lang="en-US" sz="2600" spc="-10" dirty="0">
                          <a:latin typeface="+mj-lt"/>
                          <a:cs typeface="Trebuchet MS"/>
                        </a:rPr>
                        <a:t>4.92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en-US" sz="2600" spc="-10" dirty="0">
                          <a:latin typeface="+mj-lt"/>
                          <a:cs typeface="Trebuchet MS"/>
                        </a:rPr>
                        <a:t>89.73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0">
                          <a:latin typeface="+mj-lt"/>
                          <a:cs typeface="Trebuchet MS"/>
                        </a:rPr>
                        <a:t>93.82</a:t>
                      </a:r>
                      <a:endParaRPr sz="260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90.00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600" spc="-10" dirty="0">
                          <a:latin typeface="+mj-lt"/>
                          <a:cs typeface="Trebuchet MS"/>
                        </a:rPr>
                        <a:t>94.</a:t>
                      </a:r>
                      <a:r>
                        <a:rPr lang="en-US" sz="2600" spc="-10" dirty="0">
                          <a:latin typeface="+mj-lt"/>
                          <a:cs typeface="Trebuchet MS"/>
                        </a:rPr>
                        <a:t>15</a:t>
                      </a:r>
                      <a:endParaRPr sz="2600" dirty="0">
                        <a:latin typeface="+mj-lt"/>
                        <a:cs typeface="Trebuchet MS"/>
                      </a:endParaRPr>
                    </a:p>
                  </a:txBody>
                  <a:tcPr marL="0" marR="0" marT="59690" marB="0">
                    <a:lnB w="38100">
                      <a:solidFill>
                        <a:srgbClr val="18181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04333" y="137019"/>
            <a:ext cx="15008225" cy="750205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af-ZA" sz="4800" dirty="0">
                <a:solidFill>
                  <a:srgbClr val="0A2F54"/>
                </a:solidFill>
              </a:rPr>
              <a:t>Deeper</a:t>
            </a:r>
            <a:r>
              <a:rPr lang="af-ZA" sz="4800" spc="80" dirty="0">
                <a:solidFill>
                  <a:srgbClr val="0A2F54"/>
                </a:solidFill>
              </a:rPr>
              <a:t> </a:t>
            </a:r>
            <a:r>
              <a:rPr lang="af-ZA" sz="4800" spc="80" dirty="0">
                <a:solidFill>
                  <a:srgbClr val="07284B"/>
                </a:solidFill>
              </a:rPr>
              <a:t>Dive:</a:t>
            </a:r>
            <a:r>
              <a:rPr lang="af-ZA" sz="4800" spc="-125" dirty="0">
                <a:solidFill>
                  <a:srgbClr val="07284B"/>
                </a:solidFill>
              </a:rPr>
              <a:t> </a:t>
            </a:r>
            <a:r>
              <a:rPr lang="af-ZA" sz="4800" dirty="0">
                <a:solidFill>
                  <a:srgbClr val="072D54"/>
                </a:solidFill>
              </a:rPr>
              <a:t>Benchmarking</a:t>
            </a:r>
            <a:r>
              <a:rPr lang="af-ZA" sz="4800" spc="470" dirty="0">
                <a:solidFill>
                  <a:srgbClr val="072D54"/>
                </a:solidFill>
              </a:rPr>
              <a:t> </a:t>
            </a:r>
            <a:r>
              <a:rPr lang="af-ZA" sz="4800" dirty="0">
                <a:solidFill>
                  <a:srgbClr val="052D4D"/>
                </a:solidFill>
              </a:rPr>
              <a:t>Against</a:t>
            </a:r>
            <a:r>
              <a:rPr lang="af-ZA" sz="4800" spc="335" dirty="0">
                <a:solidFill>
                  <a:srgbClr val="052D4D"/>
                </a:solidFill>
              </a:rPr>
              <a:t> </a:t>
            </a:r>
            <a:r>
              <a:rPr lang="af-ZA" sz="4800" dirty="0">
                <a:solidFill>
                  <a:srgbClr val="052848"/>
                </a:solidFill>
              </a:rPr>
              <a:t>a</a:t>
            </a:r>
            <a:r>
              <a:rPr lang="af-ZA" sz="4800" spc="-155" dirty="0">
                <a:solidFill>
                  <a:srgbClr val="052848"/>
                </a:solidFill>
              </a:rPr>
              <a:t> </a:t>
            </a:r>
            <a:r>
              <a:rPr lang="af-ZA" sz="4800" dirty="0">
                <a:solidFill>
                  <a:srgbClr val="052B50"/>
                </a:solidFill>
              </a:rPr>
              <a:t>Strong</a:t>
            </a:r>
            <a:r>
              <a:rPr lang="af-ZA" sz="4800" spc="210" dirty="0">
                <a:solidFill>
                  <a:srgbClr val="052B50"/>
                </a:solidFill>
              </a:rPr>
              <a:t> </a:t>
            </a:r>
            <a:r>
              <a:rPr lang="af-ZA" sz="4800" spc="-10" dirty="0">
                <a:solidFill>
                  <a:srgbClr val="072D54"/>
                </a:solidFill>
              </a:rPr>
              <a:t>Alternative</a:t>
            </a:r>
            <a:endParaRPr lang="af-ZA" altLang="zh-TW" sz="4800" dirty="0"/>
          </a:p>
        </p:txBody>
      </p:sp>
      <p:sp>
        <p:nvSpPr>
          <p:cNvPr id="7" name="object 7"/>
          <p:cNvSpPr txBox="1"/>
          <p:nvPr/>
        </p:nvSpPr>
        <p:spPr>
          <a:xfrm>
            <a:off x="804333" y="817519"/>
            <a:ext cx="14711680" cy="1782445"/>
          </a:xfrm>
          <a:prstGeom prst="rect">
            <a:avLst/>
          </a:prstGeom>
        </p:spPr>
        <p:txBody>
          <a:bodyPr vert="horz" wrap="square" lIns="0" tIns="59055" rIns="0" bIns="0" rtlCol="0" anchor="t">
            <a:spAutoFit/>
          </a:bodyPr>
          <a:lstStyle/>
          <a:p>
            <a:pPr marL="12700" marR="5080" indent="8255">
              <a:lnSpc>
                <a:spcPts val="3100"/>
              </a:lnSpc>
              <a:spcBef>
                <a:spcPts val="465"/>
              </a:spcBef>
            </a:pPr>
            <a:r>
              <a:rPr sz="2850" spc="-100" dirty="0">
                <a:latin typeface="Trebuchet MS"/>
                <a:cs typeface="Trebuchet MS"/>
              </a:rPr>
              <a:t>We</a:t>
            </a:r>
            <a:r>
              <a:rPr sz="2850" spc="-120" dirty="0">
                <a:latin typeface="Trebuchet MS"/>
                <a:cs typeface="Trebuchet MS"/>
              </a:rPr>
              <a:t> </a:t>
            </a:r>
            <a:r>
              <a:rPr sz="2850" spc="-90" dirty="0">
                <a:latin typeface="Trebuchet MS"/>
                <a:cs typeface="Trebuchet MS"/>
              </a:rPr>
              <a:t>compare</a:t>
            </a:r>
            <a:r>
              <a:rPr sz="2850" spc="-125" dirty="0">
                <a:latin typeface="Trebuchet MS"/>
                <a:cs typeface="Trebuchet MS"/>
              </a:rPr>
              <a:t> </a:t>
            </a:r>
            <a:r>
              <a:rPr sz="2850" spc="-100" dirty="0">
                <a:latin typeface="Trebuchet MS"/>
                <a:cs typeface="Trebuchet MS"/>
              </a:rPr>
              <a:t>our</a:t>
            </a:r>
            <a:r>
              <a:rPr sz="2850" spc="-114" dirty="0">
                <a:latin typeface="Trebuchet MS"/>
                <a:cs typeface="Trebuchet MS"/>
              </a:rPr>
              <a:t> </a:t>
            </a:r>
            <a:r>
              <a:rPr sz="2850" spc="-80" dirty="0">
                <a:latin typeface="Trebuchet MS"/>
                <a:cs typeface="Trebuchet MS"/>
              </a:rPr>
              <a:t>method</a:t>
            </a:r>
            <a:r>
              <a:rPr sz="2850" spc="-75" dirty="0">
                <a:latin typeface="Trebuchet MS"/>
                <a:cs typeface="Trebuchet MS"/>
              </a:rPr>
              <a:t> </a:t>
            </a:r>
            <a:r>
              <a:rPr sz="2850" dirty="0">
                <a:latin typeface="Trebuchet MS"/>
                <a:cs typeface="Trebuchet MS"/>
              </a:rPr>
              <a:t>(AdaD1sti1l</a:t>
            </a:r>
            <a:r>
              <a:rPr sz="2850" spc="210" dirty="0">
                <a:latin typeface="Trebuchet MS"/>
                <a:cs typeface="Trebuchet MS"/>
              </a:rPr>
              <a:t> </a:t>
            </a:r>
            <a:r>
              <a:rPr sz="2850" spc="135" dirty="0">
                <a:latin typeface="Trebuchet MS"/>
                <a:cs typeface="Trebuchet MS"/>
              </a:rPr>
              <a:t>+</a:t>
            </a:r>
            <a:r>
              <a:rPr sz="2850" spc="-45" dirty="0">
                <a:latin typeface="Trebuchet MS"/>
                <a:cs typeface="Trebuchet MS"/>
              </a:rPr>
              <a:t> </a:t>
            </a:r>
            <a:r>
              <a:rPr sz="2850" spc="-170" dirty="0" err="1">
                <a:latin typeface="Trebuchet MS"/>
                <a:cs typeface="Trebuchet MS"/>
              </a:rPr>
              <a:t>AdaFace</a:t>
            </a:r>
            <a:r>
              <a:rPr sz="2850" spc="-170" dirty="0">
                <a:latin typeface="Trebuchet MS"/>
                <a:cs typeface="Trebuchet MS"/>
              </a:rPr>
              <a:t>)</a:t>
            </a:r>
            <a:r>
              <a:rPr sz="2850" spc="75" dirty="0">
                <a:latin typeface="Trebuchet MS"/>
                <a:cs typeface="Trebuchet MS"/>
              </a:rPr>
              <a:t> </a:t>
            </a:r>
            <a:r>
              <a:rPr sz="2850" spc="-55" dirty="0">
                <a:latin typeface="Trebuchet MS"/>
                <a:cs typeface="Trebuchet MS"/>
              </a:rPr>
              <a:t>against</a:t>
            </a:r>
            <a:r>
              <a:rPr sz="2850" spc="-75" dirty="0">
                <a:latin typeface="Trebuchet MS"/>
                <a:cs typeface="Trebuchet MS"/>
              </a:rPr>
              <a:t> </a:t>
            </a:r>
            <a:r>
              <a:rPr sz="2850" spc="-110" dirty="0">
                <a:latin typeface="Trebuchet MS"/>
                <a:cs typeface="Trebuchet MS"/>
              </a:rPr>
              <a:t>the</a:t>
            </a:r>
            <a:r>
              <a:rPr sz="2850" spc="-105" dirty="0">
                <a:latin typeface="Trebuchet MS"/>
                <a:cs typeface="Trebuchet MS"/>
              </a:rPr>
              <a:t> </a:t>
            </a:r>
            <a:r>
              <a:rPr sz="2850" spc="-85" dirty="0">
                <a:latin typeface="Trebuchet MS"/>
                <a:cs typeface="Trebuchet MS"/>
              </a:rPr>
              <a:t>baseline</a:t>
            </a:r>
            <a:r>
              <a:rPr sz="2850" spc="-70" dirty="0">
                <a:latin typeface="Trebuchet MS"/>
                <a:cs typeface="Trebuchet MS"/>
              </a:rPr>
              <a:t> </a:t>
            </a:r>
            <a:r>
              <a:rPr sz="2850" spc="-80" dirty="0">
                <a:latin typeface="Trebuchet MS"/>
                <a:cs typeface="Trebuchet MS"/>
              </a:rPr>
              <a:t>student</a:t>
            </a:r>
            <a:r>
              <a:rPr sz="2850" spc="-60" dirty="0">
                <a:latin typeface="Trebuchet MS"/>
                <a:cs typeface="Trebuchet MS"/>
              </a:rPr>
              <a:t> </a:t>
            </a:r>
            <a:r>
              <a:rPr sz="2850" dirty="0">
                <a:latin typeface="Trebuchet MS"/>
                <a:cs typeface="Trebuchet MS"/>
              </a:rPr>
              <a:t>and</a:t>
            </a:r>
            <a:r>
              <a:rPr sz="2850" spc="660" dirty="0">
                <a:latin typeface="Trebuchet MS"/>
                <a:cs typeface="Trebuchet MS"/>
              </a:rPr>
              <a:t> </a:t>
            </a:r>
            <a:r>
              <a:rPr lang="af-ZA" sz="2850" spc="660" dirty="0">
                <a:latin typeface="Trebuchet MS"/>
                <a:cs typeface="Trebuchet MS"/>
              </a:rPr>
              <a:t>'</a:t>
            </a:r>
            <a:r>
              <a:rPr lang="af-ZA" sz="2850" spc="114" dirty="0">
                <a:latin typeface="Trebuchet MS"/>
                <a:cs typeface="Trebuchet MS"/>
              </a:rPr>
              <a:t>AdaDistill'</a:t>
            </a:r>
            <a:r>
              <a:rPr sz="2850" spc="114" dirty="0">
                <a:latin typeface="Trebuchet MS"/>
                <a:cs typeface="Trebuchet MS"/>
              </a:rPr>
              <a:t> </a:t>
            </a:r>
            <a:r>
              <a:rPr sz="2850" spc="-90" dirty="0">
                <a:latin typeface="Trebuchet MS"/>
                <a:cs typeface="Trebuchet MS"/>
              </a:rPr>
              <a:t>paired</a:t>
            </a:r>
            <a:r>
              <a:rPr sz="2850" spc="-40" dirty="0">
                <a:latin typeface="Trebuchet MS"/>
                <a:cs typeface="Trebuchet MS"/>
              </a:rPr>
              <a:t> </a:t>
            </a:r>
            <a:r>
              <a:rPr sz="2850" spc="-180" dirty="0">
                <a:latin typeface="Trebuchet MS"/>
                <a:cs typeface="Trebuchet MS"/>
              </a:rPr>
              <a:t>with</a:t>
            </a:r>
            <a:r>
              <a:rPr sz="2850" spc="-150" dirty="0">
                <a:latin typeface="Trebuchet MS"/>
                <a:cs typeface="Trebuchet MS"/>
              </a:rPr>
              <a:t> </a:t>
            </a:r>
            <a:r>
              <a:rPr sz="2850" spc="-65" dirty="0">
                <a:latin typeface="Trebuchet MS"/>
                <a:cs typeface="Trebuchet MS"/>
              </a:rPr>
              <a:t>the</a:t>
            </a:r>
            <a:r>
              <a:rPr sz="2850" spc="-140" dirty="0">
                <a:latin typeface="Trebuchet MS"/>
                <a:cs typeface="Trebuchet MS"/>
              </a:rPr>
              <a:t> </a:t>
            </a:r>
            <a:r>
              <a:rPr sz="2850" spc="-95" dirty="0">
                <a:latin typeface="Trebuchet MS"/>
                <a:cs typeface="Trebuchet MS"/>
              </a:rPr>
              <a:t>standard </a:t>
            </a:r>
            <a:r>
              <a:rPr lang="af-ZA" sz="2850" spc="-95" dirty="0">
                <a:latin typeface="Trebuchet MS"/>
                <a:cs typeface="Trebuchet MS"/>
              </a:rPr>
              <a:t>'</a:t>
            </a:r>
            <a:r>
              <a:rPr lang="af-ZA" sz="2850" spc="-90" dirty="0">
                <a:latin typeface="Trebuchet MS"/>
                <a:cs typeface="Trebuchet MS"/>
              </a:rPr>
              <a:t>ArcFace'</a:t>
            </a:r>
            <a:r>
              <a:rPr sz="2850" spc="-45" dirty="0">
                <a:latin typeface="Trebuchet MS"/>
                <a:cs typeface="Trebuchet MS"/>
              </a:rPr>
              <a:t> </a:t>
            </a:r>
            <a:r>
              <a:rPr sz="2850" spc="-10" dirty="0">
                <a:latin typeface="Trebuchet MS"/>
                <a:cs typeface="Trebuchet MS"/>
              </a:rPr>
              <a:t>loss.</a:t>
            </a:r>
            <a:endParaRPr sz="2850" dirty="0">
              <a:latin typeface="Trebuchet MS"/>
              <a:cs typeface="Trebuchet MS"/>
            </a:endParaRPr>
          </a:p>
          <a:p>
            <a:pPr marL="28575">
              <a:lnSpc>
                <a:spcPct val="100000"/>
              </a:lnSpc>
              <a:spcBef>
                <a:spcPts val="2880"/>
              </a:spcBef>
            </a:pPr>
            <a:r>
              <a:rPr sz="3650" b="1" dirty="0">
                <a:latin typeface="Times New Roman"/>
                <a:cs typeface="Times New Roman"/>
              </a:rPr>
              <a:t>Performance</a:t>
            </a:r>
            <a:r>
              <a:rPr sz="3650" b="1" spc="204" dirty="0">
                <a:latin typeface="Times New Roman"/>
                <a:cs typeface="Times New Roman"/>
              </a:rPr>
              <a:t> </a:t>
            </a:r>
            <a:r>
              <a:rPr sz="3650" b="1" spc="50" dirty="0">
                <a:latin typeface="Times New Roman"/>
                <a:cs typeface="Times New Roman"/>
              </a:rPr>
              <a:t>on</a:t>
            </a:r>
            <a:r>
              <a:rPr sz="3650" b="1" spc="125" dirty="0">
                <a:latin typeface="Times New Roman"/>
                <a:cs typeface="Times New Roman"/>
              </a:rPr>
              <a:t> </a:t>
            </a:r>
            <a:r>
              <a:rPr sz="3650" b="1" dirty="0">
                <a:latin typeface="Times New Roman"/>
                <a:cs typeface="Times New Roman"/>
              </a:rPr>
              <a:t>General</a:t>
            </a:r>
            <a:r>
              <a:rPr sz="3650" b="1" spc="265" dirty="0">
                <a:latin typeface="Times New Roman"/>
                <a:cs typeface="Times New Roman"/>
              </a:rPr>
              <a:t> </a:t>
            </a:r>
            <a:r>
              <a:rPr sz="3650" b="1" spc="-10" dirty="0">
                <a:latin typeface="Times New Roman"/>
                <a:cs typeface="Times New Roman"/>
              </a:rPr>
              <a:t>Benchmarks</a:t>
            </a:r>
            <a:endParaRPr sz="3650" b="1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7843" y="5641595"/>
            <a:ext cx="9720783" cy="600164"/>
          </a:xfrm>
          <a:prstGeom prst="rect">
            <a:avLst/>
          </a:prstGeom>
        </p:spPr>
        <p:txBody>
          <a:bodyPr vert="horz" wrap="square" lIns="0" tIns="1524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b="1" spc="-30" dirty="0">
                <a:latin typeface="Times New Roman"/>
                <a:cs typeface="Times New Roman"/>
              </a:rPr>
              <a:t>Performance</a:t>
            </a:r>
            <a:r>
              <a:rPr sz="3800" b="1" spc="-40" dirty="0">
                <a:latin typeface="Times New Roman"/>
                <a:cs typeface="Times New Roman"/>
              </a:rPr>
              <a:t> </a:t>
            </a:r>
            <a:r>
              <a:rPr sz="3800" b="1" dirty="0">
                <a:latin typeface="Times New Roman"/>
                <a:cs typeface="Times New Roman"/>
              </a:rPr>
              <a:t>on</a:t>
            </a:r>
            <a:r>
              <a:rPr sz="3800" b="1" spc="-240" dirty="0">
                <a:latin typeface="Times New Roman"/>
                <a:cs typeface="Times New Roman"/>
              </a:rPr>
              <a:t> </a:t>
            </a:r>
            <a:r>
              <a:rPr sz="3800" b="1" spc="-65" dirty="0" err="1">
                <a:latin typeface="Times New Roman"/>
                <a:cs typeface="Times New Roman"/>
              </a:rPr>
              <a:t>TinyFace</a:t>
            </a:r>
            <a:r>
              <a:rPr sz="3800" b="1" spc="45" dirty="0">
                <a:latin typeface="Times New Roman"/>
                <a:cs typeface="Times New Roman"/>
              </a:rPr>
              <a:t> </a:t>
            </a:r>
            <a:r>
              <a:rPr sz="3800" b="1" spc="-65" dirty="0">
                <a:latin typeface="Times New Roman"/>
                <a:cs typeface="Times New Roman"/>
              </a:rPr>
              <a:t>(Low-</a:t>
            </a:r>
            <a:r>
              <a:rPr sz="3800" b="1" spc="-10" dirty="0">
                <a:latin typeface="Times New Roman"/>
                <a:cs typeface="Times New Roman"/>
              </a:rPr>
              <a:t>Resolution)</a:t>
            </a:r>
            <a:endParaRPr sz="3800" b="1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1223" y="6603461"/>
            <a:ext cx="2904490" cy="1106805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500" spc="-55" dirty="0" err="1">
                <a:latin typeface="Trebuchet MS"/>
                <a:cs typeface="Trebuchet MS"/>
              </a:rPr>
              <a:t>AdaDistill</a:t>
            </a:r>
            <a:r>
              <a:rPr sz="2500" spc="-25" dirty="0">
                <a:latin typeface="Trebuchet MS"/>
                <a:cs typeface="Trebuchet MS"/>
              </a:rPr>
              <a:t> </a:t>
            </a:r>
            <a:r>
              <a:rPr sz="2500" dirty="0">
                <a:latin typeface="Trebuchet MS"/>
                <a:cs typeface="Trebuchet MS"/>
              </a:rPr>
              <a:t>+</a:t>
            </a:r>
            <a:r>
              <a:rPr sz="2500" spc="-5" dirty="0">
                <a:latin typeface="Trebuchet MS"/>
                <a:cs typeface="Trebuchet MS"/>
              </a:rPr>
              <a:t> </a:t>
            </a:r>
            <a:r>
              <a:rPr sz="2500" spc="-10" dirty="0" err="1">
                <a:latin typeface="Trebuchet MS"/>
                <a:cs typeface="Trebuchet MS"/>
              </a:rPr>
              <a:t>ArcFace</a:t>
            </a:r>
            <a:endParaRPr sz="2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550" spc="-45" dirty="0" err="1">
                <a:latin typeface="Trebuchet MS"/>
                <a:cs typeface="Trebuchet MS"/>
              </a:rPr>
              <a:t>AdaDistill</a:t>
            </a:r>
            <a:r>
              <a:rPr sz="2550" spc="2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+</a:t>
            </a:r>
            <a:r>
              <a:rPr sz="2550" spc="-190" dirty="0">
                <a:latin typeface="Trebuchet MS"/>
                <a:cs typeface="Trebuchet MS"/>
              </a:rPr>
              <a:t> </a:t>
            </a:r>
            <a:r>
              <a:rPr sz="2550" spc="-10" dirty="0" err="1">
                <a:latin typeface="Trebuchet MS"/>
                <a:cs typeface="Trebuchet MS"/>
              </a:rPr>
              <a:t>AdaFace</a:t>
            </a:r>
            <a:endParaRPr sz="255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7843" y="6321028"/>
            <a:ext cx="880427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7200900" algn="l"/>
              </a:tabLst>
            </a:pPr>
            <a:r>
              <a:rPr sz="2400" spc="-10" dirty="0">
                <a:latin typeface="Trebuchet MS"/>
                <a:cs typeface="Trebuchet MS"/>
              </a:rPr>
              <a:t>Method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3600" baseline="1157" dirty="0" err="1">
                <a:latin typeface="Trebuchet MS"/>
                <a:cs typeface="Trebuchet MS"/>
              </a:rPr>
              <a:t>Tinyface</a:t>
            </a:r>
            <a:r>
              <a:rPr sz="3600" spc="-247" baseline="1157" dirty="0">
                <a:latin typeface="Trebuchet MS"/>
                <a:cs typeface="Trebuchet MS"/>
              </a:rPr>
              <a:t> </a:t>
            </a:r>
            <a:r>
              <a:rPr sz="3600" spc="-37" baseline="1157" dirty="0">
                <a:latin typeface="Trebuchet MS"/>
                <a:cs typeface="Trebuchet MS"/>
              </a:rPr>
              <a:t>R1</a:t>
            </a:r>
            <a:endParaRPr sz="3600" baseline="1157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11838" y="6599018"/>
            <a:ext cx="1040129" cy="1115690"/>
          </a:xfrm>
          <a:prstGeom prst="rect">
            <a:avLst/>
          </a:prstGeom>
        </p:spPr>
        <p:txBody>
          <a:bodyPr vert="horz" wrap="square" lIns="0" tIns="177800" rIns="0" bIns="0" rtlCol="0" anchor="t">
            <a:spAutoFit/>
          </a:bodyPr>
          <a:lstStyle/>
          <a:p>
            <a:pPr marL="76200">
              <a:lnSpc>
                <a:spcPct val="100000"/>
              </a:lnSpc>
              <a:spcBef>
                <a:spcPts val="1400"/>
              </a:spcBef>
            </a:pPr>
            <a:r>
              <a:rPr sz="2500" spc="-20" dirty="0">
                <a:latin typeface="+mj-lt"/>
                <a:cs typeface="Trebuchet MS"/>
              </a:rPr>
              <a:t>57.21</a:t>
            </a:r>
            <a:endParaRPr sz="2500" dirty="0">
              <a:latin typeface="+mj-lt"/>
              <a:cs typeface="Trebuchet MS"/>
            </a:endParaRPr>
          </a:p>
          <a:p>
            <a:pPr marL="12700">
              <a:spcBef>
                <a:spcPts val="1300"/>
              </a:spcBef>
            </a:pPr>
            <a:r>
              <a:rPr lang="en-US" sz="2500" spc="-10" dirty="0">
                <a:latin typeface="+mj-lt"/>
                <a:cs typeface="Trebuchet MS"/>
              </a:rPr>
              <a:t> </a:t>
            </a:r>
            <a:r>
              <a:rPr sz="2500" spc="-10" dirty="0">
                <a:latin typeface="+mj-lt"/>
                <a:cs typeface="Trebuchet MS"/>
              </a:rPr>
              <a:t>58.69</a:t>
            </a:r>
            <a:r>
              <a:rPr lang="en-US" sz="2500" spc="-10" dirty="0">
                <a:latin typeface="+mj-lt"/>
                <a:cs typeface="Trebuchet MS"/>
              </a:rPr>
              <a:t> </a:t>
            </a:r>
            <a:endParaRPr sz="2500" dirty="0">
              <a:latin typeface="+mj-lt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302302" y="6290718"/>
            <a:ext cx="164211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55" dirty="0" err="1">
                <a:latin typeface="Trebuchet MS"/>
                <a:cs typeface="Trebuchet MS"/>
              </a:rPr>
              <a:t>Tinyface</a:t>
            </a:r>
            <a:r>
              <a:rPr sz="2500" spc="-125" dirty="0">
                <a:latin typeface="Trebuchet MS"/>
                <a:cs typeface="Trebuchet MS"/>
              </a:rPr>
              <a:t> </a:t>
            </a:r>
            <a:r>
              <a:rPr sz="2500" spc="25" dirty="0">
                <a:latin typeface="Trebuchet MS"/>
                <a:cs typeface="Trebuchet MS"/>
              </a:rPr>
              <a:t>R5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03292" y="6606120"/>
            <a:ext cx="1040129" cy="1115690"/>
          </a:xfrm>
          <a:prstGeom prst="rect">
            <a:avLst/>
          </a:prstGeom>
        </p:spPr>
        <p:txBody>
          <a:bodyPr vert="horz" wrap="square" lIns="0" tIns="17780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400"/>
              </a:spcBef>
            </a:pPr>
            <a:r>
              <a:rPr sz="2500" spc="-30" dirty="0">
                <a:latin typeface="+mj-lt"/>
                <a:cs typeface="Trebuchet MS"/>
              </a:rPr>
              <a:t>63.1</a:t>
            </a:r>
            <a:r>
              <a:rPr lang="en-US" sz="2500" spc="-30" dirty="0">
                <a:latin typeface="+mj-lt"/>
                <a:cs typeface="Trebuchet MS"/>
              </a:rPr>
              <a:t>2</a:t>
            </a:r>
            <a:endParaRPr sz="2500" dirty="0">
              <a:latin typeface="+mj-lt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lang="en-US" sz="2500" spc="55" dirty="0">
                <a:latin typeface="+mj-lt"/>
                <a:cs typeface="Trebuchet MS"/>
              </a:rPr>
              <a:t> </a:t>
            </a:r>
            <a:r>
              <a:rPr sz="2500" spc="55" dirty="0">
                <a:latin typeface="+mj-lt"/>
                <a:cs typeface="Trebuchet MS"/>
              </a:rPr>
              <a:t>64.0</a:t>
            </a:r>
            <a:r>
              <a:rPr lang="en-US" sz="2500" spc="55" dirty="0">
                <a:latin typeface="+mj-lt"/>
                <a:cs typeface="Trebuchet MS"/>
              </a:rPr>
              <a:t>3</a:t>
            </a:r>
            <a:endParaRPr sz="2500" dirty="0">
              <a:latin typeface="+mj-lt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3881" y="8846341"/>
            <a:ext cx="14927580" cy="84264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7145" marR="5080" indent="-5080">
              <a:lnSpc>
                <a:spcPts val="3100"/>
              </a:lnSpc>
              <a:spcBef>
                <a:spcPts val="395"/>
              </a:spcBef>
            </a:pPr>
            <a:r>
              <a:rPr sz="2750" spc="-10" dirty="0">
                <a:latin typeface="Arial"/>
                <a:cs typeface="Arial"/>
              </a:rPr>
              <a:t>Our</a:t>
            </a:r>
            <a:r>
              <a:rPr sz="2750" spc="1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integrated</a:t>
            </a:r>
            <a:r>
              <a:rPr sz="2750" spc="105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approach</a:t>
            </a:r>
            <a:r>
              <a:rPr sz="2750" spc="14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consistently</a:t>
            </a:r>
            <a:r>
              <a:rPr sz="2750" spc="21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outperforms</a:t>
            </a:r>
            <a:r>
              <a:rPr sz="2750" spc="20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both</a:t>
            </a:r>
            <a:r>
              <a:rPr sz="2750" spc="4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5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standalone</a:t>
            </a:r>
            <a:r>
              <a:rPr sz="2750" spc="9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student</a:t>
            </a:r>
            <a:r>
              <a:rPr sz="2750" spc="14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and</a:t>
            </a:r>
            <a:r>
              <a:rPr sz="2750" spc="3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the</a:t>
            </a:r>
            <a:r>
              <a:rPr sz="2750" spc="-55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standard </a:t>
            </a:r>
            <a:r>
              <a:rPr sz="2750" dirty="0">
                <a:latin typeface="Arial"/>
                <a:cs typeface="Arial"/>
              </a:rPr>
              <a:t>distillation</a:t>
            </a:r>
            <a:r>
              <a:rPr sz="2750" spc="4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method,</a:t>
            </a:r>
            <a:r>
              <a:rPr sz="2750" spc="1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achieving</a:t>
            </a:r>
            <a:r>
              <a:rPr sz="2750" spc="15" dirty="0">
                <a:latin typeface="Arial"/>
                <a:cs typeface="Arial"/>
              </a:rPr>
              <a:t> </a:t>
            </a:r>
            <a:r>
              <a:rPr sz="2750" spc="60" dirty="0">
                <a:latin typeface="Arial"/>
                <a:cs typeface="Arial"/>
              </a:rPr>
              <a:t>the</a:t>
            </a:r>
            <a:r>
              <a:rPr sz="2750" spc="-18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highest</a:t>
            </a:r>
            <a:r>
              <a:rPr sz="2750" spc="65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average</a:t>
            </a:r>
            <a:r>
              <a:rPr sz="2750" spc="30" dirty="0">
                <a:latin typeface="Arial"/>
                <a:cs typeface="Arial"/>
              </a:rPr>
              <a:t> </a:t>
            </a:r>
            <a:r>
              <a:rPr sz="2750" spc="-10" dirty="0">
                <a:latin typeface="Arial"/>
                <a:cs typeface="Arial"/>
              </a:rPr>
              <a:t>performance.</a:t>
            </a:r>
            <a:endParaRPr sz="2750" dirty="0">
              <a:latin typeface="Arial"/>
              <a:cs typeface="Arial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7EBEE4B-EE33-4A45-A214-05750E4D4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0274" y="9431774"/>
            <a:ext cx="1133633" cy="257211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421FE1DB-8B3F-503D-1E6C-9F7BE10DE6B3}"/>
              </a:ext>
            </a:extLst>
          </p:cNvPr>
          <p:cNvSpPr txBox="1"/>
          <p:nvPr/>
        </p:nvSpPr>
        <p:spPr>
          <a:xfrm>
            <a:off x="654099" y="4742881"/>
            <a:ext cx="159740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">
              <a:lnSpc>
                <a:spcPct val="100000"/>
              </a:lnSpc>
              <a:spcBef>
                <a:spcPts val="470"/>
              </a:spcBef>
            </a:pPr>
            <a:r>
              <a:rPr lang="en-US" altLang="zh-TW" sz="2400" spc="-110" dirty="0" err="1">
                <a:latin typeface="Trebuchet MS"/>
                <a:cs typeface="Trebuchet MS"/>
              </a:rPr>
              <a:t>AdaDistill</a:t>
            </a:r>
            <a:r>
              <a:rPr lang="en-US" altLang="zh-TW" sz="2400" spc="20" dirty="0">
                <a:latin typeface="Trebuchet MS"/>
                <a:cs typeface="Trebuchet MS"/>
              </a:rPr>
              <a:t> </a:t>
            </a:r>
            <a:r>
              <a:rPr lang="en-US" altLang="zh-TW" sz="2400" spc="135" dirty="0">
                <a:latin typeface="Trebuchet MS"/>
                <a:cs typeface="Trebuchet MS"/>
              </a:rPr>
              <a:t>+</a:t>
            </a:r>
            <a:r>
              <a:rPr lang="en-US" altLang="zh-TW" sz="2400" spc="-200" dirty="0">
                <a:latin typeface="Trebuchet MS"/>
                <a:cs typeface="Trebuchet MS"/>
              </a:rPr>
              <a:t> </a:t>
            </a:r>
            <a:r>
              <a:rPr lang="en-US" altLang="zh-TW" sz="2400" spc="-10" dirty="0" err="1">
                <a:latin typeface="Trebuchet MS"/>
                <a:cs typeface="Trebuchet MS"/>
              </a:rPr>
              <a:t>AdaFace</a:t>
            </a:r>
            <a:r>
              <a:rPr lang="en-US" altLang="zh-TW" sz="2400" spc="-10" dirty="0">
                <a:solidFill>
                  <a:schemeClr val="tx1"/>
                </a:solidFill>
                <a:latin typeface="Trebuchet MS"/>
                <a:cs typeface="Trebuchet MS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Geo)</a:t>
            </a:r>
            <a:r>
              <a:rPr lang="zh-TW" altLang="en-US" sz="2400" dirty="0">
                <a:solidFill>
                  <a:schemeClr val="tx1"/>
                </a:solidFill>
                <a:latin typeface="Cambria"/>
                <a:cs typeface="Cambria"/>
              </a:rPr>
              <a:t>     </a:t>
            </a:r>
            <a:r>
              <a:rPr lang="en-US" altLang="zh-TW" sz="2400" dirty="0">
                <a:solidFill>
                  <a:schemeClr val="tx1"/>
                </a:solidFill>
                <a:latin typeface="+mj-lt"/>
                <a:cs typeface="Cambria"/>
              </a:rPr>
              <a:t>99.50          94.33             96.07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           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95.23            89.83     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   93.77      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     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90.17    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   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94.13    </a:t>
            </a:r>
            <a:endParaRPr lang="en-US" altLang="zh-TW" sz="2400" dirty="0">
              <a:solidFill>
                <a:schemeClr val="tx1"/>
              </a:solidFill>
              <a:latin typeface="+mj-lt"/>
              <a:cs typeface="Trebuchet MS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5FA08A3-68B0-18BD-C475-8676F77766F4}"/>
              </a:ext>
            </a:extLst>
          </p:cNvPr>
          <p:cNvSpPr txBox="1"/>
          <p:nvPr/>
        </p:nvSpPr>
        <p:spPr>
          <a:xfrm>
            <a:off x="654100" y="7708326"/>
            <a:ext cx="15498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">
              <a:lnSpc>
                <a:spcPct val="100000"/>
              </a:lnSpc>
              <a:spcBef>
                <a:spcPts val="470"/>
              </a:spcBef>
            </a:pPr>
            <a:r>
              <a:rPr lang="en-US" altLang="zh-TW" sz="2400" spc="-110" dirty="0" err="1">
                <a:latin typeface="Trebuchet MS"/>
                <a:cs typeface="Trebuchet MS"/>
              </a:rPr>
              <a:t>AdaDistill</a:t>
            </a:r>
            <a:r>
              <a:rPr lang="en-US" altLang="zh-TW" sz="2400" spc="20" dirty="0">
                <a:latin typeface="Trebuchet MS"/>
                <a:cs typeface="Trebuchet MS"/>
              </a:rPr>
              <a:t> </a:t>
            </a:r>
            <a:r>
              <a:rPr lang="en-US" altLang="zh-TW" sz="2400" spc="135" dirty="0">
                <a:latin typeface="Trebuchet MS"/>
                <a:cs typeface="Trebuchet MS"/>
              </a:rPr>
              <a:t>+</a:t>
            </a:r>
            <a:r>
              <a:rPr lang="en-US" altLang="zh-TW" sz="2400" spc="-200" dirty="0">
                <a:latin typeface="Trebuchet MS"/>
                <a:cs typeface="Trebuchet MS"/>
              </a:rPr>
              <a:t> </a:t>
            </a:r>
            <a:r>
              <a:rPr lang="en-US" altLang="zh-TW" sz="2400" spc="-10" dirty="0" err="1">
                <a:latin typeface="Trebuchet MS"/>
                <a:cs typeface="Trebuchet MS"/>
              </a:rPr>
              <a:t>AdaFace</a:t>
            </a:r>
            <a:r>
              <a:rPr lang="en-US" altLang="zh-TW" sz="2400" spc="-10" dirty="0">
                <a:solidFill>
                  <a:schemeClr val="tx1"/>
                </a:solidFill>
                <a:latin typeface="Trebuchet MS"/>
                <a:cs typeface="Trebuchet MS"/>
              </a:rPr>
              <a:t>(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Geo)                                                              58.92                                               </a:t>
            </a:r>
            <a:r>
              <a:rPr lang="zh-TW" altLang="en-US" sz="2400" dirty="0">
                <a:solidFill>
                  <a:schemeClr val="tx1"/>
                </a:solidFill>
                <a:latin typeface="Cambria"/>
                <a:cs typeface="Cambria"/>
              </a:rPr>
              <a:t>      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              </a:t>
            </a:r>
            <a:r>
              <a:rPr lang="zh-TW" altLang="en-US" sz="2400" dirty="0">
                <a:solidFill>
                  <a:schemeClr val="tx1"/>
                </a:solidFill>
                <a:latin typeface="Cambria"/>
                <a:cs typeface="Cambria"/>
              </a:rPr>
              <a:t>  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63.30                                                             </a:t>
            </a:r>
            <a:endParaRPr lang="en-US" altLang="zh-TW" sz="24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A11D9D2-60D4-952F-913C-39951711260B}"/>
              </a:ext>
            </a:extLst>
          </p:cNvPr>
          <p:cNvSpPr txBox="1"/>
          <p:nvPr/>
        </p:nvSpPr>
        <p:spPr>
          <a:xfrm>
            <a:off x="-179633" y="5153398"/>
            <a:ext cx="171664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">
              <a:lnSpc>
                <a:spcPct val="100000"/>
              </a:lnSpc>
              <a:spcBef>
                <a:spcPts val="470"/>
              </a:spcBef>
            </a:pPr>
            <a:r>
              <a:rPr lang="en-US" altLang="zh-TW" sz="2400" spc="-110" dirty="0" err="1">
                <a:latin typeface="Trebuchet MS"/>
                <a:cs typeface="Trebuchet MS"/>
              </a:rPr>
              <a:t>AdaDistill</a:t>
            </a:r>
            <a:r>
              <a:rPr lang="en-US" altLang="zh-TW" sz="2400" spc="135" dirty="0" err="1">
                <a:latin typeface="Trebuchet MS"/>
                <a:cs typeface="Trebuchet MS"/>
              </a:rPr>
              <a:t>+</a:t>
            </a:r>
            <a:r>
              <a:rPr lang="en-US" altLang="zh-TW" sz="2400" spc="-10" dirty="0" err="1">
                <a:latin typeface="Trebuchet MS"/>
                <a:cs typeface="Trebuchet MS"/>
              </a:rPr>
              <a:t>AdaFace</a:t>
            </a:r>
            <a:r>
              <a:rPr lang="en-US" altLang="zh-TW" sz="2400" spc="-10" dirty="0">
                <a:solidFill>
                  <a:schemeClr val="tx1"/>
                </a:solidFill>
                <a:latin typeface="Trebuchet MS"/>
                <a:cs typeface="Trebuchet MS"/>
              </a:rPr>
              <a:t>(</a:t>
            </a:r>
            <a:r>
              <a:rPr lang="en-US" altLang="zh-TW" sz="2400" spc="-10" dirty="0" err="1">
                <a:solidFill>
                  <a:schemeClr val="tx1"/>
                </a:solidFill>
                <a:latin typeface="Cambria"/>
                <a:cs typeface="Trebuchet MS"/>
              </a:rPr>
              <a:t>adaptive_geo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)</a:t>
            </a:r>
            <a:r>
              <a:rPr lang="zh-TW" altLang="en-US" sz="2400" dirty="0">
                <a:solidFill>
                  <a:schemeClr val="tx1"/>
                </a:solidFill>
                <a:latin typeface="Cambria"/>
                <a:cs typeface="Cambria"/>
              </a:rPr>
              <a:t>  </a:t>
            </a:r>
            <a:r>
              <a:rPr lang="en-US" altLang="zh-TW" sz="2400" dirty="0">
                <a:solidFill>
                  <a:schemeClr val="tx1"/>
                </a:solidFill>
                <a:latin typeface="+mj-lt"/>
                <a:cs typeface="Cambria"/>
              </a:rPr>
              <a:t>99.50          95.10      </a:t>
            </a:r>
            <a:r>
              <a:rPr lang="zh-TW" altLang="en-US" sz="2400" dirty="0">
                <a:solidFill>
                  <a:schemeClr val="tx1"/>
                </a:solidFill>
                <a:latin typeface="+mj-lt"/>
                <a:cs typeface="Cambria"/>
              </a:rPr>
              <a:t> </a:t>
            </a:r>
            <a:r>
              <a:rPr lang="en-US" altLang="zh-TW" sz="2400" dirty="0">
                <a:solidFill>
                  <a:schemeClr val="tx1"/>
                </a:solidFill>
                <a:latin typeface="+mj-lt"/>
                <a:cs typeface="Cambria"/>
              </a:rPr>
              <a:t>      96.20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           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95.27  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     </a:t>
            </a:r>
            <a:r>
              <a:rPr lang="en-US" altLang="zh-TW" sz="2400" b="1" spc="-10" dirty="0">
                <a:solidFill>
                  <a:schemeClr val="tx1"/>
                </a:solidFill>
                <a:latin typeface="+mj-lt"/>
                <a:cs typeface="Trebuchet MS"/>
              </a:rPr>
              <a:t>90.22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    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 </a:t>
            </a:r>
            <a:r>
              <a:rPr lang="en-US" altLang="zh-TW" sz="2400" b="1" spc="-10" dirty="0">
                <a:solidFill>
                  <a:schemeClr val="tx1"/>
                </a:solidFill>
                <a:latin typeface="+mj-lt"/>
                <a:cs typeface="Trebuchet MS"/>
              </a:rPr>
              <a:t>93.98   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 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   </a:t>
            </a:r>
            <a:r>
              <a:rPr lang="en-US" altLang="zh-TW" sz="2400" b="1" spc="-10" dirty="0">
                <a:solidFill>
                  <a:schemeClr val="tx1"/>
                </a:solidFill>
                <a:latin typeface="+mj-lt"/>
                <a:cs typeface="Trebuchet MS"/>
              </a:rPr>
              <a:t>90.33   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   </a:t>
            </a:r>
            <a:r>
              <a:rPr lang="zh-TW" altLang="en-US" sz="2400" spc="-10" dirty="0">
                <a:solidFill>
                  <a:schemeClr val="tx1"/>
                </a:solidFill>
                <a:latin typeface="+mj-lt"/>
                <a:cs typeface="Trebuchet MS"/>
              </a:rPr>
              <a:t>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</a:t>
            </a:r>
            <a:r>
              <a:rPr lang="en-US" altLang="zh-TW" sz="2400" b="1" spc="-10" dirty="0">
                <a:solidFill>
                  <a:schemeClr val="tx1"/>
                </a:solidFill>
                <a:latin typeface="+mj-lt"/>
                <a:cs typeface="Trebuchet MS"/>
              </a:rPr>
              <a:t>94.37 </a:t>
            </a:r>
            <a:r>
              <a:rPr lang="en-US" altLang="zh-TW" sz="2400" spc="-10" dirty="0">
                <a:solidFill>
                  <a:schemeClr val="tx1"/>
                </a:solidFill>
                <a:latin typeface="+mj-lt"/>
                <a:cs typeface="Trebuchet MS"/>
              </a:rPr>
              <a:t>   </a:t>
            </a:r>
            <a:endParaRPr lang="en-US" altLang="zh-TW" sz="2400" dirty="0">
              <a:solidFill>
                <a:schemeClr val="tx1"/>
              </a:solidFill>
              <a:latin typeface="+mj-lt"/>
              <a:cs typeface="Trebuchet MS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28E938A2-9DE5-760A-8A25-C62AEEA4EE4C}"/>
              </a:ext>
            </a:extLst>
          </p:cNvPr>
          <p:cNvSpPr txBox="1"/>
          <p:nvPr/>
        </p:nvSpPr>
        <p:spPr>
          <a:xfrm>
            <a:off x="608181" y="8113115"/>
            <a:ext cx="15498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">
              <a:lnSpc>
                <a:spcPct val="100000"/>
              </a:lnSpc>
              <a:spcBef>
                <a:spcPts val="470"/>
              </a:spcBef>
            </a:pPr>
            <a:r>
              <a:rPr lang="en-US" altLang="zh-TW" sz="2400" spc="-110" dirty="0" err="1">
                <a:latin typeface="Trebuchet MS"/>
                <a:cs typeface="Trebuchet MS"/>
              </a:rPr>
              <a:t>AdaDistill</a:t>
            </a:r>
            <a:r>
              <a:rPr lang="en-US" altLang="zh-TW" sz="2400" spc="20" dirty="0">
                <a:latin typeface="Trebuchet MS"/>
                <a:cs typeface="Trebuchet MS"/>
              </a:rPr>
              <a:t> </a:t>
            </a:r>
            <a:r>
              <a:rPr lang="en-US" altLang="zh-TW" sz="2400" spc="135" dirty="0">
                <a:latin typeface="Trebuchet MS"/>
                <a:cs typeface="Trebuchet MS"/>
              </a:rPr>
              <a:t>+</a:t>
            </a:r>
            <a:r>
              <a:rPr lang="en-US" altLang="zh-TW" sz="2400" spc="-200" dirty="0">
                <a:latin typeface="Trebuchet MS"/>
                <a:cs typeface="Trebuchet MS"/>
              </a:rPr>
              <a:t> </a:t>
            </a:r>
            <a:r>
              <a:rPr lang="en-US" altLang="zh-TW" sz="2400" spc="-10" dirty="0" err="1">
                <a:latin typeface="Trebuchet MS"/>
                <a:cs typeface="Trebuchet MS"/>
              </a:rPr>
              <a:t>AdaFace</a:t>
            </a:r>
            <a:r>
              <a:rPr lang="en-US" altLang="zh-TW" sz="2400" spc="-10" dirty="0">
                <a:solidFill>
                  <a:schemeClr val="tx1"/>
                </a:solidFill>
                <a:latin typeface="Trebuchet MS"/>
                <a:cs typeface="Trebuchet MS"/>
              </a:rPr>
              <a:t>(</a:t>
            </a:r>
            <a:r>
              <a:rPr lang="en-US" altLang="zh-TW" sz="2400" spc="-10" dirty="0" err="1">
                <a:solidFill>
                  <a:schemeClr val="tx1"/>
                </a:solidFill>
                <a:latin typeface="Trebuchet MS"/>
                <a:cs typeface="Trebuchet MS"/>
              </a:rPr>
              <a:t>adaptive_</a:t>
            </a:r>
            <a:r>
              <a:rPr lang="en-US" altLang="zh-TW" sz="2400" dirty="0" err="1">
                <a:solidFill>
                  <a:schemeClr val="tx1"/>
                </a:solidFill>
                <a:latin typeface="Cambria"/>
                <a:cs typeface="Cambria"/>
              </a:rPr>
              <a:t>Geo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)                                           </a:t>
            </a:r>
            <a:r>
              <a:rPr lang="en-US" altLang="zh-TW" sz="2400" b="1" dirty="0">
                <a:solidFill>
                  <a:schemeClr val="tx1"/>
                </a:solidFill>
                <a:latin typeface="Cambria"/>
                <a:cs typeface="Cambria"/>
              </a:rPr>
              <a:t>59</a:t>
            </a:r>
            <a:r>
              <a:rPr lang="en-US" altLang="zh-TW" sz="2400" b="1" dirty="0">
                <a:solidFill>
                  <a:schemeClr val="tx1"/>
                </a:solidFill>
                <a:latin typeface="+mj-lt"/>
                <a:cs typeface="Cambria"/>
              </a:rPr>
              <a:t>.3</a:t>
            </a:r>
            <a:r>
              <a:rPr lang="en-US" altLang="zh-TW" sz="2400" b="1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                                               </a:t>
            </a:r>
            <a:r>
              <a:rPr lang="zh-TW" altLang="en-US" sz="2400" dirty="0">
                <a:solidFill>
                  <a:schemeClr val="tx1"/>
                </a:solidFill>
                <a:latin typeface="Cambria"/>
                <a:cs typeface="Cambria"/>
              </a:rPr>
              <a:t>      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              </a:t>
            </a:r>
            <a:r>
              <a:rPr lang="zh-TW" altLang="en-US" sz="240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lang="en-US" altLang="zh-TW" sz="2400" b="1" dirty="0">
                <a:solidFill>
                  <a:schemeClr val="tx1"/>
                </a:solidFill>
                <a:latin typeface="Cambria"/>
                <a:cs typeface="Cambria"/>
              </a:rPr>
              <a:t>64.43    </a:t>
            </a:r>
            <a:r>
              <a:rPr lang="en-US" altLang="zh-TW" sz="2400" dirty="0">
                <a:solidFill>
                  <a:schemeClr val="tx1"/>
                </a:solidFill>
                <a:latin typeface="Cambria"/>
                <a:cs typeface="Cambria"/>
              </a:rPr>
              <a:t>                                                        </a:t>
            </a:r>
            <a:endParaRPr lang="en-US" altLang="zh-TW" sz="24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C967-CB7B-E55F-F580-67D902ACB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2C5A67-96B2-3B70-0987-6CC76F9A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009" y="814363"/>
            <a:ext cx="15984219" cy="1354217"/>
          </a:xfrm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7792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55852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33777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11703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889629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67555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45481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23406" algn="l" defTabSz="777926" rtl="0" eaLnBrk="1" latinLnBrk="0" hangingPunct="1">
              <a:defRPr sz="306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000" dirty="0">
                <a:solidFill>
                  <a:srgbClr val="082D4B"/>
                </a:solidFill>
                <a:latin typeface="Cambria"/>
                <a:ea typeface="+mj-ea"/>
              </a:rPr>
              <a:t>Experiment</a:t>
            </a:r>
            <a:r>
              <a:rPr lang="en-US" altLang="zh-TW" sz="4000" dirty="0">
                <a:ea typeface="+mj-lt"/>
              </a:rPr>
              <a:t> </a:t>
            </a:r>
            <a:r>
              <a:rPr lang="en-US" altLang="zh-TW" sz="4000" dirty="0">
                <a:solidFill>
                  <a:srgbClr val="082D4B"/>
                </a:solidFill>
                <a:latin typeface="Cambria"/>
                <a:ea typeface="+mj-ea"/>
              </a:rPr>
              <a:t>result</a:t>
            </a:r>
            <a:r>
              <a:rPr lang="zh-TW" altLang="en-US" sz="4000" dirty="0">
                <a:solidFill>
                  <a:srgbClr val="082D4B"/>
                </a:solidFill>
                <a:latin typeface="Cambria"/>
                <a:ea typeface="+mj-ea"/>
              </a:rPr>
              <a:t> </a:t>
            </a:r>
            <a:r>
              <a:rPr lang="en-US" altLang="zh-TW" sz="4000" dirty="0">
                <a:solidFill>
                  <a:srgbClr val="082D4B"/>
                </a:solidFill>
                <a:latin typeface="Cambria"/>
                <a:ea typeface="+mj-ea"/>
              </a:rPr>
              <a:t>:</a:t>
            </a:r>
            <a:r>
              <a:rPr lang="zh-TW" altLang="en-US" sz="4000" dirty="0">
                <a:solidFill>
                  <a:srgbClr val="082D4B"/>
                </a:solidFill>
                <a:latin typeface="Cambria"/>
                <a:ea typeface="+mj-ea"/>
              </a:rPr>
              <a:t>  </a:t>
            </a:r>
            <a:r>
              <a:rPr lang="zh-TW" altLang="zh-TW" sz="4000" dirty="0"/>
              <a:t>Different Teacher Models (</a:t>
            </a:r>
            <a:r>
              <a:rPr lang="zh-TW" altLang="zh-TW" sz="4000" dirty="0">
                <a:solidFill>
                  <a:srgbClr val="7030A0"/>
                </a:solidFill>
              </a:rPr>
              <a:t>IR-101 </a:t>
            </a:r>
            <a:r>
              <a:rPr lang="zh-TW" altLang="zh-TW" sz="4000" dirty="0"/>
              <a:t>vs. </a:t>
            </a:r>
            <a:r>
              <a:rPr lang="zh-TW" altLang="zh-TW" sz="4000" dirty="0">
                <a:solidFill>
                  <a:srgbClr val="00B050"/>
                </a:solidFill>
              </a:rPr>
              <a:t>IR-50</a:t>
            </a:r>
            <a:r>
              <a:rPr lang="zh-TW" altLang="zh-TW" sz="4000" dirty="0"/>
              <a:t>)</a:t>
            </a:r>
            <a:br>
              <a:rPr lang="zh-TW" altLang="zh-TW" sz="4800" dirty="0"/>
            </a:br>
            <a:r>
              <a:rPr lang="en-US" altLang="zh-TW" sz="4800" dirty="0">
                <a:ea typeface="+mj-lt"/>
              </a:rPr>
              <a:t> </a:t>
            </a:r>
            <a:endParaRPr lang="zh-TW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F639051-0ACA-6814-DCBE-D37D63EA94A3}"/>
                  </a:ext>
                </a:extLst>
              </p:cNvPr>
              <p:cNvSpPr txBox="1"/>
              <p:nvPr/>
            </p:nvSpPr>
            <p:spPr>
              <a:xfrm>
                <a:off x="10261540" y="7187157"/>
                <a:ext cx="5446087" cy="92333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zh-TW" altLang="zh-TW" sz="3600" dirty="0">
                    <a:latin typeface="Corbel"/>
                  </a:rPr>
                  <a:t>lma: lam mean average (</a:t>
                </a:r>
                <a14:m>
                  <m:oMath xmlns:m="http://schemas.openxmlformats.org/officeDocument/2006/math">
                    <m:r>
                      <a:rPr lang="zh-TW" altLang="en-US" sz="3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TW" altLang="zh-TW" sz="3600" dirty="0">
                    <a:latin typeface="Corbel"/>
                  </a:rPr>
                  <a:t>)</a:t>
                </a:r>
              </a:p>
              <a:p>
                <a:pPr algn="l"/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F639051-0ACA-6814-DCBE-D37D63EA9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1540" y="7187157"/>
                <a:ext cx="5446087" cy="923330"/>
              </a:xfrm>
              <a:prstGeom prst="rect">
                <a:avLst/>
              </a:prstGeom>
              <a:blipFill>
                <a:blip r:embed="rId2"/>
                <a:stretch>
                  <a:fillRect l="-1007" t="-10596" r="-8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503BC588-4B65-EA73-23F3-BAB9929E414D}"/>
              </a:ext>
            </a:extLst>
          </p:cNvPr>
          <p:cNvSpPr txBox="1"/>
          <p:nvPr/>
        </p:nvSpPr>
        <p:spPr>
          <a:xfrm>
            <a:off x="1919701" y="7187157"/>
            <a:ext cx="441121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cos_theta_tmp 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(</a:t>
            </a:r>
            <a:r>
              <a:rPr lang="zh-TW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α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Corbel"/>
                <a:ea typeface="Corbel"/>
                <a:cs typeface="Corbel"/>
              </a:rPr>
              <a:t>)</a:t>
            </a:r>
            <a:endParaRPr lang="zh-TW" altLang="en-US" sz="3600" dirty="0"/>
          </a:p>
          <a:p>
            <a:pPr algn="ctr"/>
            <a:endParaRPr lang="zh-TW" altLang="en-US" dirty="0"/>
          </a:p>
        </p:txBody>
      </p:sp>
      <p:pic>
        <p:nvPicPr>
          <p:cNvPr id="4" name="圖片 3" descr="一張含有 文字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E8EFD88E-23D2-3801-7F3E-B79A65077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460" y="2496869"/>
            <a:ext cx="5634746" cy="416709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78502FA-A9ED-54E9-8C1C-7E6395955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540" y="2315383"/>
            <a:ext cx="5634747" cy="45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36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DEF27-6035-9D30-A6A7-85B8476B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715" y="290336"/>
            <a:ext cx="15984219" cy="2031325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TW" sz="6600" dirty="0">
                <a:ea typeface="新細明體"/>
              </a:rPr>
              <a:t>Teacher Influence: Is a Stronger Teacher Always Better for the Student?</a:t>
            </a:r>
            <a:endParaRPr lang="zh-TW" sz="6600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0A7B641-6D2D-2B79-4F70-654173D74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063" y="2667713"/>
            <a:ext cx="16013958" cy="507831"/>
          </a:xfrm>
        </p:spPr>
        <p:txBody>
          <a:bodyPr wrap="square" lIns="0" tIns="0" rIns="0" bIns="0" anchor="t">
            <a:spAutoFit/>
          </a:bodyPr>
          <a:lstStyle/>
          <a:p>
            <a:r>
              <a:rPr lang="zh-TW" dirty="0"/>
              <a:t>Comparison of Distillation Results Using Different Teacher Models (IR-101 vs. IR-50)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2C6E55C-7D02-74D3-1D2E-D8E823769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188727"/>
              </p:ext>
            </p:extLst>
          </p:nvPr>
        </p:nvGraphicFramePr>
        <p:xfrm>
          <a:off x="1035906" y="3272985"/>
          <a:ext cx="14666272" cy="440601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3284">
                  <a:extLst>
                    <a:ext uri="{9D8B030D-6E8A-4147-A177-3AD203B41FA5}">
                      <a16:colId xmlns:a16="http://schemas.microsoft.com/office/drawing/2014/main" val="3890905050"/>
                    </a:ext>
                  </a:extLst>
                </a:gridCol>
                <a:gridCol w="1833284">
                  <a:extLst>
                    <a:ext uri="{9D8B030D-6E8A-4147-A177-3AD203B41FA5}">
                      <a16:colId xmlns:a16="http://schemas.microsoft.com/office/drawing/2014/main" val="2966593505"/>
                    </a:ext>
                  </a:extLst>
                </a:gridCol>
                <a:gridCol w="1833284">
                  <a:extLst>
                    <a:ext uri="{9D8B030D-6E8A-4147-A177-3AD203B41FA5}">
                      <a16:colId xmlns:a16="http://schemas.microsoft.com/office/drawing/2014/main" val="3525464228"/>
                    </a:ext>
                  </a:extLst>
                </a:gridCol>
                <a:gridCol w="1833284">
                  <a:extLst>
                    <a:ext uri="{9D8B030D-6E8A-4147-A177-3AD203B41FA5}">
                      <a16:colId xmlns:a16="http://schemas.microsoft.com/office/drawing/2014/main" val="2291592592"/>
                    </a:ext>
                  </a:extLst>
                </a:gridCol>
                <a:gridCol w="1833284">
                  <a:extLst>
                    <a:ext uri="{9D8B030D-6E8A-4147-A177-3AD203B41FA5}">
                      <a16:colId xmlns:a16="http://schemas.microsoft.com/office/drawing/2014/main" val="1152554927"/>
                    </a:ext>
                  </a:extLst>
                </a:gridCol>
                <a:gridCol w="1833284">
                  <a:extLst>
                    <a:ext uri="{9D8B030D-6E8A-4147-A177-3AD203B41FA5}">
                      <a16:colId xmlns:a16="http://schemas.microsoft.com/office/drawing/2014/main" val="4145194031"/>
                    </a:ext>
                  </a:extLst>
                </a:gridCol>
                <a:gridCol w="1833284">
                  <a:extLst>
                    <a:ext uri="{9D8B030D-6E8A-4147-A177-3AD203B41FA5}">
                      <a16:colId xmlns:a16="http://schemas.microsoft.com/office/drawing/2014/main" val="119436139"/>
                    </a:ext>
                  </a:extLst>
                </a:gridCol>
                <a:gridCol w="1833284">
                  <a:extLst>
                    <a:ext uri="{9D8B030D-6E8A-4147-A177-3AD203B41FA5}">
                      <a16:colId xmlns:a16="http://schemas.microsoft.com/office/drawing/2014/main" val="2768351045"/>
                    </a:ext>
                  </a:extLst>
                </a:gridCol>
              </a:tblGrid>
              <a:tr h="889676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buNone/>
                      </a:pPr>
                      <a:endParaRPr lang="af-ZA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LFW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CFP-FP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AgeDB-30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CP-LFW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IJBC (1e-4)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IJBC (1e-5)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Tinyface R1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7573712"/>
                  </a:ext>
                </a:extLst>
              </a:tr>
              <a:tr h="879084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altLang="zh-TW" sz="2400" b="1" dirty="0"/>
                        <a:t>IR-101</a:t>
                      </a:r>
                    </a:p>
                    <a:p>
                      <a:pPr marL="0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(Teacher)</a:t>
                      </a:r>
                      <a:endParaRPr lang="af-ZA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99.80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98.61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98.05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93.53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96.81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94.58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68.11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855324"/>
                  </a:ext>
                </a:extLst>
              </a:tr>
              <a:tr h="879084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MFN</a:t>
                      </a:r>
                    </a:p>
                    <a:p>
                      <a:pPr marL="0">
                        <a:lnSpc>
                          <a:spcPct val="100000"/>
                        </a:lnSpc>
                        <a:buNone/>
                      </a:pPr>
                      <a:r>
                        <a:rPr lang="af-ZA" sz="2400" b="1" dirty="0"/>
                        <a:t>(Student)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99.64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dirty="0"/>
                        <a:t>94.81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/>
                        <a:t>96.12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89.73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dirty="0"/>
                        <a:t>92.21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dirty="0"/>
                        <a:t>88.32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dirty="0"/>
                        <a:t>57.47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042011"/>
                  </a:ext>
                </a:extLst>
              </a:tr>
              <a:tr h="879084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f-ZA" altLang="zh-TW" sz="2400" b="1" dirty="0"/>
                        <a:t>IR-50</a:t>
                      </a:r>
                    </a:p>
                    <a:p>
                      <a:pPr marL="0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(Teacher)</a:t>
                      </a:r>
                      <a:endParaRPr lang="af-ZA" altLang="zh-TW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99.85</a:t>
                      </a:r>
                      <a:endParaRPr lang="zh-TW" altLang="en-US" sz="2400" b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98.09</a:t>
                      </a:r>
                      <a:endParaRPr lang="zh-TW" altLang="en-US" sz="2400" b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97.85</a:t>
                      </a:r>
                      <a:endParaRPr lang="zh-TW" altLang="en-US" sz="2400" b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92.85</a:t>
                      </a:r>
                      <a:endParaRPr lang="zh-TW" altLang="en-US" sz="2400" b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96.20</a:t>
                      </a:r>
                      <a:endParaRPr lang="zh-TW" altLang="en-US" sz="2400" b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93.96</a:t>
                      </a:r>
                      <a:endParaRPr lang="zh-TW" altLang="en-US" sz="2400" b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64.99</a:t>
                      </a:r>
                      <a:endParaRPr lang="zh-TW" altLang="en-US" sz="2400" b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2043204"/>
                  </a:ext>
                </a:extLst>
              </a:tr>
              <a:tr h="879084">
                <a:tc>
                  <a:txBody>
                    <a:bodyPr/>
                    <a:lstStyle/>
                    <a:p>
                      <a:pPr marL="0">
                        <a:lnSpc>
                          <a:spcPct val="100000"/>
                        </a:lnSpc>
                        <a:buNone/>
                      </a:pPr>
                      <a:r>
                        <a:rPr lang="af-ZA" altLang="zh-TW" sz="2400" b="1" dirty="0"/>
                        <a:t>MFN</a:t>
                      </a:r>
                    </a:p>
                    <a:p>
                      <a:pPr marL="0">
                        <a:lnSpc>
                          <a:spcPct val="100000"/>
                        </a:lnSpc>
                        <a:buNone/>
                      </a:pPr>
                      <a:r>
                        <a:rPr lang="af-ZA" altLang="zh-TW" sz="2400" b="1" dirty="0"/>
                        <a:t>(Student)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99.50</a:t>
                      </a:r>
                      <a:endParaRPr lang="zh-TW" altLang="en-US" sz="24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95.24</a:t>
                      </a:r>
                      <a:endParaRPr lang="zh-TW" altLang="en-US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0" dirty="0"/>
                        <a:t>95.82</a:t>
                      </a:r>
                      <a:endParaRPr lang="zh-TW" altLang="en-US" sz="24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89.73</a:t>
                      </a:r>
                      <a:endParaRPr lang="zh-TW" altLang="en-US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93.82</a:t>
                      </a:r>
                      <a:endParaRPr lang="zh-TW" altLang="en-US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90.00</a:t>
                      </a:r>
                      <a:endParaRPr lang="zh-TW" altLang="en-US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zh-TW" sz="2400" b="1" dirty="0"/>
                        <a:t>58.69</a:t>
                      </a:r>
                      <a:endParaRPr lang="zh-TW" altLang="en-US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757011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6F9D03CD-C620-2B71-C3A6-20655CA4E797}"/>
              </a:ext>
            </a:extLst>
          </p:cNvPr>
          <p:cNvSpPr txBox="1"/>
          <p:nvPr/>
        </p:nvSpPr>
        <p:spPr>
          <a:xfrm>
            <a:off x="895246" y="8174498"/>
            <a:ext cx="1568470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The student model cannot absorb the highly complex feature distribution learned by a very large teacher, causing weaker transfer. A mid-size teacher (ResNet50) produces better distillation results.</a:t>
            </a:r>
            <a:endParaRPr lang="en-US" dirty="0"/>
          </a:p>
          <a:p>
            <a:r>
              <a:rPr lang="en-US" sz="2400" dirty="0"/>
              <a:t>— Based on  </a:t>
            </a:r>
            <a:r>
              <a:rPr lang="en-US" sz="2400" dirty="0" err="1"/>
              <a:t>AdaDistill</a:t>
            </a:r>
            <a:r>
              <a:rPr lang="en-US" sz="2400" dirty="0"/>
              <a:t> </a:t>
            </a:r>
            <a:r>
              <a:rPr lang="en-US" sz="2400" dirty="0" err="1"/>
              <a:t>authors’explanation</a:t>
            </a:r>
            <a:r>
              <a:rPr lang="en-US" sz="2400" dirty="0"/>
              <a:t> in the paper</a:t>
            </a:r>
            <a:endParaRPr 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A8D92B2-C70E-3519-59C8-71A06602E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B59EC1D8-0FD6-1DD3-8B86-35CFB842EF3B}"/>
              </a:ext>
            </a:extLst>
          </p:cNvPr>
          <p:cNvGrpSpPr/>
          <p:nvPr/>
        </p:nvGrpSpPr>
        <p:grpSpPr>
          <a:xfrm>
            <a:off x="1113038" y="3461657"/>
            <a:ext cx="14512007" cy="4246368"/>
            <a:chOff x="1113038" y="3461657"/>
            <a:chExt cx="14512007" cy="4246368"/>
          </a:xfrm>
        </p:grpSpPr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1DC0325F-895E-6D07-ED90-AE20F66FAE6F}"/>
                </a:ext>
              </a:extLst>
            </p:cNvPr>
            <p:cNvCxnSpPr>
              <a:cxnSpLocks/>
            </p:cNvCxnSpPr>
            <p:nvPr/>
          </p:nvCxnSpPr>
          <p:spPr>
            <a:xfrm>
              <a:off x="1113038" y="4151085"/>
              <a:ext cx="145120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CBF53187-9C38-F97C-2EEB-CADACB1326B4}"/>
                </a:ext>
              </a:extLst>
            </p:cNvPr>
            <p:cNvCxnSpPr>
              <a:cxnSpLocks/>
            </p:cNvCxnSpPr>
            <p:nvPr/>
          </p:nvCxnSpPr>
          <p:spPr>
            <a:xfrm>
              <a:off x="1113038" y="3461657"/>
              <a:ext cx="145120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0513691B-DBF2-11B0-D518-EA27C5397B62}"/>
                </a:ext>
              </a:extLst>
            </p:cNvPr>
            <p:cNvCxnSpPr>
              <a:cxnSpLocks/>
            </p:cNvCxnSpPr>
            <p:nvPr/>
          </p:nvCxnSpPr>
          <p:spPr>
            <a:xfrm>
              <a:off x="1113038" y="7708025"/>
              <a:ext cx="145120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EB78F7A9-A134-CB46-6DC9-A585C9056BE2}"/>
                </a:ext>
              </a:extLst>
            </p:cNvPr>
            <p:cNvCxnSpPr>
              <a:cxnSpLocks/>
            </p:cNvCxnSpPr>
            <p:nvPr/>
          </p:nvCxnSpPr>
          <p:spPr>
            <a:xfrm>
              <a:off x="1113038" y="5958113"/>
              <a:ext cx="145120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01522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teacher&#10;&#10;AI-generated content may be incorrect.">
            <a:extLst>
              <a:ext uri="{FF2B5EF4-FFF2-40B4-BE49-F238E27FC236}">
                <a16:creationId xmlns:a16="http://schemas.microsoft.com/office/drawing/2014/main" id="{EA288E9E-6C8D-684D-B276-FED1A23D2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81" y="463660"/>
            <a:ext cx="16840589" cy="8833650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800BEA07-1403-6E9C-7EAF-8D6219805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1199" y="9320194"/>
            <a:ext cx="1133633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16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FEBA97-6596-ABF5-25A2-20BDEC19E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99" y="214695"/>
            <a:ext cx="15984219" cy="2954655"/>
          </a:xfrm>
        </p:spPr>
        <p:txBody>
          <a:bodyPr/>
          <a:lstStyle/>
          <a:p>
            <a:r>
              <a:rPr lang="en-US" altLang="zh-TW" sz="4000" b="1" dirty="0"/>
              <a:t>From Research to Real-World Deployment</a:t>
            </a:r>
            <a:br>
              <a:rPr lang="en-US" altLang="zh-TW" sz="4000" b="1" dirty="0"/>
            </a:br>
            <a:br>
              <a:rPr lang="en-US" altLang="zh-TW" sz="4000" b="1" dirty="0"/>
            </a:br>
            <a:r>
              <a:rPr lang="en-US" altLang="zh-TW" sz="2800" i="1" dirty="0"/>
              <a:t>Face Recognition Check-in System</a:t>
            </a:r>
            <a:br>
              <a:rPr lang="en-US" altLang="zh-TW" sz="4000" dirty="0"/>
            </a:br>
            <a:br>
              <a:rPr lang="en-US" altLang="zh-TW" sz="4000" dirty="0"/>
            </a:br>
            <a:endParaRPr lang="zh-TW" altLang="en-US" sz="4000" dirty="0"/>
          </a:p>
        </p:txBody>
      </p:sp>
      <p:pic>
        <p:nvPicPr>
          <p:cNvPr id="9" name="圖片 8" descr="一張含有 文字, 螢幕擷取畫面, 數字, 軟體 的圖片&#10;&#10;AI 產生的內容可能不正確。">
            <a:extLst>
              <a:ext uri="{FF2B5EF4-FFF2-40B4-BE49-F238E27FC236}">
                <a16:creationId xmlns:a16="http://schemas.microsoft.com/office/drawing/2014/main" id="{544E0C77-6F21-B831-1251-7132CFE3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3115" y="5309430"/>
            <a:ext cx="8090475" cy="4252685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5C4FFC5D-7A94-48D7-619C-A5BBA20EF6B6}"/>
              </a:ext>
            </a:extLst>
          </p:cNvPr>
          <p:cNvSpPr txBox="1"/>
          <p:nvPr/>
        </p:nvSpPr>
        <p:spPr>
          <a:xfrm>
            <a:off x="595299" y="2393002"/>
            <a:ext cx="60800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800" dirty="0">
                <a:hlinkClick r:id="rId3"/>
              </a:rPr>
              <a:t>Demo website: https://checkin.rayyi-server.com/</a:t>
            </a:r>
            <a:endParaRPr lang="en-US" altLang="zh-TW" sz="1800" dirty="0"/>
          </a:p>
          <a:p>
            <a:endParaRPr lang="en-US" altLang="zh-TW" dirty="0"/>
          </a:p>
          <a:p>
            <a:r>
              <a:rPr lang="en-US" altLang="zh-TW" dirty="0"/>
              <a:t>admin Password:123456</a:t>
            </a:r>
          </a:p>
          <a:p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746BE1DB-40B8-0906-4EEB-C325E4571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468" y="5309430"/>
            <a:ext cx="4879264" cy="4229474"/>
          </a:xfrm>
          <a:prstGeom prst="rect">
            <a:avLst/>
          </a:prstGeom>
        </p:spPr>
      </p:pic>
      <p:pic>
        <p:nvPicPr>
          <p:cNvPr id="11" name="圖片 10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6BB0E6BA-9288-76E7-036C-ECBB959F1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020" y="3499127"/>
            <a:ext cx="6080002" cy="1718514"/>
          </a:xfrm>
          <a:prstGeom prst="rect">
            <a:avLst/>
          </a:prstGeom>
        </p:spPr>
      </p:pic>
      <p:pic>
        <p:nvPicPr>
          <p:cNvPr id="13" name="圖片 12" descr="一張含有 螢幕擷取畫面, 文字, 行, 數字 的圖片&#10;&#10;AI 產生的內容可能不正確。">
            <a:extLst>
              <a:ext uri="{FF2B5EF4-FFF2-40B4-BE49-F238E27FC236}">
                <a16:creationId xmlns:a16="http://schemas.microsoft.com/office/drawing/2014/main" id="{48D00664-56F5-9644-DFAB-C8915EFB8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043" y="2173241"/>
            <a:ext cx="8238621" cy="265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18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3715" y="290336"/>
            <a:ext cx="15848490" cy="1536318"/>
          </a:xfrm>
          <a:prstGeom prst="rect">
            <a:avLst/>
          </a:prstGeom>
          <a:noFill/>
        </p:spPr>
        <p:txBody>
          <a:bodyPr vert="horz" wrap="square" lIns="0" tIns="553720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135"/>
              </a:spcBef>
            </a:pPr>
            <a:r>
              <a:rPr sz="6350">
                <a:solidFill>
                  <a:srgbClr val="033459"/>
                </a:solidFill>
                <a:latin typeface="Times New Roman"/>
                <a:cs typeface="Times New Roman"/>
              </a:rPr>
              <a:t>GPT</a:t>
            </a:r>
            <a:r>
              <a:rPr sz="6350" spc="80">
                <a:solidFill>
                  <a:srgbClr val="033459"/>
                </a:solidFill>
                <a:latin typeface="Times New Roman"/>
                <a:cs typeface="Times New Roman"/>
              </a:rPr>
              <a:t> </a:t>
            </a:r>
            <a:r>
              <a:rPr sz="6350" spc="145">
                <a:solidFill>
                  <a:srgbClr val="033459"/>
                </a:solidFill>
                <a:latin typeface="Times New Roman"/>
                <a:cs typeface="Times New Roman"/>
              </a:rPr>
              <a:t>Interaction</a:t>
            </a:r>
            <a:r>
              <a:rPr sz="6350" spc="200">
                <a:solidFill>
                  <a:srgbClr val="033459"/>
                </a:solidFill>
                <a:latin typeface="Times New Roman"/>
                <a:cs typeface="Times New Roman"/>
              </a:rPr>
              <a:t> </a:t>
            </a:r>
            <a:r>
              <a:rPr sz="6350" spc="165">
                <a:solidFill>
                  <a:srgbClr val="033356"/>
                </a:solidFill>
                <a:latin typeface="Times New Roman"/>
                <a:cs typeface="Times New Roman"/>
              </a:rPr>
              <a:t>Summary</a:t>
            </a:r>
            <a:endParaRPr sz="63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308624" y="2280030"/>
            <a:ext cx="7077075" cy="6475491"/>
          </a:xfrm>
          <a:prstGeom prst="rect">
            <a:avLst/>
          </a:prstGeom>
        </p:spPr>
        <p:txBody>
          <a:bodyPr vert="horz" wrap="square" lIns="0" tIns="189865" rIns="0" bIns="0" rtlCol="0" anchor="t">
            <a:spAutoFit/>
          </a:bodyPr>
          <a:lstStyle/>
          <a:p>
            <a:pPr marL="13335">
              <a:lnSpc>
                <a:spcPct val="100000"/>
              </a:lnSpc>
              <a:spcBef>
                <a:spcPts val="1495"/>
              </a:spcBef>
            </a:pPr>
            <a:r>
              <a:rPr b="1" dirty="0"/>
              <a:t>Mid-Term</a:t>
            </a:r>
            <a:r>
              <a:rPr b="1" spc="470" dirty="0"/>
              <a:t> </a:t>
            </a:r>
            <a:r>
              <a:rPr b="1" spc="-10" dirty="0">
                <a:solidFill>
                  <a:srgbClr val="032A49"/>
                </a:solidFill>
              </a:rPr>
              <a:t>Phase</a:t>
            </a:r>
          </a:p>
          <a:p>
            <a:pPr marL="346075" indent="-333375">
              <a:spcBef>
                <a:spcPts val="1280"/>
              </a:spcBef>
              <a:buClr>
                <a:srgbClr val="BA501F"/>
              </a:buClr>
              <a:buChar char="•"/>
              <a:tabLst>
                <a:tab pos="346075" algn="l"/>
              </a:tabLst>
            </a:pPr>
            <a:r>
              <a:rPr sz="3600" spc="-145" dirty="0">
                <a:solidFill>
                  <a:srgbClr val="000000"/>
                </a:solidFill>
                <a:latin typeface="Calibri"/>
                <a:ea typeface="Calibri Light"/>
              </a:rPr>
              <a:t>Structuring</a:t>
            </a:r>
            <a:r>
              <a:rPr sz="3600" spc="-1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00" spc="-130" dirty="0">
                <a:solidFill>
                  <a:srgbClr val="000000"/>
                </a:solidFill>
                <a:latin typeface="Calibri"/>
                <a:ea typeface="Calibri Light"/>
              </a:rPr>
              <a:t>the</a:t>
            </a:r>
            <a:r>
              <a:rPr sz="3600" spc="-120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00" spc="-160" dirty="0">
                <a:solidFill>
                  <a:srgbClr val="000000"/>
                </a:solidFill>
                <a:latin typeface="Calibri"/>
                <a:ea typeface="Calibri Light"/>
              </a:rPr>
              <a:t>presentation</a:t>
            </a:r>
            <a:r>
              <a:rPr sz="3600" spc="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libri"/>
                <a:ea typeface="Calibri Light"/>
              </a:rPr>
              <a:t>layout</a:t>
            </a:r>
            <a:endParaRPr sz="3600" dirty="0">
              <a:latin typeface="Calibri"/>
              <a:ea typeface="Calibri Light"/>
            </a:endParaRPr>
          </a:p>
          <a:p>
            <a:pPr marL="349885"/>
            <a:r>
              <a:rPr sz="3800" spc="-385" dirty="0">
                <a:solidFill>
                  <a:srgbClr val="000000"/>
                </a:solidFill>
                <a:latin typeface="Calibri"/>
                <a:ea typeface="Calibri Light"/>
              </a:rPr>
              <a:t>and</a:t>
            </a:r>
            <a:r>
              <a:rPr sz="3800" spc="-70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800" spc="-320" dirty="0">
                <a:solidFill>
                  <a:srgbClr val="000000"/>
                </a:solidFill>
                <a:latin typeface="Calibri"/>
                <a:ea typeface="Calibri Light"/>
              </a:rPr>
              <a:t>data</a:t>
            </a:r>
            <a:r>
              <a:rPr sz="3800" spc="40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800" spc="-100" dirty="0">
                <a:solidFill>
                  <a:srgbClr val="000000"/>
                </a:solidFill>
                <a:latin typeface="Calibri"/>
                <a:ea typeface="Calibri Light"/>
              </a:rPr>
              <a:t>tables.</a:t>
            </a:r>
            <a:endParaRPr sz="3800" dirty="0">
              <a:latin typeface="Calibri"/>
              <a:ea typeface="Calibri Light"/>
            </a:endParaRPr>
          </a:p>
          <a:p>
            <a:pPr marL="344805" marR="238760" indent="-330835">
              <a:spcBef>
                <a:spcPts val="1580"/>
              </a:spcBef>
              <a:buClr>
                <a:srgbClr val="BF5223"/>
              </a:buClr>
              <a:buChar char="•"/>
              <a:tabLst>
                <a:tab pos="344805" algn="l"/>
              </a:tabLst>
            </a:pPr>
            <a:r>
              <a:rPr sz="3450" spc="-140" dirty="0">
                <a:solidFill>
                  <a:srgbClr val="000000"/>
                </a:solidFill>
                <a:latin typeface="Calibri"/>
                <a:ea typeface="Calibri Light"/>
              </a:rPr>
              <a:t>Explaining</a:t>
            </a:r>
            <a:r>
              <a:rPr sz="3450" spc="-10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70" dirty="0">
                <a:solidFill>
                  <a:srgbClr val="000000"/>
                </a:solidFill>
                <a:latin typeface="Calibri"/>
                <a:ea typeface="Calibri Light"/>
              </a:rPr>
              <a:t>configuration</a:t>
            </a:r>
            <a:r>
              <a:rPr sz="3450" spc="-3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60" dirty="0">
                <a:solidFill>
                  <a:srgbClr val="000000"/>
                </a:solidFill>
                <a:latin typeface="Calibri"/>
                <a:ea typeface="Calibri Light"/>
              </a:rPr>
              <a:t>details</a:t>
            </a:r>
            <a:r>
              <a:rPr sz="3450" spc="-16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40" dirty="0">
                <a:solidFill>
                  <a:srgbClr val="000000"/>
                </a:solidFill>
                <a:latin typeface="Calibri"/>
                <a:ea typeface="Calibri Light"/>
              </a:rPr>
              <a:t>and </a:t>
            </a:r>
            <a:r>
              <a:rPr sz="3450" spc="-95" dirty="0">
                <a:solidFill>
                  <a:srgbClr val="000000"/>
                </a:solidFill>
                <a:latin typeface="Calibri"/>
                <a:ea typeface="Calibri Light"/>
              </a:rPr>
              <a:t>dataset</a:t>
            </a:r>
            <a:r>
              <a:rPr sz="3450" spc="-100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90" dirty="0">
                <a:solidFill>
                  <a:srgbClr val="000000"/>
                </a:solidFill>
                <a:latin typeface="Calibri"/>
                <a:ea typeface="Calibri Light"/>
              </a:rPr>
              <a:t>issues</a:t>
            </a:r>
            <a:r>
              <a:rPr sz="3450" spc="-14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65" dirty="0">
                <a:solidFill>
                  <a:srgbClr val="000000"/>
                </a:solidFill>
                <a:latin typeface="Calibri"/>
                <a:ea typeface="Calibri Light"/>
              </a:rPr>
              <a:t>(</a:t>
            </a:r>
            <a:r>
              <a:rPr sz="3450" spc="-65" dirty="0" err="1">
                <a:solidFill>
                  <a:srgbClr val="000000"/>
                </a:solidFill>
                <a:latin typeface="Calibri"/>
                <a:ea typeface="Calibri Light"/>
              </a:rPr>
              <a:t>bcolz</a:t>
            </a:r>
            <a:r>
              <a:rPr sz="3450" spc="-14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10" dirty="0">
                <a:solidFill>
                  <a:srgbClr val="000000"/>
                </a:solidFill>
                <a:latin typeface="Calibri"/>
                <a:ea typeface="Calibri Light"/>
              </a:rPr>
              <a:t>format, </a:t>
            </a:r>
            <a:r>
              <a:rPr sz="3400" spc="-114" dirty="0" err="1">
                <a:solidFill>
                  <a:srgbClr val="000000"/>
                </a:solidFill>
                <a:latin typeface="Calibri"/>
                <a:ea typeface="Calibri Light"/>
              </a:rPr>
              <a:t>TinyFace</a:t>
            </a:r>
            <a:r>
              <a:rPr sz="3400" spc="-9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00" spc="-275" dirty="0">
                <a:solidFill>
                  <a:srgbClr val="000000"/>
                </a:solidFill>
                <a:latin typeface="Calibri"/>
                <a:ea typeface="Calibri Light"/>
              </a:rPr>
              <a:t>path)</a:t>
            </a:r>
          </a:p>
          <a:p>
            <a:pPr marL="338455" marR="5080" indent="-325120">
              <a:spcBef>
                <a:spcPts val="1550"/>
              </a:spcBef>
              <a:buChar char="•"/>
              <a:tabLst>
                <a:tab pos="338455" algn="l"/>
                <a:tab pos="346710" algn="l"/>
              </a:tabLst>
            </a:pPr>
            <a:r>
              <a:rPr sz="3450" dirty="0">
                <a:solidFill>
                  <a:srgbClr val="BA4F21"/>
                </a:solidFill>
                <a:latin typeface="Calibri"/>
                <a:ea typeface="Calibri Light"/>
              </a:rPr>
              <a:t>	</a:t>
            </a:r>
            <a:r>
              <a:rPr sz="3450" spc="-155" dirty="0">
                <a:solidFill>
                  <a:srgbClr val="000000"/>
                </a:solidFill>
                <a:latin typeface="Calibri"/>
                <a:ea typeface="Calibri Light"/>
              </a:rPr>
              <a:t>Summarizing</a:t>
            </a:r>
            <a:r>
              <a:rPr sz="3450" spc="-8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360" dirty="0">
                <a:solidFill>
                  <a:srgbClr val="000000"/>
                </a:solidFill>
                <a:latin typeface="Calibri"/>
                <a:ea typeface="Calibri Light"/>
              </a:rPr>
              <a:t>CSV</a:t>
            </a:r>
            <a:r>
              <a:rPr sz="3450" spc="2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80" dirty="0">
                <a:solidFill>
                  <a:srgbClr val="000000"/>
                </a:solidFill>
                <a:latin typeface="Calibri"/>
                <a:ea typeface="Calibri Light"/>
              </a:rPr>
              <a:t>results</a:t>
            </a:r>
            <a:r>
              <a:rPr sz="3450" spc="-9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25" dirty="0">
                <a:solidFill>
                  <a:srgbClr val="000000"/>
                </a:solidFill>
                <a:latin typeface="Calibri"/>
                <a:ea typeface="Calibri Light"/>
              </a:rPr>
              <a:t>and </a:t>
            </a:r>
            <a:r>
              <a:rPr sz="3450" spc="-95" dirty="0">
                <a:solidFill>
                  <a:srgbClr val="000000"/>
                </a:solidFill>
                <a:latin typeface="Calibri"/>
                <a:ea typeface="Calibri Light"/>
              </a:rPr>
              <a:t>preparing</a:t>
            </a:r>
            <a:r>
              <a:rPr sz="3450" spc="-15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100" dirty="0">
                <a:solidFill>
                  <a:srgbClr val="000000"/>
                </a:solidFill>
                <a:latin typeface="Calibri"/>
                <a:ea typeface="Calibri Light"/>
              </a:rPr>
              <a:t>performance</a:t>
            </a:r>
            <a:r>
              <a:rPr sz="3450" spc="-50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450" spc="-110" dirty="0">
                <a:solidFill>
                  <a:srgbClr val="000000"/>
                </a:solidFill>
                <a:latin typeface="Calibri"/>
                <a:ea typeface="Calibri Light"/>
              </a:rPr>
              <a:t>comparisons.</a:t>
            </a:r>
            <a:endParaRPr sz="3450" dirty="0">
              <a:latin typeface="Calibri"/>
              <a:ea typeface="Calibri Light"/>
            </a:endParaRPr>
          </a:p>
          <a:p>
            <a:pPr marL="336550" marR="208915" indent="-324485">
              <a:spcBef>
                <a:spcPts val="1550"/>
              </a:spcBef>
              <a:buChar char="•"/>
              <a:tabLst>
                <a:tab pos="336550" algn="l"/>
                <a:tab pos="342900" algn="l"/>
              </a:tabLst>
            </a:pPr>
            <a:r>
              <a:rPr sz="3650" dirty="0">
                <a:solidFill>
                  <a:srgbClr val="B84F21"/>
                </a:solidFill>
                <a:latin typeface="Calibri"/>
                <a:ea typeface="Calibri Light"/>
              </a:rPr>
              <a:t>	</a:t>
            </a:r>
            <a:r>
              <a:rPr sz="3650" spc="-270" dirty="0">
                <a:solidFill>
                  <a:srgbClr val="000000"/>
                </a:solidFill>
                <a:latin typeface="Calibri"/>
                <a:ea typeface="Calibri Light"/>
              </a:rPr>
              <a:t>Discussing</a:t>
            </a:r>
            <a:r>
              <a:rPr sz="3650" spc="12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50" spc="-180" dirty="0">
                <a:solidFill>
                  <a:srgbClr val="000000"/>
                </a:solidFill>
                <a:latin typeface="Calibri"/>
                <a:ea typeface="Calibri Light"/>
              </a:rPr>
              <a:t>the</a:t>
            </a:r>
            <a:r>
              <a:rPr sz="3650" spc="-9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50" spc="-210" dirty="0">
                <a:solidFill>
                  <a:srgbClr val="000000"/>
                </a:solidFill>
                <a:latin typeface="Calibri"/>
                <a:ea typeface="Calibri Light"/>
              </a:rPr>
              <a:t>behavior</a:t>
            </a:r>
            <a:r>
              <a:rPr sz="3650" spc="170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50" spc="-25" dirty="0">
                <a:solidFill>
                  <a:srgbClr val="000000"/>
                </a:solidFill>
                <a:latin typeface="Calibri"/>
                <a:ea typeface="Calibri Light"/>
              </a:rPr>
              <a:t>of </a:t>
            </a:r>
            <a:r>
              <a:rPr sz="3650" spc="-180" dirty="0">
                <a:solidFill>
                  <a:srgbClr val="000000"/>
                </a:solidFill>
                <a:latin typeface="Calibri"/>
                <a:ea typeface="Calibri Light"/>
              </a:rPr>
              <a:t>pretrained</a:t>
            </a:r>
            <a:r>
              <a:rPr sz="3650" spc="-8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50" spc="-190" dirty="0">
                <a:solidFill>
                  <a:srgbClr val="000000"/>
                </a:solidFill>
                <a:latin typeface="Calibri"/>
                <a:ea typeface="Calibri Light"/>
              </a:rPr>
              <a:t>vs.</a:t>
            </a:r>
            <a:r>
              <a:rPr sz="3650" spc="-235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50" spc="-175" dirty="0">
                <a:solidFill>
                  <a:srgbClr val="000000"/>
                </a:solidFill>
                <a:latin typeface="Calibri"/>
                <a:ea typeface="Calibri Light"/>
              </a:rPr>
              <a:t>from-</a:t>
            </a:r>
            <a:r>
              <a:rPr sz="3650" spc="-135" dirty="0">
                <a:solidFill>
                  <a:srgbClr val="000000"/>
                </a:solidFill>
                <a:latin typeface="Calibri"/>
                <a:ea typeface="Calibri Light"/>
              </a:rPr>
              <a:t>scratch</a:t>
            </a:r>
            <a:r>
              <a:rPr sz="3650" spc="-20" dirty="0">
                <a:solidFill>
                  <a:srgbClr val="000000"/>
                </a:solidFill>
                <a:latin typeface="Calibri"/>
                <a:ea typeface="Calibri Light"/>
              </a:rPr>
              <a:t> </a:t>
            </a:r>
            <a:r>
              <a:rPr sz="3650" spc="-275" dirty="0">
                <a:solidFill>
                  <a:srgbClr val="000000"/>
                </a:solidFill>
                <a:latin typeface="Calibri"/>
                <a:ea typeface="Calibri Light"/>
              </a:rPr>
              <a:t>models.</a:t>
            </a:r>
            <a:endParaRPr sz="3650" dirty="0">
              <a:latin typeface="Calibri"/>
              <a:ea typeface="Calibr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xfrm>
            <a:off x="8963785" y="2280029"/>
            <a:ext cx="7592397" cy="4623702"/>
          </a:xfrm>
          <a:prstGeom prst="rect">
            <a:avLst/>
          </a:prstGeom>
        </p:spPr>
        <p:txBody>
          <a:bodyPr vert="horz" wrap="square" lIns="0" tIns="1898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b="1" dirty="0"/>
              <a:t>Final</a:t>
            </a:r>
            <a:r>
              <a:rPr b="1" spc="-114" dirty="0"/>
              <a:t> </a:t>
            </a:r>
            <a:r>
              <a:rPr b="1" spc="-10" dirty="0">
                <a:solidFill>
                  <a:srgbClr val="052D4B"/>
                </a:solidFill>
              </a:rPr>
              <a:t>Phase</a:t>
            </a:r>
          </a:p>
          <a:p>
            <a:pPr marL="327025" indent="-311150">
              <a:spcBef>
                <a:spcPts val="1280"/>
              </a:spcBef>
              <a:buClr>
                <a:srgbClr val="BA501F"/>
              </a:buClr>
              <a:buChar char="•"/>
              <a:tabLst>
                <a:tab pos="327025" algn="l"/>
              </a:tabLst>
            </a:pPr>
            <a:r>
              <a:rPr sz="3600" spc="-170" dirty="0">
                <a:solidFill>
                  <a:srgbClr val="000000"/>
                </a:solidFill>
                <a:latin typeface="Calibri"/>
                <a:ea typeface="Calibri"/>
              </a:rPr>
              <a:t>Implementing</a:t>
            </a:r>
            <a:r>
              <a:rPr sz="3600" spc="12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600" spc="-315" dirty="0" err="1">
                <a:solidFill>
                  <a:srgbClr val="000000"/>
                </a:solidFill>
                <a:latin typeface="Calibri"/>
                <a:ea typeface="Calibri"/>
              </a:rPr>
              <a:t>AdaFace</a:t>
            </a:r>
            <a:r>
              <a:rPr sz="3600" spc="6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600" spc="-114" dirty="0">
                <a:solidFill>
                  <a:srgbClr val="000000"/>
                </a:solidFill>
                <a:latin typeface="Calibri"/>
                <a:ea typeface="Calibri"/>
              </a:rPr>
              <a:t>within</a:t>
            </a:r>
            <a:r>
              <a:rPr sz="3600" spc="-13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600" spc="-25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endParaRPr sz="3600" dirty="0">
              <a:latin typeface="Calibri"/>
              <a:ea typeface="Calibri"/>
            </a:endParaRPr>
          </a:p>
          <a:p>
            <a:pPr marL="358140"/>
            <a:r>
              <a:rPr sz="3800" spc="-290" dirty="0" err="1">
                <a:solidFill>
                  <a:srgbClr val="000000"/>
                </a:solidFill>
                <a:latin typeface="Calibri"/>
                <a:ea typeface="Calibri"/>
              </a:rPr>
              <a:t>AdaDistill</a:t>
            </a:r>
            <a:r>
              <a:rPr sz="3800" spc="160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800" spc="-254" dirty="0">
                <a:solidFill>
                  <a:srgbClr val="000000"/>
                </a:solidFill>
                <a:latin typeface="Calibri"/>
                <a:ea typeface="Calibri"/>
              </a:rPr>
              <a:t>repository</a:t>
            </a:r>
            <a:r>
              <a:rPr sz="3800" spc="22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800" spc="-160" dirty="0">
                <a:solidFill>
                  <a:srgbClr val="000000"/>
                </a:solidFill>
                <a:latin typeface="Calibri"/>
                <a:ea typeface="Calibri"/>
              </a:rPr>
              <a:t>architecture.</a:t>
            </a:r>
            <a:endParaRPr sz="3800" dirty="0">
              <a:latin typeface="Calibri"/>
              <a:ea typeface="Calibri"/>
            </a:endParaRPr>
          </a:p>
          <a:p>
            <a:pPr marL="342900" marR="5080" indent="-326390">
              <a:spcBef>
                <a:spcPts val="1580"/>
              </a:spcBef>
              <a:buChar char="•"/>
              <a:tabLst>
                <a:tab pos="342900" algn="l"/>
                <a:tab pos="346075" algn="l"/>
              </a:tabLst>
            </a:pPr>
            <a:r>
              <a:rPr sz="3450" dirty="0">
                <a:solidFill>
                  <a:srgbClr val="BC4F1F"/>
                </a:solidFill>
                <a:latin typeface="Calibri"/>
                <a:ea typeface="Calibri"/>
              </a:rPr>
              <a:t>	</a:t>
            </a:r>
            <a:r>
              <a:rPr sz="3450" spc="-135" dirty="0">
                <a:solidFill>
                  <a:srgbClr val="000000"/>
                </a:solidFill>
                <a:latin typeface="Calibri"/>
                <a:ea typeface="Calibri"/>
              </a:rPr>
              <a:t>Generating</a:t>
            </a:r>
            <a:r>
              <a:rPr sz="3450" spc="-7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spc="-105" dirty="0">
                <a:solidFill>
                  <a:srgbClr val="000000"/>
                </a:solidFill>
                <a:latin typeface="Calibri"/>
                <a:ea typeface="Calibri"/>
              </a:rPr>
              <a:t>high-</a:t>
            </a:r>
            <a:r>
              <a:rPr sz="3450" spc="-35" dirty="0">
                <a:solidFill>
                  <a:srgbClr val="000000"/>
                </a:solidFill>
                <a:latin typeface="Calibri"/>
                <a:ea typeface="Calibri"/>
              </a:rPr>
              <a:t>level</a:t>
            </a:r>
            <a:r>
              <a:rPr sz="3450" spc="-14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spc="-100" dirty="0">
                <a:solidFill>
                  <a:srgbClr val="000000"/>
                </a:solidFill>
                <a:latin typeface="Calibri"/>
                <a:ea typeface="Calibri"/>
              </a:rPr>
              <a:t>explanations </a:t>
            </a:r>
            <a:r>
              <a:rPr sz="345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sz="3450" spc="-114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sz="3450" spc="-50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spc="-125" dirty="0" err="1">
                <a:solidFill>
                  <a:srgbClr val="000000"/>
                </a:solidFill>
                <a:latin typeface="Calibri"/>
                <a:ea typeface="Calibri"/>
              </a:rPr>
              <a:t>AdaDistill</a:t>
            </a:r>
            <a:r>
              <a:rPr sz="3450" spc="-114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spc="-10" dirty="0">
                <a:solidFill>
                  <a:srgbClr val="000000"/>
                </a:solidFill>
                <a:latin typeface="Calibri"/>
                <a:ea typeface="Calibri"/>
              </a:rPr>
              <a:t>methodology.</a:t>
            </a:r>
            <a:endParaRPr sz="3450" dirty="0">
              <a:latin typeface="Calibri"/>
              <a:ea typeface="Calibri"/>
            </a:endParaRPr>
          </a:p>
          <a:p>
            <a:pPr marL="340995" marR="50165" indent="-324485">
              <a:spcBef>
                <a:spcPts val="1550"/>
              </a:spcBef>
              <a:buChar char="•"/>
              <a:tabLst>
                <a:tab pos="340995" algn="l"/>
                <a:tab pos="358775" algn="l"/>
              </a:tabLst>
            </a:pPr>
            <a:r>
              <a:rPr sz="3400" dirty="0">
                <a:solidFill>
                  <a:srgbClr val="BC5223"/>
                </a:solidFill>
                <a:latin typeface="Calibri"/>
                <a:ea typeface="Calibri"/>
              </a:rPr>
              <a:t>	</a:t>
            </a:r>
            <a:r>
              <a:rPr sz="3400" spc="-75" dirty="0">
                <a:solidFill>
                  <a:srgbClr val="000000"/>
                </a:solidFill>
                <a:latin typeface="Calibri"/>
                <a:ea typeface="Calibri"/>
              </a:rPr>
              <a:t>Assisting</a:t>
            </a:r>
            <a:r>
              <a:rPr sz="3400" spc="-13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00" dirty="0">
                <a:solidFill>
                  <a:srgbClr val="000000"/>
                </a:solidFill>
                <a:latin typeface="Calibri"/>
                <a:ea typeface="Calibri"/>
              </a:rPr>
              <a:t>in</a:t>
            </a:r>
            <a:r>
              <a:rPr sz="3400" spc="-23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00" dirty="0">
                <a:solidFill>
                  <a:srgbClr val="000000"/>
                </a:solidFill>
                <a:latin typeface="Calibri"/>
                <a:ea typeface="Calibri"/>
              </a:rPr>
              <a:t>the</a:t>
            </a:r>
            <a:r>
              <a:rPr sz="3400" spc="-15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00" spc="-90" dirty="0">
                <a:solidFill>
                  <a:srgbClr val="000000"/>
                </a:solidFill>
                <a:latin typeface="Calibri"/>
                <a:ea typeface="Calibri"/>
              </a:rPr>
              <a:t>analysis</a:t>
            </a:r>
            <a:r>
              <a:rPr sz="3400" spc="-30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00" spc="-25" dirty="0">
                <a:solidFill>
                  <a:srgbClr val="000000"/>
                </a:solidFill>
                <a:latin typeface="Calibri"/>
                <a:ea typeface="Calibri"/>
              </a:rPr>
              <a:t>and </a:t>
            </a:r>
            <a:r>
              <a:rPr sz="3450" spc="-50" dirty="0">
                <a:solidFill>
                  <a:srgbClr val="000000"/>
                </a:solidFill>
                <a:latin typeface="Calibri"/>
                <a:ea typeface="Calibri"/>
              </a:rPr>
              <a:t>interpretation</a:t>
            </a:r>
            <a:r>
              <a:rPr sz="3450" spc="-200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dirty="0">
                <a:solidFill>
                  <a:srgbClr val="000000"/>
                </a:solidFill>
                <a:latin typeface="Calibri"/>
                <a:ea typeface="Calibri"/>
              </a:rPr>
              <a:t>of</a:t>
            </a:r>
            <a:r>
              <a:rPr sz="3450" spc="-110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spc="-60" dirty="0">
                <a:solidFill>
                  <a:srgbClr val="000000"/>
                </a:solidFill>
                <a:latin typeface="Calibri"/>
                <a:ea typeface="Calibri"/>
              </a:rPr>
              <a:t>final</a:t>
            </a:r>
            <a:r>
              <a:rPr sz="3450" spc="-75" dirty="0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sz="3450" spc="-105" dirty="0">
                <a:solidFill>
                  <a:srgbClr val="000000"/>
                </a:solidFill>
                <a:latin typeface="Calibri"/>
                <a:ea typeface="Calibri"/>
              </a:rPr>
              <a:t>experimental </a:t>
            </a:r>
            <a:r>
              <a:rPr sz="3450" spc="-10" dirty="0">
                <a:solidFill>
                  <a:srgbClr val="000000"/>
                </a:solidFill>
                <a:latin typeface="Calibri"/>
                <a:ea typeface="Calibri"/>
              </a:rPr>
              <a:t>results.</a:t>
            </a:r>
            <a:endParaRPr sz="3450" dirty="0">
              <a:latin typeface="Calibri"/>
              <a:ea typeface="Calibri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0C9B4E5-EA0E-4532-A212-D9D9ECB83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0274" y="9431774"/>
            <a:ext cx="1133633" cy="25721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0431" rIns="0" bIns="0" rtlCol="0">
            <a:spAutoFit/>
          </a:bodyPr>
          <a:lstStyle/>
          <a:p>
            <a:pPr marL="600710">
              <a:lnSpc>
                <a:spcPct val="100000"/>
              </a:lnSpc>
              <a:spcBef>
                <a:spcPts val="120"/>
              </a:spcBef>
            </a:pPr>
            <a:r>
              <a:rPr spc="-80"/>
              <a:t>Resources</a:t>
            </a:r>
            <a:r>
              <a:rPr spc="-245"/>
              <a:t> </a:t>
            </a:r>
            <a:r>
              <a:rPr spc="-105">
                <a:solidFill>
                  <a:srgbClr val="01365D"/>
                </a:solidFill>
              </a:rPr>
              <a:t>and</a:t>
            </a:r>
            <a:r>
              <a:rPr spc="-290">
                <a:solidFill>
                  <a:srgbClr val="01365D"/>
                </a:solidFill>
              </a:rPr>
              <a:t> </a:t>
            </a:r>
            <a:r>
              <a:rPr spc="-85">
                <a:solidFill>
                  <a:srgbClr val="01365E"/>
                </a:solidFill>
              </a:rPr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297609" y="2529416"/>
            <a:ext cx="14879980" cy="6185027"/>
          </a:xfrm>
          <a:prstGeom prst="rect">
            <a:avLst/>
          </a:prstGeom>
        </p:spPr>
        <p:txBody>
          <a:bodyPr vert="horz" wrap="square" lIns="0" tIns="67310" rIns="0" bIns="0" rtlCol="0" anchor="t">
            <a:spAutoFit/>
          </a:bodyPr>
          <a:lstStyle/>
          <a:p>
            <a:pPr marL="27305">
              <a:lnSpc>
                <a:spcPct val="100000"/>
              </a:lnSpc>
              <a:spcBef>
                <a:spcPts val="530"/>
              </a:spcBef>
            </a:pPr>
            <a:r>
              <a:rPr b="1" dirty="0">
                <a:solidFill>
                  <a:srgbClr val="072B49"/>
                </a:solidFill>
              </a:rPr>
              <a:t>Code</a:t>
            </a:r>
            <a:r>
              <a:rPr b="1" spc="-200" dirty="0">
                <a:solidFill>
                  <a:srgbClr val="072B49"/>
                </a:solidFill>
              </a:rPr>
              <a:t> </a:t>
            </a:r>
            <a:r>
              <a:rPr b="1" spc="-10" dirty="0"/>
              <a:t>Repositories</a:t>
            </a:r>
          </a:p>
          <a:p>
            <a:pPr marL="377825" indent="-351790">
              <a:lnSpc>
                <a:spcPts val="3879"/>
              </a:lnSpc>
              <a:spcBef>
                <a:spcPts val="440"/>
              </a:spcBef>
              <a:buClr>
                <a:srgbClr val="7C7C7C"/>
              </a:buClr>
              <a:buChar char="•"/>
              <a:tabLst>
                <a:tab pos="377825" algn="l"/>
              </a:tabLst>
            </a:pPr>
            <a:r>
              <a:rPr spc="-254" dirty="0" err="1">
                <a:solidFill>
                  <a:srgbClr val="0A0A0A"/>
                </a:solidFill>
              </a:rPr>
              <a:t>AdaFace</a:t>
            </a:r>
            <a:r>
              <a:rPr spc="-254" dirty="0">
                <a:solidFill>
                  <a:srgbClr val="0A0A0A"/>
                </a:solidFill>
              </a:rPr>
              <a:t>:</a:t>
            </a:r>
            <a:r>
              <a:rPr spc="280" dirty="0">
                <a:solidFill>
                  <a:srgbClr val="0A0A0A"/>
                </a:solidFill>
              </a:rPr>
              <a:t> </a:t>
            </a:r>
            <a:r>
              <a:rPr spc="-114" dirty="0">
                <a:solidFill>
                  <a:srgbClr val="905734"/>
                </a:solidFill>
                <a:hlinkClick r:id="rId2"/>
              </a:rPr>
              <a:t>https://github.com/mk-</a:t>
            </a:r>
            <a:r>
              <a:rPr spc="-25" dirty="0">
                <a:solidFill>
                  <a:srgbClr val="905734"/>
                </a:solidFill>
                <a:hlinkClick r:id="rId2"/>
              </a:rPr>
              <a:t>minchul/AdaFace</a:t>
            </a:r>
          </a:p>
          <a:p>
            <a:pPr marL="377825" indent="-351155">
              <a:lnSpc>
                <a:spcPts val="3760"/>
              </a:lnSpc>
              <a:buClr>
                <a:srgbClr val="7B7B7B"/>
              </a:buClr>
              <a:buChar char="•"/>
              <a:tabLst>
                <a:tab pos="377825" algn="l"/>
              </a:tabLst>
            </a:pPr>
            <a:r>
              <a:rPr sz="3200" spc="-105" dirty="0" err="1">
                <a:solidFill>
                  <a:srgbClr val="000000"/>
                </a:solidFill>
              </a:rPr>
              <a:t>AdaDistill</a:t>
            </a:r>
            <a:r>
              <a:rPr sz="3200" spc="-105" dirty="0">
                <a:solidFill>
                  <a:srgbClr val="000000"/>
                </a:solidFill>
              </a:rPr>
              <a:t>:</a:t>
            </a:r>
            <a:r>
              <a:rPr sz="3200" spc="-3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7B4F34"/>
                </a:solidFill>
                <a:hlinkClick r:id="rId3"/>
              </a:rPr>
              <a:t>https://github.com/fdbtrs/AdaDistill</a:t>
            </a:r>
            <a:endParaRPr sz="3200" dirty="0"/>
          </a:p>
          <a:p>
            <a:pPr marL="13335">
              <a:lnSpc>
                <a:spcPct val="100000"/>
              </a:lnSpc>
              <a:spcBef>
                <a:spcPts val="229"/>
              </a:spcBef>
              <a:buFont typeface="Arial"/>
              <a:buChar char="•"/>
            </a:pPr>
            <a:endParaRPr sz="3200" dirty="0"/>
          </a:p>
          <a:p>
            <a:pPr marL="28575">
              <a:lnSpc>
                <a:spcPct val="100000"/>
              </a:lnSpc>
            </a:pPr>
            <a:r>
              <a:rPr sz="3400" b="1" spc="-100" dirty="0">
                <a:solidFill>
                  <a:srgbClr val="083152"/>
                </a:solidFill>
              </a:rPr>
              <a:t>Key</a:t>
            </a:r>
            <a:r>
              <a:rPr sz="3400" b="1" spc="-125" dirty="0">
                <a:solidFill>
                  <a:srgbClr val="083152"/>
                </a:solidFill>
              </a:rPr>
              <a:t> </a:t>
            </a:r>
            <a:r>
              <a:rPr sz="3400" b="1" spc="-10" dirty="0">
                <a:solidFill>
                  <a:srgbClr val="052F4F"/>
                </a:solidFill>
              </a:rPr>
              <a:t>Papers</a:t>
            </a:r>
            <a:endParaRPr sz="3400" b="1" dirty="0"/>
          </a:p>
          <a:p>
            <a:pPr marL="361950" indent="-334645">
              <a:lnSpc>
                <a:spcPts val="3660"/>
              </a:lnSpc>
              <a:spcBef>
                <a:spcPts val="570"/>
              </a:spcBef>
              <a:buClr>
                <a:srgbClr val="797979"/>
              </a:buClr>
              <a:buChar char="•"/>
              <a:tabLst>
                <a:tab pos="361950" algn="l"/>
              </a:tabLst>
            </a:pPr>
            <a:r>
              <a:rPr sz="3100" spc="-10" dirty="0">
                <a:solidFill>
                  <a:srgbClr val="000000"/>
                </a:solidFill>
              </a:rPr>
              <a:t>Kim</a:t>
            </a:r>
            <a:r>
              <a:rPr sz="3100" spc="-150" dirty="0">
                <a:solidFill>
                  <a:srgbClr val="000000"/>
                </a:solidFill>
              </a:rPr>
              <a:t> </a:t>
            </a:r>
            <a:r>
              <a:rPr sz="3100" dirty="0">
                <a:solidFill>
                  <a:srgbClr val="0F0F0F"/>
                </a:solidFill>
              </a:rPr>
              <a:t>et</a:t>
            </a:r>
            <a:r>
              <a:rPr sz="3100" spc="-135" dirty="0">
                <a:solidFill>
                  <a:srgbClr val="0F0F0F"/>
                </a:solidFill>
              </a:rPr>
              <a:t> </a:t>
            </a:r>
            <a:r>
              <a:rPr sz="3100" spc="-40" dirty="0">
                <a:solidFill>
                  <a:srgbClr val="0A0A0A"/>
                </a:solidFill>
              </a:rPr>
              <a:t>al.</a:t>
            </a:r>
            <a:r>
              <a:rPr sz="3100" spc="-175" dirty="0">
                <a:solidFill>
                  <a:srgbClr val="0A0A0A"/>
                </a:solidFill>
              </a:rPr>
              <a:t> </a:t>
            </a:r>
            <a:r>
              <a:rPr sz="3100" spc="-100" dirty="0">
                <a:solidFill>
                  <a:srgbClr val="000000"/>
                </a:solidFill>
              </a:rPr>
              <a:t>“</a:t>
            </a:r>
            <a:r>
              <a:rPr sz="3100" spc="-100" dirty="0" err="1">
                <a:solidFill>
                  <a:srgbClr val="000000"/>
                </a:solidFill>
              </a:rPr>
              <a:t>AdaFace</a:t>
            </a:r>
            <a:r>
              <a:rPr sz="3100" spc="-100" dirty="0">
                <a:solidFill>
                  <a:srgbClr val="000000"/>
                </a:solidFill>
              </a:rPr>
              <a:t>:</a:t>
            </a:r>
            <a:r>
              <a:rPr sz="3100" spc="-45" dirty="0">
                <a:solidFill>
                  <a:srgbClr val="000000"/>
                </a:solidFill>
              </a:rPr>
              <a:t> </a:t>
            </a:r>
            <a:r>
              <a:rPr sz="3100" spc="-30" dirty="0">
                <a:solidFill>
                  <a:srgbClr val="000000"/>
                </a:solidFill>
              </a:rPr>
              <a:t>Quality</a:t>
            </a:r>
            <a:r>
              <a:rPr sz="3100" spc="75" dirty="0">
                <a:solidFill>
                  <a:srgbClr val="000000"/>
                </a:solidFill>
              </a:rPr>
              <a:t> </a:t>
            </a:r>
            <a:r>
              <a:rPr sz="3100" spc="-30" dirty="0">
                <a:solidFill>
                  <a:srgbClr val="0E0E0E"/>
                </a:solidFill>
              </a:rPr>
              <a:t>Adaptive</a:t>
            </a:r>
            <a:r>
              <a:rPr sz="3100" spc="-85" dirty="0">
                <a:solidFill>
                  <a:srgbClr val="0E0E0E"/>
                </a:solidFill>
              </a:rPr>
              <a:t> </a:t>
            </a:r>
            <a:r>
              <a:rPr sz="3100" spc="-25" dirty="0">
                <a:solidFill>
                  <a:srgbClr val="0A0A0A"/>
                </a:solidFill>
              </a:rPr>
              <a:t>Margin</a:t>
            </a:r>
            <a:r>
              <a:rPr sz="3100" spc="-135" dirty="0">
                <a:solidFill>
                  <a:srgbClr val="0A0A0A"/>
                </a:solidFill>
              </a:rPr>
              <a:t> </a:t>
            </a:r>
            <a:r>
              <a:rPr sz="3100" dirty="0">
                <a:solidFill>
                  <a:srgbClr val="131313"/>
                </a:solidFill>
              </a:rPr>
              <a:t>for</a:t>
            </a:r>
            <a:r>
              <a:rPr sz="3100" spc="-100" dirty="0">
                <a:solidFill>
                  <a:srgbClr val="131313"/>
                </a:solidFill>
              </a:rPr>
              <a:t> </a:t>
            </a:r>
            <a:r>
              <a:rPr sz="3100" spc="-70" dirty="0">
                <a:solidFill>
                  <a:srgbClr val="0F0F0F"/>
                </a:solidFill>
              </a:rPr>
              <a:t>Face</a:t>
            </a:r>
            <a:r>
              <a:rPr sz="3100" spc="-120" dirty="0">
                <a:solidFill>
                  <a:srgbClr val="0F0F0F"/>
                </a:solidFill>
              </a:rPr>
              <a:t> </a:t>
            </a:r>
            <a:r>
              <a:rPr sz="3100" spc="-60" dirty="0">
                <a:solidFill>
                  <a:srgbClr val="000000"/>
                </a:solidFill>
              </a:rPr>
              <a:t>Recognition."</a:t>
            </a:r>
            <a:r>
              <a:rPr sz="3100" spc="165" dirty="0">
                <a:solidFill>
                  <a:srgbClr val="000000"/>
                </a:solidFill>
              </a:rPr>
              <a:t> </a:t>
            </a:r>
            <a:r>
              <a:rPr sz="3100" spc="-315" dirty="0">
                <a:solidFill>
                  <a:srgbClr val="0F0F0F"/>
                </a:solidFill>
              </a:rPr>
              <a:t>(CVPR</a:t>
            </a:r>
            <a:r>
              <a:rPr sz="3100" spc="105" dirty="0">
                <a:solidFill>
                  <a:srgbClr val="0F0F0F"/>
                </a:solidFill>
              </a:rPr>
              <a:t> </a:t>
            </a:r>
            <a:r>
              <a:rPr sz="3100" spc="-10" dirty="0">
                <a:solidFill>
                  <a:srgbClr val="0C0C0C"/>
                </a:solidFill>
              </a:rPr>
              <a:t>2022)</a:t>
            </a:r>
            <a:endParaRPr sz="3100" dirty="0"/>
          </a:p>
          <a:p>
            <a:pPr marL="358775" marR="5080" indent="-333375">
              <a:lnSpc>
                <a:spcPts val="3550"/>
              </a:lnSpc>
              <a:spcBef>
                <a:spcPts val="350"/>
              </a:spcBef>
              <a:buClr>
                <a:srgbClr val="797979"/>
              </a:buClr>
              <a:buChar char="•"/>
              <a:tabLst>
                <a:tab pos="378460" algn="l"/>
              </a:tabLst>
            </a:pPr>
            <a:r>
              <a:rPr sz="3250" spc="-110" dirty="0">
                <a:solidFill>
                  <a:srgbClr val="0C0C0C"/>
                </a:solidFill>
              </a:rPr>
              <a:t>Boutros</a:t>
            </a:r>
            <a:r>
              <a:rPr sz="3250" spc="-114" dirty="0">
                <a:solidFill>
                  <a:srgbClr val="0C0C0C"/>
                </a:solidFill>
              </a:rPr>
              <a:t> </a:t>
            </a:r>
            <a:r>
              <a:rPr sz="3250" dirty="0">
                <a:solidFill>
                  <a:srgbClr val="0C0C0C"/>
                </a:solidFill>
              </a:rPr>
              <a:t>et</a:t>
            </a:r>
            <a:r>
              <a:rPr sz="3250" spc="-225" dirty="0">
                <a:solidFill>
                  <a:srgbClr val="0C0C0C"/>
                </a:solidFill>
              </a:rPr>
              <a:t> </a:t>
            </a:r>
            <a:r>
              <a:rPr sz="3250" spc="-190" dirty="0">
                <a:solidFill>
                  <a:srgbClr val="000000"/>
                </a:solidFill>
              </a:rPr>
              <a:t>at.</a:t>
            </a:r>
            <a:r>
              <a:rPr sz="3250" spc="-100" dirty="0">
                <a:solidFill>
                  <a:srgbClr val="000000"/>
                </a:solidFill>
              </a:rPr>
              <a:t> </a:t>
            </a:r>
            <a:r>
              <a:rPr sz="3250" spc="-110" dirty="0">
                <a:solidFill>
                  <a:srgbClr val="0C0C0C"/>
                </a:solidFill>
              </a:rPr>
              <a:t>“</a:t>
            </a:r>
            <a:r>
              <a:rPr sz="3250" spc="-110" dirty="0" err="1">
                <a:solidFill>
                  <a:srgbClr val="0C0C0C"/>
                </a:solidFill>
              </a:rPr>
              <a:t>AdaDistill</a:t>
            </a:r>
            <a:r>
              <a:rPr sz="3250" spc="-110" dirty="0">
                <a:solidFill>
                  <a:srgbClr val="0C0C0C"/>
                </a:solidFill>
              </a:rPr>
              <a:t>: </a:t>
            </a:r>
            <a:r>
              <a:rPr sz="3250" spc="-114" dirty="0">
                <a:solidFill>
                  <a:srgbClr val="111111"/>
                </a:solidFill>
              </a:rPr>
              <a:t>Adaptive</a:t>
            </a:r>
            <a:r>
              <a:rPr sz="3250" spc="-20" dirty="0">
                <a:solidFill>
                  <a:srgbClr val="111111"/>
                </a:solidFill>
              </a:rPr>
              <a:t> </a:t>
            </a:r>
            <a:r>
              <a:rPr sz="3250" spc="-140" dirty="0">
                <a:solidFill>
                  <a:srgbClr val="0F0F0F"/>
                </a:solidFill>
              </a:rPr>
              <a:t>Knowledge</a:t>
            </a:r>
            <a:r>
              <a:rPr sz="3250" spc="-30" dirty="0">
                <a:solidFill>
                  <a:srgbClr val="0F0F0F"/>
                </a:solidFill>
              </a:rPr>
              <a:t> </a:t>
            </a:r>
            <a:r>
              <a:rPr sz="3250" spc="-65" dirty="0">
                <a:solidFill>
                  <a:srgbClr val="0A0A0A"/>
                </a:solidFill>
              </a:rPr>
              <a:t>Distillation</a:t>
            </a:r>
            <a:r>
              <a:rPr sz="3250" spc="-30" dirty="0">
                <a:solidFill>
                  <a:srgbClr val="0A0A0A"/>
                </a:solidFill>
              </a:rPr>
              <a:t> </a:t>
            </a:r>
            <a:r>
              <a:rPr sz="3250" spc="-10" dirty="0">
                <a:solidFill>
                  <a:srgbClr val="0C0C0C"/>
                </a:solidFill>
              </a:rPr>
              <a:t>for</a:t>
            </a:r>
            <a:r>
              <a:rPr sz="3250" spc="-125" dirty="0">
                <a:solidFill>
                  <a:srgbClr val="0C0C0C"/>
                </a:solidFill>
              </a:rPr>
              <a:t> </a:t>
            </a:r>
            <a:r>
              <a:rPr sz="3250" spc="-204" dirty="0">
                <a:solidFill>
                  <a:srgbClr val="0C0C0C"/>
                </a:solidFill>
              </a:rPr>
              <a:t>Deep</a:t>
            </a:r>
            <a:r>
              <a:rPr sz="3250" spc="-20" dirty="0">
                <a:solidFill>
                  <a:srgbClr val="0C0C0C"/>
                </a:solidFill>
              </a:rPr>
              <a:t> </a:t>
            </a:r>
            <a:r>
              <a:rPr sz="3250" spc="-215" dirty="0">
                <a:solidFill>
                  <a:srgbClr val="0C0C0C"/>
                </a:solidFill>
              </a:rPr>
              <a:t>Face</a:t>
            </a:r>
            <a:r>
              <a:rPr sz="3250" spc="-10" dirty="0">
                <a:solidFill>
                  <a:srgbClr val="0C0C0C"/>
                </a:solidFill>
              </a:rPr>
              <a:t> </a:t>
            </a:r>
            <a:r>
              <a:rPr sz="3250" spc="-120" dirty="0">
                <a:solidFill>
                  <a:srgbClr val="000000"/>
                </a:solidFill>
              </a:rPr>
              <a:t>Recognition." 	</a:t>
            </a:r>
            <a:r>
              <a:rPr sz="3250" spc="-350" dirty="0">
                <a:solidFill>
                  <a:srgbClr val="000000"/>
                </a:solidFill>
              </a:rPr>
              <a:t>(ECCV</a:t>
            </a:r>
            <a:r>
              <a:rPr sz="3250" spc="170" dirty="0">
                <a:solidFill>
                  <a:srgbClr val="000000"/>
                </a:solidFill>
              </a:rPr>
              <a:t> </a:t>
            </a:r>
            <a:r>
              <a:rPr sz="3250" spc="-10" dirty="0">
                <a:solidFill>
                  <a:srgbClr val="000000"/>
                </a:solidFill>
              </a:rPr>
              <a:t>2024)</a:t>
            </a:r>
            <a:endParaRPr sz="3250" dirty="0"/>
          </a:p>
          <a:p>
            <a:pPr marL="28575">
              <a:lnSpc>
                <a:spcPct val="100000"/>
              </a:lnSpc>
              <a:spcBef>
                <a:spcPts val="3690"/>
              </a:spcBef>
            </a:pPr>
            <a:r>
              <a:rPr lang="af-ZA" b="1" dirty="0">
                <a:solidFill>
                  <a:srgbClr val="0C314B"/>
                </a:solidFill>
              </a:rPr>
              <a:t>Datasets</a:t>
            </a:r>
            <a:r>
              <a:rPr lang="af-ZA" b="1" spc="250" dirty="0">
                <a:solidFill>
                  <a:srgbClr val="0C314B"/>
                </a:solidFill>
              </a:rPr>
              <a:t> </a:t>
            </a:r>
            <a:r>
              <a:rPr lang="af-ZA" b="1" spc="-20" dirty="0">
                <a:solidFill>
                  <a:srgbClr val="052844"/>
                </a:solidFill>
              </a:rPr>
              <a:t>Used</a:t>
            </a:r>
          </a:p>
          <a:p>
            <a:pPr marL="356235" indent="-328930">
              <a:lnSpc>
                <a:spcPct val="100000"/>
              </a:lnSpc>
              <a:spcBef>
                <a:spcPts val="640"/>
              </a:spcBef>
              <a:buClr>
                <a:srgbClr val="797979"/>
              </a:buClr>
              <a:buChar char="•"/>
              <a:tabLst>
                <a:tab pos="356235" algn="l"/>
              </a:tabLst>
            </a:pPr>
            <a:r>
              <a:rPr sz="3100" dirty="0">
                <a:solidFill>
                  <a:srgbClr val="000000"/>
                </a:solidFill>
              </a:rPr>
              <a:t>Training:</a:t>
            </a:r>
            <a:r>
              <a:rPr sz="3100" spc="90" dirty="0">
                <a:solidFill>
                  <a:srgbClr val="000000"/>
                </a:solidFill>
              </a:rPr>
              <a:t> </a:t>
            </a:r>
            <a:r>
              <a:rPr sz="3100" spc="-35" dirty="0">
                <a:solidFill>
                  <a:srgbClr val="000000"/>
                </a:solidFill>
              </a:rPr>
              <a:t>MS1MV2</a:t>
            </a:r>
            <a:endParaRPr sz="3100" dirty="0"/>
          </a:p>
          <a:p>
            <a:pPr marL="349250" indent="-321310">
              <a:lnSpc>
                <a:spcPct val="100000"/>
              </a:lnSpc>
              <a:spcBef>
                <a:spcPts val="130"/>
              </a:spcBef>
              <a:buClr>
                <a:srgbClr val="797979"/>
              </a:buClr>
              <a:buChar char="•"/>
              <a:tabLst>
                <a:tab pos="349250" algn="l"/>
              </a:tabLst>
            </a:pPr>
            <a:r>
              <a:rPr sz="2950" spc="75" dirty="0">
                <a:solidFill>
                  <a:srgbClr val="000000"/>
                </a:solidFill>
              </a:rPr>
              <a:t>Evaluation:</a:t>
            </a:r>
            <a:r>
              <a:rPr sz="2950" spc="30" dirty="0">
                <a:solidFill>
                  <a:srgbClr val="000000"/>
                </a:solidFill>
              </a:rPr>
              <a:t> </a:t>
            </a:r>
            <a:r>
              <a:rPr sz="2950" spc="-105" dirty="0">
                <a:solidFill>
                  <a:srgbClr val="000000"/>
                </a:solidFill>
              </a:rPr>
              <a:t>LFW,</a:t>
            </a:r>
            <a:r>
              <a:rPr sz="2950" spc="-30" dirty="0">
                <a:solidFill>
                  <a:srgbClr val="000000"/>
                </a:solidFill>
              </a:rPr>
              <a:t> </a:t>
            </a:r>
            <a:r>
              <a:rPr sz="2950" spc="-114" dirty="0">
                <a:solidFill>
                  <a:srgbClr val="000000"/>
                </a:solidFill>
              </a:rPr>
              <a:t>CFP-</a:t>
            </a:r>
            <a:r>
              <a:rPr sz="2950" dirty="0">
                <a:solidFill>
                  <a:srgbClr val="000000"/>
                </a:solidFill>
              </a:rPr>
              <a:t>FP,</a:t>
            </a:r>
            <a:r>
              <a:rPr sz="2950" spc="60" dirty="0">
                <a:solidFill>
                  <a:srgbClr val="000000"/>
                </a:solidFill>
              </a:rPr>
              <a:t> </a:t>
            </a:r>
            <a:r>
              <a:rPr sz="2950" spc="-10" dirty="0">
                <a:solidFill>
                  <a:srgbClr val="000000"/>
                </a:solidFill>
              </a:rPr>
              <a:t>AgeDB-</a:t>
            </a:r>
            <a:r>
              <a:rPr sz="2950" dirty="0">
                <a:solidFill>
                  <a:srgbClr val="000000"/>
                </a:solidFill>
              </a:rPr>
              <a:t>30,</a:t>
            </a:r>
            <a:r>
              <a:rPr sz="2950" spc="95" dirty="0">
                <a:solidFill>
                  <a:srgbClr val="000000"/>
                </a:solidFill>
              </a:rPr>
              <a:t> </a:t>
            </a:r>
            <a:r>
              <a:rPr sz="2950" spc="-100" dirty="0">
                <a:solidFill>
                  <a:srgbClr val="000000"/>
                </a:solidFill>
              </a:rPr>
              <a:t>CALFW,</a:t>
            </a:r>
            <a:r>
              <a:rPr sz="2950" spc="45" dirty="0">
                <a:solidFill>
                  <a:srgbClr val="000000"/>
                </a:solidFill>
              </a:rPr>
              <a:t> </a:t>
            </a:r>
            <a:r>
              <a:rPr sz="2950" spc="-110" dirty="0">
                <a:solidFill>
                  <a:srgbClr val="000000"/>
                </a:solidFill>
              </a:rPr>
              <a:t>CPLFW,</a:t>
            </a:r>
            <a:r>
              <a:rPr sz="2950" spc="25" dirty="0">
                <a:solidFill>
                  <a:srgbClr val="000000"/>
                </a:solidFill>
              </a:rPr>
              <a:t> </a:t>
            </a:r>
            <a:r>
              <a:rPr sz="2950" dirty="0" err="1">
                <a:solidFill>
                  <a:srgbClr val="000000"/>
                </a:solidFill>
              </a:rPr>
              <a:t>TinyFace</a:t>
            </a:r>
            <a:r>
              <a:rPr sz="2950" dirty="0">
                <a:solidFill>
                  <a:srgbClr val="000000"/>
                </a:solidFill>
              </a:rPr>
              <a:t>,</a:t>
            </a:r>
            <a:r>
              <a:rPr sz="2950" spc="-30" dirty="0">
                <a:solidFill>
                  <a:srgbClr val="000000"/>
                </a:solidFill>
              </a:rPr>
              <a:t> </a:t>
            </a:r>
            <a:r>
              <a:rPr sz="2950" spc="-25" dirty="0">
                <a:solidFill>
                  <a:srgbClr val="000000"/>
                </a:solidFill>
              </a:rPr>
              <a:t>IJBB,</a:t>
            </a:r>
            <a:r>
              <a:rPr sz="2950" spc="-135" dirty="0">
                <a:solidFill>
                  <a:srgbClr val="000000"/>
                </a:solidFill>
              </a:rPr>
              <a:t> </a:t>
            </a:r>
            <a:r>
              <a:rPr sz="2950" spc="-20" dirty="0">
                <a:solidFill>
                  <a:srgbClr val="000000"/>
                </a:solidFill>
              </a:rPr>
              <a:t>IJBC</a:t>
            </a:r>
            <a:endParaRPr sz="295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BEBD2FF-1D6D-443C-A331-E483E9A2C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20274" y="9431774"/>
            <a:ext cx="1133633" cy="2572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1559</TotalTime>
  <Words>2552</Words>
  <Application>Microsoft Office PowerPoint</Application>
  <PresentationFormat>自訂</PresentationFormat>
  <Paragraphs>455</Paragraphs>
  <Slides>35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7" baseType="lpstr">
      <vt:lpstr>OCR A Extended</vt:lpstr>
      <vt:lpstr>微軟正黑體</vt:lpstr>
      <vt:lpstr>新細明體</vt:lpstr>
      <vt:lpstr>Arial</vt:lpstr>
      <vt:lpstr>Calibri</vt:lpstr>
      <vt:lpstr>Cambria</vt:lpstr>
      <vt:lpstr>Cambria Math</vt:lpstr>
      <vt:lpstr>Consolas</vt:lpstr>
      <vt:lpstr>Corbel</vt:lpstr>
      <vt:lpstr>Times New Roman</vt:lpstr>
      <vt:lpstr>Trebuchet MS</vt:lpstr>
      <vt:lpstr>Office Theme</vt:lpstr>
      <vt:lpstr>Lightweight AdaFace</vt:lpstr>
      <vt:lpstr>The Journey So Far: Recapping the Mid-Term Work on AdaFace</vt:lpstr>
      <vt:lpstr>The Next Frontier: Making Quality-Aware Recognition Efficient</vt:lpstr>
      <vt:lpstr>PowerPoint 簡報</vt:lpstr>
      <vt:lpstr>Our Philosophy: A More Sophisticated Student-Teacher Exam System</vt:lpstr>
      <vt:lpstr>The Teacher Corrects the Answer Key: Dynamic Class Centers</vt:lpstr>
      <vt:lpstr>PowerPoint 簡報</vt:lpstr>
      <vt:lpstr>PowerPoint 簡報</vt:lpstr>
      <vt:lpstr>The Exam Adapts, Part 1: Difficulty Based on Question Clarity</vt:lpstr>
      <vt:lpstr>PowerPoint 簡報</vt:lpstr>
      <vt:lpstr>The Exam Adapts, Part 2: Getting Stricter When the Student Falls Behind</vt:lpstr>
      <vt:lpstr>PowerPoint 簡報</vt:lpstr>
      <vt:lpstr>The Flaw of the Static Approach: Hard-Coded Thresholds</vt:lpstr>
      <vt:lpstr>The Breakthrough: An Adaptive, Teacher-Guided Margin</vt:lpstr>
      <vt:lpstr>The Two Key Signals for an Adaptive System</vt:lpstr>
      <vt:lpstr>The Adaptive Penalty Formula</vt:lpstr>
      <vt:lpstr>Intuition 1: A Penalty is Applied Only When Necessary</vt:lpstr>
      <vt:lpstr>Intuition 2: Confident Teachers Are Stricter Teachers</vt:lpstr>
      <vt:lpstr>A Unified System: Two Layers of Adaptive Control</vt:lpstr>
      <vt:lpstr>From Static and Brittle to Adaptive and Robust</vt:lpstr>
      <vt:lpstr>The  Impact: Superior and More Stable Performance</vt:lpstr>
      <vt:lpstr>The Core Insight</vt:lpstr>
      <vt:lpstr>The Complete System: The AdaptiveAAdaFace Head</vt:lpstr>
      <vt:lpstr>GitHub Contents</vt:lpstr>
      <vt:lpstr>The Proof: Our Smarter Teaching System Produces a Better Student</vt:lpstr>
      <vt:lpstr>Experiment result </vt:lpstr>
      <vt:lpstr>Experiment result </vt:lpstr>
      <vt:lpstr>Logic Mean</vt:lpstr>
      <vt:lpstr>Deeper Dive: Benchmarking Against a Strong Alternative</vt:lpstr>
      <vt:lpstr>Experiment result :  Different Teacher Models (IR-101 vs. IR-50)  </vt:lpstr>
      <vt:lpstr>Teacher Influence: Is a Stronger Teacher Always Better for the Student?</vt:lpstr>
      <vt:lpstr>PowerPoint 簡報</vt:lpstr>
      <vt:lpstr>From Research to Real-World Deployment  Face Recognition Check-in System  </vt:lpstr>
      <vt:lpstr>GPT Interaction Summary</vt:lpstr>
      <vt:lpstr>Resources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Lightweight AdaFace</dc:title>
  <dc:creator>陳逸</dc:creator>
  <cp:lastModifiedBy>逸 陳</cp:lastModifiedBy>
  <cp:revision>23</cp:revision>
  <dcterms:created xsi:type="dcterms:W3CDTF">2025-12-02T14:52:38Z</dcterms:created>
  <dcterms:modified xsi:type="dcterms:W3CDTF">2025-12-22T14:15:14Z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LastSaved">
    <vt:filetime>2025-12-02T00:00:00Z</vt:filetime>
  </property>
</Properties>
</file>